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76" r:id="rId2"/>
    <p:sldId id="257" r:id="rId3"/>
    <p:sldId id="258" r:id="rId4"/>
    <p:sldId id="261" r:id="rId5"/>
    <p:sldId id="263" r:id="rId6"/>
    <p:sldId id="260" r:id="rId7"/>
    <p:sldId id="262" r:id="rId8"/>
    <p:sldId id="264" r:id="rId9"/>
    <p:sldId id="265" r:id="rId10"/>
    <p:sldId id="266" r:id="rId11"/>
    <p:sldId id="267" r:id="rId12"/>
    <p:sldId id="259" r:id="rId13"/>
    <p:sldId id="270" r:id="rId14"/>
    <p:sldId id="272" r:id="rId15"/>
    <p:sldId id="274" r:id="rId16"/>
    <p:sldId id="279" r:id="rId17"/>
    <p:sldId id="278" r:id="rId18"/>
    <p:sldId id="280" r:id="rId19"/>
    <p:sldId id="271" r:id="rId20"/>
    <p:sldId id="275" r:id="rId21"/>
  </p:sldIdLst>
  <p:sldSz cx="18288000" cy="10287000"/>
  <p:notesSz cx="6858000" cy="9144000"/>
  <p:embeddedFontLst>
    <p:embeddedFont>
      <p:font typeface="Open Sans" panose="020B0606030504020204" pitchFamily="34" charset="0"/>
      <p:regular r:id="rId23"/>
      <p:bold r:id="rId24"/>
      <p:italic r:id="rId25"/>
      <p:boldItalic r:id="rId26"/>
    </p:embeddedFont>
    <p:embeddedFont>
      <p:font typeface="Open Sans Bold" panose="020B0806030504020204" charset="0"/>
      <p:regular r:id="rId27"/>
    </p:embeddedFont>
    <p:embeddedFont>
      <p:font typeface="Pattanakarn" panose="020B0604020202020204" charset="0"/>
      <p:regular r:id="rId28"/>
    </p:embeddedFont>
    <p:embeddedFont>
      <p:font typeface="Sitka Display Semibold" pitchFamily="2" charset="0"/>
      <p:bold r:id="rId29"/>
      <p:boldItalic r:id="rId30"/>
    </p:embeddedFont>
    <p:embeddedFont>
      <p:font typeface="TT Supermolot Neue"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62ACEB-2CED-43AF-83E7-546680ABFC2F}" type="datetimeFigureOut">
              <a:rPr lang="en-US" smtClean="0"/>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3604BB-6B1C-43E1-9E0E-1957C4410C98}" type="slidenum">
              <a:rPr lang="en-US" smtClean="0"/>
              <a:t>‹#›</a:t>
            </a:fld>
            <a:endParaRPr lang="en-US"/>
          </a:p>
        </p:txBody>
      </p:sp>
    </p:spTree>
    <p:extLst>
      <p:ext uri="{BB962C8B-B14F-4D97-AF65-F5344CB8AC3E}">
        <p14:creationId xmlns:p14="http://schemas.microsoft.com/office/powerpoint/2010/main" val="1515813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F3604BB-6B1C-43E1-9E0E-1957C4410C98}" type="slidenum">
              <a:rPr lang="en-US" smtClean="0"/>
              <a:t>8</a:t>
            </a:fld>
            <a:endParaRPr lang="en-US"/>
          </a:p>
        </p:txBody>
      </p:sp>
    </p:spTree>
    <p:extLst>
      <p:ext uri="{BB962C8B-B14F-4D97-AF65-F5344CB8AC3E}">
        <p14:creationId xmlns:p14="http://schemas.microsoft.com/office/powerpoint/2010/main" val="3818537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5" Type="http://schemas.openxmlformats.org/officeDocument/2006/relationships/image" Target="../media/image49.gif"/><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6" name="TextBox 6"/>
          <p:cNvSpPr txBox="1"/>
          <p:nvPr/>
        </p:nvSpPr>
        <p:spPr>
          <a:xfrm>
            <a:off x="3657599" y="2590341"/>
            <a:ext cx="10218627" cy="2285497"/>
          </a:xfrm>
          <a:prstGeom prst="rect">
            <a:avLst/>
          </a:prstGeom>
        </p:spPr>
        <p:txBody>
          <a:bodyPr wrap="square" lIns="0" tIns="0" rIns="0" bIns="0" rtlCol="0" anchor="t">
            <a:spAutoFit/>
          </a:bodyPr>
          <a:lstStyle/>
          <a:p>
            <a:pPr marL="0" lvl="0" indent="0" algn="ctr">
              <a:lnSpc>
                <a:spcPts val="18581"/>
              </a:lnSpc>
            </a:pPr>
            <a:r>
              <a:rPr lang="en-US" sz="13272" b="1">
                <a:solidFill>
                  <a:srgbClr val="FFFFFF"/>
                </a:solidFill>
                <a:latin typeface="Sitka Display Semibold" pitchFamily="2" charset="0"/>
                <a:ea typeface="TT Supermolot Neue Bold"/>
                <a:cs typeface="TT Supermolot Neue Bold"/>
                <a:sym typeface="TT Supermolot Neue Bold"/>
              </a:rPr>
              <a:t>BIOSIMAI</a:t>
            </a:r>
          </a:p>
        </p:txBody>
      </p:sp>
      <p:sp>
        <p:nvSpPr>
          <p:cNvPr id="7" name="TextBox 7"/>
          <p:cNvSpPr txBox="1"/>
          <p:nvPr/>
        </p:nvSpPr>
        <p:spPr>
          <a:xfrm>
            <a:off x="5751520" y="3472616"/>
            <a:ext cx="6784959" cy="757772"/>
          </a:xfrm>
          <a:prstGeom prst="rect">
            <a:avLst/>
          </a:prstGeom>
        </p:spPr>
        <p:txBody>
          <a:bodyPr lIns="0" tIns="0" rIns="0" bIns="0" rtlCol="0" anchor="t">
            <a:spAutoFit/>
          </a:bodyPr>
          <a:lstStyle/>
          <a:p>
            <a:pPr marL="0" lvl="0" indent="0" algn="ctr">
              <a:lnSpc>
                <a:spcPts val="6280"/>
              </a:lnSpc>
            </a:pPr>
            <a:endParaRPr lang="en-US" sz="4486" spc="829">
              <a:solidFill>
                <a:srgbClr val="FFFFFF"/>
              </a:solidFill>
              <a:latin typeface="TT Supermolot Neue"/>
              <a:ea typeface="TT Supermolot Neue"/>
              <a:cs typeface="TT Supermolot Neue"/>
              <a:sym typeface="TT Supermolot Neue"/>
            </a:endParaRPr>
          </a:p>
        </p:txBody>
      </p:sp>
      <p:sp>
        <p:nvSpPr>
          <p:cNvPr id="8" name="TextBox 8"/>
          <p:cNvSpPr txBox="1"/>
          <p:nvPr/>
        </p:nvSpPr>
        <p:spPr>
          <a:xfrm>
            <a:off x="3679722" y="5728224"/>
            <a:ext cx="10341078" cy="1154162"/>
          </a:xfrm>
          <a:prstGeom prst="rect">
            <a:avLst/>
          </a:prstGeom>
        </p:spPr>
        <p:txBody>
          <a:bodyPr wrap="square" lIns="0" tIns="0" rIns="0" bIns="0" rtlCol="0" anchor="t">
            <a:spAutoFit/>
          </a:bodyPr>
          <a:lstStyle/>
          <a:p>
            <a:pPr marL="0" lvl="0" indent="0" algn="ctr">
              <a:lnSpc>
                <a:spcPts val="4475"/>
              </a:lnSpc>
              <a:spcBef>
                <a:spcPct val="0"/>
              </a:spcBef>
            </a:pPr>
            <a:r>
              <a:rPr lang="en-US" sz="2900" u="none" strike="noStrike" err="1">
                <a:solidFill>
                  <a:srgbClr val="FFFFFF"/>
                </a:solidFill>
                <a:latin typeface="Pattanakarn" panose="020B0604020202020204" charset="-34"/>
                <a:ea typeface="TT Supermolot Neue"/>
                <a:cs typeface="Pattanakarn" panose="020B0604020202020204" charset="-34"/>
                <a:sym typeface="TT Supermolot Neue"/>
              </a:rPr>
              <a:t>Platforma</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 </a:t>
            </a:r>
            <a:r>
              <a:rPr lang="en-US" sz="2900" u="none" strike="noStrike" err="1">
                <a:solidFill>
                  <a:srgbClr val="FFFFFF"/>
                </a:solidFill>
                <a:latin typeface="Pattanakarn" panose="020B0604020202020204" charset="-34"/>
                <a:ea typeface="TT Supermolot Neue"/>
                <a:cs typeface="Pattanakarn" panose="020B0604020202020204" charset="-34"/>
                <a:sym typeface="TT Supermolot Neue"/>
              </a:rPr>
              <a:t>pentru</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 </a:t>
            </a:r>
            <a:r>
              <a:rPr lang="en-US" sz="2900" u="none" strike="noStrike" err="1">
                <a:solidFill>
                  <a:srgbClr val="FFFFFF"/>
                </a:solidFill>
                <a:latin typeface="Pattanakarn" panose="020B0604020202020204" charset="-34"/>
                <a:ea typeface="TT Supermolot Neue"/>
                <a:cs typeface="Pattanakarn" panose="020B0604020202020204" charset="-34"/>
                <a:sym typeface="TT Supermolot Neue"/>
              </a:rPr>
              <a:t>Simularea</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 </a:t>
            </a:r>
            <a:r>
              <a:rPr lang="en-US" sz="2900" u="none" strike="noStrike" err="1">
                <a:solidFill>
                  <a:srgbClr val="FFFFFF"/>
                </a:solidFill>
                <a:latin typeface="Pattanakarn" panose="020B0604020202020204" charset="-34"/>
                <a:ea typeface="TT Supermolot Neue"/>
                <a:cs typeface="Pattanakarn" panose="020B0604020202020204" charset="-34"/>
                <a:sym typeface="TT Supermolot Neue"/>
              </a:rPr>
              <a:t>Agentilor</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 </a:t>
            </a:r>
            <a:r>
              <a:rPr lang="en-US" sz="2900" u="none" strike="noStrike" err="1">
                <a:solidFill>
                  <a:srgbClr val="FFFFFF"/>
                </a:solidFill>
                <a:latin typeface="Pattanakarn" panose="020B0604020202020204" charset="-34"/>
                <a:ea typeface="TT Supermolot Neue"/>
                <a:cs typeface="Pattanakarn" panose="020B0604020202020204" charset="-34"/>
                <a:sym typeface="TT Supermolot Neue"/>
              </a:rPr>
              <a:t>Autonomi</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 cu </a:t>
            </a:r>
            <a:r>
              <a:rPr lang="en-US" sz="2900" u="none" strike="noStrike" err="1">
                <a:solidFill>
                  <a:srgbClr val="FFFFFF"/>
                </a:solidFill>
                <a:latin typeface="Pattanakarn" panose="020B0604020202020204" charset="-34"/>
                <a:ea typeface="TT Supermolot Neue"/>
                <a:cs typeface="Pattanakarn" panose="020B0604020202020204" charset="-34"/>
                <a:sym typeface="TT Supermolot Neue"/>
              </a:rPr>
              <a:t>Sisteme</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 </a:t>
            </a:r>
            <a:r>
              <a:rPr lang="en-US" sz="2900" u="none" strike="noStrike" err="1">
                <a:solidFill>
                  <a:srgbClr val="FFFFFF"/>
                </a:solidFill>
                <a:latin typeface="Pattanakarn" panose="020B0604020202020204" charset="-34"/>
                <a:ea typeface="Open Sans Bold" panose="020B0806030504020204" charset="0"/>
                <a:cs typeface="Pattanakarn" panose="020B0604020202020204" charset="-34"/>
                <a:sym typeface="TT Supermolot Neue"/>
              </a:rPr>
              <a:t>Nervoase</a:t>
            </a:r>
            <a:r>
              <a:rPr lang="en-US" sz="2900" u="none" strike="noStrike">
                <a:solidFill>
                  <a:srgbClr val="FFFFFF"/>
                </a:solidFill>
                <a:latin typeface="Pattanakarn" panose="020B0604020202020204" charset="-34"/>
                <a:ea typeface="Open Sans Bold" panose="020B0806030504020204" charset="0"/>
                <a:cs typeface="Pattanakarn" panose="020B0604020202020204" charset="-34"/>
                <a:sym typeface="TT Supermolot Neue"/>
              </a:rPr>
              <a:t> </a:t>
            </a:r>
            <a:r>
              <a:rPr lang="en-US" sz="2900" u="none" strike="noStrike" err="1">
                <a:solidFill>
                  <a:srgbClr val="FFFFFF"/>
                </a:solidFill>
                <a:latin typeface="Pattanakarn" panose="020B0604020202020204" charset="-34"/>
                <a:ea typeface="Open Sans Bold" panose="020B0806030504020204" charset="0"/>
                <a:cs typeface="Pattanakarn" panose="020B0604020202020204" charset="-34"/>
                <a:sym typeface="TT Supermolot Neue"/>
              </a:rPr>
              <a:t>Artificiale</a:t>
            </a:r>
            <a:r>
              <a:rPr lang="en-US" sz="2900" u="none" strike="noStrike">
                <a:solidFill>
                  <a:srgbClr val="FFFFFF"/>
                </a:solidFill>
                <a:latin typeface="Pattanakarn" panose="020B0604020202020204" charset="-34"/>
                <a:ea typeface="Open Sans Bold" panose="020B0806030504020204" charset="0"/>
                <a:cs typeface="Pattanakarn" panose="020B0604020202020204" charset="-34"/>
                <a:sym typeface="TT Supermolot Neue"/>
              </a:rPr>
              <a:t> </a:t>
            </a:r>
            <a:r>
              <a:rPr lang="en-US" sz="2900" u="none" strike="noStrike">
                <a:solidFill>
                  <a:srgbClr val="FFFFFF"/>
                </a:solidFill>
                <a:latin typeface="Pattanakarn" panose="020B0604020202020204" charset="-34"/>
                <a:ea typeface="TT Supermolot Neue"/>
                <a:cs typeface="Pattanakarn" panose="020B0604020202020204" charset="-34"/>
                <a:sym typeface="TT Supermolot Neue"/>
              </a:rPr>
              <a:t>Inspirate Biologic</a:t>
            </a:r>
          </a:p>
        </p:txBody>
      </p:sp>
      <p:sp>
        <p:nvSpPr>
          <p:cNvPr id="10" name="Freeform 7">
            <a:extLst>
              <a:ext uri="{FF2B5EF4-FFF2-40B4-BE49-F238E27FC236}">
                <a16:creationId xmlns:a16="http://schemas.microsoft.com/office/drawing/2014/main" id="{0B55D217-180F-6E76-CB7D-9EF2ABB74B05}"/>
              </a:ext>
            </a:extLst>
          </p:cNvPr>
          <p:cNvSpPr/>
          <p:nvPr/>
        </p:nvSpPr>
        <p:spPr>
          <a:xfrm>
            <a:off x="3048000" y="3959882"/>
            <a:ext cx="11946438" cy="1762100"/>
          </a:xfrm>
          <a:custGeom>
            <a:avLst/>
            <a:gdLst/>
            <a:ahLst/>
            <a:cxnLst/>
            <a:rect l="l" t="t" r="r" b="b"/>
            <a:pathLst>
              <a:path w="11946438" h="1762100">
                <a:moveTo>
                  <a:pt x="0" y="0"/>
                </a:moveTo>
                <a:lnTo>
                  <a:pt x="11946438" y="0"/>
                </a:lnTo>
                <a:lnTo>
                  <a:pt x="11946438" y="1762100"/>
                </a:lnTo>
                <a:lnTo>
                  <a:pt x="0" y="1762100"/>
                </a:lnTo>
                <a:lnTo>
                  <a:pt x="0" y="0"/>
                </a:lnTo>
                <a:close/>
              </a:path>
            </a:pathLst>
          </a:custGeom>
          <a:blipFill>
            <a:blip r:embed="rId3"/>
            <a:stretch>
              <a:fillRect/>
            </a:stretch>
          </a:blipFill>
        </p:spPr>
      </p:sp>
      <p:sp>
        <p:nvSpPr>
          <p:cNvPr id="12" name="TextBox 11">
            <a:extLst>
              <a:ext uri="{FF2B5EF4-FFF2-40B4-BE49-F238E27FC236}">
                <a16:creationId xmlns:a16="http://schemas.microsoft.com/office/drawing/2014/main" id="{1449E83A-E319-3F8E-F2E6-5D53440C5781}"/>
              </a:ext>
            </a:extLst>
          </p:cNvPr>
          <p:cNvSpPr txBox="1"/>
          <p:nvPr/>
        </p:nvSpPr>
        <p:spPr>
          <a:xfrm>
            <a:off x="7391400" y="372963"/>
            <a:ext cx="3810001" cy="369332"/>
          </a:xfrm>
          <a:prstGeom prst="rect">
            <a:avLst/>
          </a:prstGeom>
          <a:noFill/>
        </p:spPr>
        <p:txBody>
          <a:bodyPr wrap="square" rtlCol="0">
            <a:spAutoFit/>
          </a:bodyPr>
          <a:lstStyle/>
          <a:p>
            <a:r>
              <a:rPr lang="en-US">
                <a:solidFill>
                  <a:schemeClr val="bg1"/>
                </a:solidFill>
                <a:latin typeface="Aptos" panose="020B0004020202020204" pitchFamily="34" charset="0"/>
              </a:rPr>
              <a:t>Software Development Academy</a:t>
            </a:r>
          </a:p>
        </p:txBody>
      </p:sp>
      <p:sp>
        <p:nvSpPr>
          <p:cNvPr id="13" name="TextBox 12">
            <a:extLst>
              <a:ext uri="{FF2B5EF4-FFF2-40B4-BE49-F238E27FC236}">
                <a16:creationId xmlns:a16="http://schemas.microsoft.com/office/drawing/2014/main" id="{0BAAD5BE-C8E3-1820-AE67-8565BDDAFB11}"/>
              </a:ext>
            </a:extLst>
          </p:cNvPr>
          <p:cNvSpPr txBox="1"/>
          <p:nvPr/>
        </p:nvSpPr>
        <p:spPr>
          <a:xfrm>
            <a:off x="4038600" y="8965706"/>
            <a:ext cx="1447800" cy="369332"/>
          </a:xfrm>
          <a:prstGeom prst="rect">
            <a:avLst/>
          </a:prstGeom>
          <a:noFill/>
        </p:spPr>
        <p:txBody>
          <a:bodyPr wrap="square" rtlCol="0">
            <a:spAutoFit/>
          </a:bodyPr>
          <a:lstStyle/>
          <a:p>
            <a:r>
              <a:rPr lang="en-US">
                <a:solidFill>
                  <a:schemeClr val="bg1"/>
                </a:solidFill>
              </a:rPr>
              <a:t> </a:t>
            </a:r>
            <a:r>
              <a:rPr lang="en-US" err="1">
                <a:solidFill>
                  <a:schemeClr val="bg1"/>
                </a:solidFill>
                <a:latin typeface="Aptos" panose="020B0004020202020204" pitchFamily="34" charset="0"/>
              </a:rPr>
              <a:t>Anul</a:t>
            </a:r>
            <a:r>
              <a:rPr lang="en-US">
                <a:solidFill>
                  <a:schemeClr val="bg1"/>
                </a:solidFill>
                <a:latin typeface="Aptos" panose="020B0004020202020204" pitchFamily="34" charset="0"/>
              </a:rPr>
              <a:t> 2026 </a:t>
            </a:r>
            <a:endParaRPr lang="en-US">
              <a:solidFill>
                <a:schemeClr val="bg1"/>
              </a:solidFill>
            </a:endParaRPr>
          </a:p>
        </p:txBody>
      </p:sp>
      <p:sp>
        <p:nvSpPr>
          <p:cNvPr id="14" name="TextBox 13">
            <a:extLst>
              <a:ext uri="{FF2B5EF4-FFF2-40B4-BE49-F238E27FC236}">
                <a16:creationId xmlns:a16="http://schemas.microsoft.com/office/drawing/2014/main" id="{36C73D0D-9ED7-8898-158F-74E1B143F650}"/>
              </a:ext>
            </a:extLst>
          </p:cNvPr>
          <p:cNvSpPr txBox="1"/>
          <p:nvPr/>
        </p:nvSpPr>
        <p:spPr>
          <a:xfrm>
            <a:off x="11704526" y="8965706"/>
            <a:ext cx="4343400" cy="646331"/>
          </a:xfrm>
          <a:prstGeom prst="rect">
            <a:avLst/>
          </a:prstGeom>
          <a:noFill/>
        </p:spPr>
        <p:txBody>
          <a:bodyPr wrap="square" rtlCol="0">
            <a:spAutoFit/>
          </a:bodyPr>
          <a:lstStyle/>
          <a:p>
            <a:r>
              <a:rPr lang="en-US">
                <a:solidFill>
                  <a:schemeClr val="bg1"/>
                </a:solidFill>
                <a:latin typeface="Aptos" panose="020B0004020202020204" pitchFamily="34" charset="0"/>
              </a:rPr>
              <a:t>Florin-Mihai Matei</a:t>
            </a:r>
          </a:p>
          <a:p>
            <a:r>
              <a:rPr lang="en-US" err="1">
                <a:solidFill>
                  <a:schemeClr val="bg1"/>
                </a:solidFill>
                <a:latin typeface="Aptos" panose="020B0004020202020204" pitchFamily="34" charset="0"/>
              </a:rPr>
              <a:t>Grupa</a:t>
            </a:r>
            <a:r>
              <a:rPr lang="en-US">
                <a:solidFill>
                  <a:schemeClr val="bg1"/>
                </a:solidFill>
                <a:latin typeface="Aptos" panose="020B0004020202020204" pitchFamily="34" charset="0"/>
              </a:rPr>
              <a:t> AIRemoteRO8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7374" y="321897"/>
            <a:ext cx="2392685" cy="692792"/>
            <a:chOff x="0" y="-38100"/>
            <a:chExt cx="630172" cy="182464"/>
          </a:xfrm>
        </p:grpSpPr>
        <p:sp>
          <p:nvSpPr>
            <p:cNvPr id="4" name="Freeform 4"/>
            <p:cNvSpPr/>
            <p:nvPr/>
          </p:nvSpPr>
          <p:spPr>
            <a:xfrm>
              <a:off x="1942" y="0"/>
              <a:ext cx="628230"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txBody>
            <a:bodyPr/>
            <a:lstStyle/>
            <a:p>
              <a:r>
                <a:rPr lang="en-US">
                  <a:solidFill>
                    <a:schemeClr val="bg1"/>
                  </a:solidFill>
                </a:rPr>
                <a:t>            </a:t>
              </a:r>
              <a:r>
                <a:rPr lang="en-US" b="1">
                  <a:solidFill>
                    <a:schemeClr val="bg1"/>
                  </a:solidFill>
                </a:rPr>
                <a:t>2/16</a:t>
              </a:r>
            </a:p>
          </p:txBody>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734186" y="2003291"/>
            <a:ext cx="5673865" cy="6602315"/>
            <a:chOff x="0" y="0"/>
            <a:chExt cx="698500" cy="812800"/>
          </a:xfrm>
        </p:grpSpPr>
        <p:sp>
          <p:nvSpPr>
            <p:cNvPr id="12" name="Freeform 1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3"/>
              <a:stretch>
                <a:fillRect t="-3129" b="-3129"/>
              </a:stretch>
            </a:blipFill>
          </p:spPr>
        </p:sp>
      </p:grpSp>
      <p:sp>
        <p:nvSpPr>
          <p:cNvPr id="17" name="TextBox 17"/>
          <p:cNvSpPr txBox="1"/>
          <p:nvPr/>
        </p:nvSpPr>
        <p:spPr>
          <a:xfrm>
            <a:off x="9217270" y="2003291"/>
            <a:ext cx="7848600" cy="641201"/>
          </a:xfrm>
          <a:prstGeom prst="rect">
            <a:avLst/>
          </a:prstGeom>
        </p:spPr>
        <p:txBody>
          <a:bodyPr wrap="square" lIns="0" tIns="0" rIns="0" bIns="0" rtlCol="0" anchor="t">
            <a:spAutoFit/>
          </a:bodyPr>
          <a:lstStyle/>
          <a:p>
            <a:pPr marL="0" lvl="0" indent="0" algn="l">
              <a:lnSpc>
                <a:spcPts val="5040"/>
              </a:lnSpc>
              <a:spcBef>
                <a:spcPct val="0"/>
              </a:spcBef>
            </a:pPr>
            <a:r>
              <a:rPr lang="en-US" sz="4000">
                <a:solidFill>
                  <a:srgbClr val="FFFFFF"/>
                </a:solidFill>
                <a:latin typeface="Pattanakarn"/>
                <a:ea typeface="Pattanakarn"/>
                <a:cs typeface="Pattanakarn"/>
                <a:sym typeface="Pattanakarn"/>
              </a:rPr>
              <a:t>PREZENTARE PROIECT</a:t>
            </a:r>
          </a:p>
        </p:txBody>
      </p:sp>
      <p:sp>
        <p:nvSpPr>
          <p:cNvPr id="21" name="TextBox 21"/>
          <p:cNvSpPr txBox="1"/>
          <p:nvPr/>
        </p:nvSpPr>
        <p:spPr>
          <a:xfrm>
            <a:off x="7404470" y="3192537"/>
            <a:ext cx="9887111" cy="6065763"/>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BioSimAI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este</a:t>
            </a:r>
            <a:r>
              <a:rPr lang="en-US" sz="2000">
                <a:solidFill>
                  <a:srgbClr val="FFFFFF"/>
                </a:solidFill>
                <a:latin typeface="Open Sans"/>
                <a:ea typeface="Open Sans"/>
                <a:cs typeface="Open Sans"/>
                <a:sym typeface="Open Sans"/>
              </a:rPr>
              <a:t> o </a:t>
            </a:r>
            <a:r>
              <a:rPr lang="en-US" sz="2000" err="1">
                <a:solidFill>
                  <a:srgbClr val="FFFFFF"/>
                </a:solidFill>
                <a:latin typeface="Open Sans"/>
                <a:ea typeface="Open Sans"/>
                <a:cs typeface="Open Sans"/>
                <a:sym typeface="Open Sans"/>
              </a:rPr>
              <a:t>platformă</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simulare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dedicată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studiului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agenților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autonomi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inspirați</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sistemele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nervoase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biologice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Proiectul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explorează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modul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în</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comportamente</a:t>
            </a:r>
            <a:r>
              <a:rPr lang="en-US" sz="2000">
                <a:solidFill>
                  <a:srgbClr val="FFFFFF"/>
                </a:solidFill>
                <a:latin typeface="Open Sans"/>
                <a:ea typeface="Open Sans"/>
                <a:cs typeface="Open Sans"/>
                <a:sym typeface="Open Sans"/>
              </a:rPr>
              <a:t> orientate </a:t>
            </a:r>
            <a:r>
              <a:rPr lang="en-US" sz="2000" err="1">
                <a:solidFill>
                  <a:srgbClr val="FFFFFF"/>
                </a:solidFill>
                <a:latin typeface="Open Sans"/>
                <a:ea typeface="Open Sans"/>
                <a:cs typeface="Open Sans"/>
                <a:sym typeface="Open Sans"/>
              </a:rPr>
              <a:t>către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obiective</a:t>
            </a:r>
            <a:r>
              <a:rPr lang="en-US" sz="2000">
                <a:solidFill>
                  <a:srgbClr val="FFFFFF"/>
                </a:solidFill>
                <a:latin typeface="Open Sans"/>
                <a:ea typeface="Open Sans"/>
                <a:cs typeface="Open Sans"/>
                <a:sym typeface="Open Sans"/>
              </a:rPr>
              <a:t> pot </a:t>
            </a:r>
            <a:r>
              <a:rPr lang="en-US" sz="2000" err="1">
                <a:solidFill>
                  <a:srgbClr val="FFFFFF"/>
                </a:solidFill>
                <a:latin typeface="Open Sans"/>
                <a:ea typeface="Open Sans"/>
                <a:cs typeface="Open Sans"/>
                <a:sym typeface="Open Sans"/>
              </a:rPr>
              <a:t>apărea</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interacțiunea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dintre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percepție</a:t>
            </a:r>
            <a:r>
              <a:rPr lang="en-US" sz="2000">
                <a:solidFill>
                  <a:srgbClr val="FFFFFF"/>
                </a:solidFill>
                <a:latin typeface="Open Sans"/>
                <a:ea typeface="Open Sans"/>
                <a:cs typeface="Open Sans"/>
                <a:sym typeface="Open Sans"/>
              </a:rPr>
              <a:t>, stare </a:t>
            </a:r>
            <a:r>
              <a:rPr lang="en-US" sz="2000" err="1">
                <a:solidFill>
                  <a:srgbClr val="FFFFFF"/>
                </a:solidFill>
                <a:latin typeface="Open Sans"/>
                <a:ea typeface="Open Sans"/>
                <a:cs typeface="Open Sans"/>
                <a:sym typeface="Open Sans"/>
              </a:rPr>
              <a:t>internă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acțiune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fără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utilizarea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mecanisme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explicite</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planificare</a:t>
            </a:r>
            <a:r>
              <a:rPr lang="en-US" sz="2000">
                <a:solidFill>
                  <a:srgbClr val="FFFFFF"/>
                </a:solidFill>
                <a:latin typeface="Open Sans"/>
                <a:ea typeface="Open Sans"/>
                <a:cs typeface="Open Sans"/>
                <a:sym typeface="Open Sans"/>
              </a:rPr>
              <a:t>.</a:t>
            </a:r>
          </a:p>
          <a:p>
            <a:pPr marL="0" lvl="0" indent="0" algn="l">
              <a:spcBef>
                <a:spcPct val="0"/>
              </a:spcBef>
            </a:pPr>
            <a:endParaRPr lang="en-US" sz="2000">
              <a:solidFill>
                <a:srgbClr val="FFFFFF"/>
              </a:solidFill>
              <a:latin typeface="Open Sans"/>
              <a:ea typeface="Open Sans"/>
              <a:cs typeface="Open Sans"/>
              <a:sym typeface="Open Sans"/>
            </a:endParaRPr>
          </a:p>
          <a:p>
            <a:pPr marL="0" lvl="0" indent="0" algn="l">
              <a:spcBef>
                <a:spcPct val="0"/>
              </a:spcBef>
            </a:pPr>
            <a:r>
              <a:rPr lang="en-US" sz="2000" err="1">
                <a:solidFill>
                  <a:srgbClr val="FFFFFF"/>
                </a:solidFill>
                <a:latin typeface="Open Sans"/>
                <a:ea typeface="Open Sans"/>
                <a:cs typeface="Open Sans"/>
                <a:sym typeface="Open Sans"/>
              </a:rPr>
              <a:t>În</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cadrul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acestei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lucrări</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fost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implementat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primul</a:t>
            </a:r>
            <a:r>
              <a:rPr lang="en-US" sz="2000">
                <a:solidFill>
                  <a:srgbClr val="FFFFFF"/>
                </a:solidFill>
                <a:latin typeface="Open Sans"/>
                <a:ea typeface="Open Sans"/>
                <a:cs typeface="Open Sans"/>
                <a:sym typeface="Open Sans"/>
              </a:rPr>
              <a:t> agent al </a:t>
            </a:r>
            <a:r>
              <a:rPr lang="en-US" sz="2000" err="1">
                <a:solidFill>
                  <a:srgbClr val="FFFFFF"/>
                </a:solidFill>
                <a:latin typeface="Open Sans"/>
                <a:ea typeface="Open Sans"/>
                <a:cs typeface="Open Sans"/>
                <a:sym typeface="Open Sans"/>
              </a:rPr>
              <a:t>platformei</a:t>
            </a:r>
            <a:r>
              <a:rPr lang="en-US" sz="2000">
                <a:solidFill>
                  <a:srgbClr val="FFFFFF"/>
                </a:solidFill>
                <a:latin typeface="Open Sans"/>
                <a:ea typeface="Open Sans"/>
                <a:cs typeface="Open Sans"/>
                <a:sym typeface="Open Sans"/>
              </a:rPr>
              <a:t>: un </a:t>
            </a:r>
            <a:r>
              <a:rPr lang="en-US" sz="2000" err="1">
                <a:solidFill>
                  <a:srgbClr val="FFFFFF"/>
                </a:solidFill>
                <a:latin typeface="Open Sans"/>
                <a:ea typeface="Open Sans"/>
                <a:cs typeface="Open Sans"/>
                <a:sym typeface="Open Sans"/>
              </a:rPr>
              <a:t>vierme</a:t>
            </a:r>
            <a:r>
              <a:rPr lang="en-US" sz="2000">
                <a:solidFill>
                  <a:srgbClr val="FFFFFF"/>
                </a:solidFill>
                <a:latin typeface="Open Sans"/>
                <a:ea typeface="Open Sans"/>
                <a:cs typeface="Open Sans"/>
                <a:sym typeface="Open Sans"/>
              </a:rPr>
              <a:t> virtual </a:t>
            </a:r>
            <a:r>
              <a:rPr lang="en-US" sz="2000" err="1">
                <a:solidFill>
                  <a:srgbClr val="FFFFFF"/>
                </a:solidFill>
                <a:latin typeface="Open Sans"/>
                <a:ea typeface="Open Sans"/>
                <a:cs typeface="Open Sans"/>
                <a:sym typeface="Open Sans"/>
              </a:rPr>
              <a:t>autonom</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capabil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perceapă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proceseze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informații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senzoriale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adapteze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comportamentul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în</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funcție</a:t>
            </a:r>
            <a:r>
              <a:rPr lang="en-US" sz="2000">
                <a:solidFill>
                  <a:srgbClr val="FFFFFF"/>
                </a:solidFill>
                <a:latin typeface="Open Sans"/>
                <a:ea typeface="Open Sans"/>
                <a:cs typeface="Open Sans"/>
                <a:sym typeface="Open Sans"/>
              </a:rPr>
              <a:t> de stimuli </a:t>
            </a:r>
            <a:r>
              <a:rPr lang="en-US" sz="2000" err="1">
                <a:solidFill>
                  <a:srgbClr val="FFFFFF"/>
                </a:solidFill>
                <a:latin typeface="Open Sans"/>
                <a:ea typeface="Open Sans"/>
                <a:cs typeface="Open Sans"/>
                <a:sym typeface="Open Sans"/>
              </a:rPr>
              <a:t>externi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propriile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nevoi</a:t>
            </a:r>
            <a:r>
              <a:rPr lang="en-US" sz="2000">
                <a:solidFill>
                  <a:srgbClr val="FFFFFF"/>
                </a:solidFill>
                <a:latin typeface="Open Sans"/>
                <a:ea typeface="Open Sans"/>
                <a:cs typeface="Open Sans"/>
                <a:sym typeface="Open Sans"/>
              </a:rPr>
              <a:t> interne.</a:t>
            </a:r>
          </a:p>
          <a:p>
            <a:pPr marL="0" lvl="0" indent="0" algn="l">
              <a:spcBef>
                <a:spcPct val="0"/>
              </a:spcBef>
            </a:pPr>
            <a:endParaRPr lang="en-US" sz="2000">
              <a:solidFill>
                <a:srgbClr val="FFFFFF"/>
              </a:solidFill>
              <a:latin typeface="Open Sans"/>
              <a:ea typeface="Open Sans"/>
              <a:cs typeface="Open Sans"/>
              <a:sym typeface="Open Sans"/>
            </a:endParaRPr>
          </a:p>
          <a:p>
            <a:pPr marL="0" lvl="0" indent="0" algn="l">
              <a:spcBef>
                <a:spcPct val="0"/>
              </a:spcBef>
            </a:pPr>
            <a:r>
              <a:rPr lang="en-US" sz="2000" err="1">
                <a:solidFill>
                  <a:srgbClr val="FFFFFF"/>
                </a:solidFill>
                <a:latin typeface="Open Sans"/>
                <a:ea typeface="Open Sans"/>
                <a:cs typeface="Open Sans"/>
                <a:sym typeface="Open Sans"/>
              </a:rPr>
              <a:t>Deși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demonstrația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actuală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este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concentrată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asupra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singur</a:t>
            </a:r>
            <a:r>
              <a:rPr lang="en-US" sz="2000">
                <a:solidFill>
                  <a:srgbClr val="FFFFFF"/>
                </a:solidFill>
                <a:latin typeface="Open Sans"/>
                <a:ea typeface="Open Sans"/>
                <a:cs typeface="Open Sans"/>
                <a:sym typeface="Open Sans"/>
              </a:rPr>
              <a:t> agent, </a:t>
            </a:r>
            <a:r>
              <a:rPr lang="en-US" sz="2000" err="1">
                <a:solidFill>
                  <a:srgbClr val="FFFFFF"/>
                </a:solidFill>
                <a:latin typeface="Open Sans"/>
                <a:ea typeface="Open Sans"/>
                <a:cs typeface="Open Sans"/>
                <a:sym typeface="Open Sans"/>
              </a:rPr>
              <a:t>arhitectura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sistemului</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fost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proiectată</a:t>
            </a:r>
            <a:r>
              <a:rPr lang="en-US" sz="2000">
                <a:solidFill>
                  <a:srgbClr val="FFFFFF"/>
                </a:solidFill>
                <a:latin typeface="Open Sans"/>
                <a:ea typeface="Open Sans"/>
                <a:cs typeface="Open Sans"/>
                <a:sym typeface="Open Sans"/>
              </a:rPr>
              <a:t> modular, </a:t>
            </a:r>
            <a:r>
              <a:rPr lang="en-US" sz="2000" err="1">
                <a:solidFill>
                  <a:srgbClr val="FFFFFF"/>
                </a:solidFill>
                <a:latin typeface="Open Sans"/>
                <a:ea typeface="Open Sans"/>
                <a:cs typeface="Open Sans"/>
                <a:sym typeface="Open Sans"/>
              </a:rPr>
              <a:t>permițând</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extinderea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către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simulări</a:t>
            </a:r>
            <a:r>
              <a:rPr lang="en-US" sz="2000">
                <a:solidFill>
                  <a:srgbClr val="FFFFFF"/>
                </a:solidFill>
                <a:latin typeface="Open Sans"/>
                <a:ea typeface="Open Sans"/>
                <a:cs typeface="Open Sans"/>
                <a:sym typeface="Open Sans"/>
              </a:rPr>
              <a:t> cu </a:t>
            </a:r>
            <a:r>
              <a:rPr lang="en-US" sz="2000" err="1">
                <a:solidFill>
                  <a:srgbClr val="FFFFFF"/>
                </a:solidFill>
                <a:latin typeface="Open Sans"/>
                <a:ea typeface="Open Sans"/>
                <a:cs typeface="Open Sans"/>
                <a:sym typeface="Open Sans"/>
              </a:rPr>
              <a:t>specii</a:t>
            </a:r>
            <a:r>
              <a:rPr lang="en-US" sz="2000">
                <a:solidFill>
                  <a:srgbClr val="FFFFFF"/>
                </a:solidFill>
                <a:latin typeface="Open Sans"/>
                <a:ea typeface="Open Sans"/>
                <a:cs typeface="Open Sans"/>
                <a:sym typeface="Open Sans"/>
              </a:rPr>
              <a:t> multiple, </a:t>
            </a:r>
            <a:r>
              <a:rPr lang="en-US" sz="2000" err="1">
                <a:solidFill>
                  <a:srgbClr val="FFFFFF"/>
                </a:solidFill>
                <a:latin typeface="Open Sans"/>
                <a:ea typeface="Open Sans"/>
                <a:cs typeface="Open Sans"/>
                <a:sym typeface="Open Sans"/>
              </a:rPr>
              <a:t>sisteme</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mediu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complexe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interacțiuni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emergente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între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agenți</a:t>
            </a:r>
            <a:r>
              <a:rPr lang="en-US" sz="2000">
                <a:solidFill>
                  <a:srgbClr val="FFFFFF"/>
                </a:solidFill>
                <a:latin typeface="Open Sans"/>
                <a:ea typeface="Open Sans"/>
                <a:cs typeface="Open Sans"/>
                <a:sym typeface="Open Sans"/>
              </a:rPr>
              <a:t>.</a:t>
            </a:r>
          </a:p>
          <a:p>
            <a:pPr marL="0" lvl="0" indent="0" algn="l">
              <a:lnSpc>
                <a:spcPts val="1680"/>
              </a:lnSpc>
              <a:spcBef>
                <a:spcPct val="0"/>
              </a:spcBef>
            </a:pPr>
            <a:endParaRPr lang="en-US" sz="2000">
              <a:solidFill>
                <a:srgbClr val="FFFFFF"/>
              </a:solidFill>
              <a:latin typeface="Open Sans"/>
              <a:ea typeface="Open Sans"/>
              <a:cs typeface="Open Sans"/>
              <a:sym typeface="Open Sans"/>
            </a:endParaRPr>
          </a:p>
          <a:p>
            <a:pPr marL="0" lvl="0" indent="0" algn="l">
              <a:spcBef>
                <a:spcPct val="0"/>
              </a:spcBef>
            </a:pPr>
            <a:r>
              <a:rPr lang="en-US" sz="2000">
                <a:solidFill>
                  <a:srgbClr val="FFFFFF"/>
                </a:solidFill>
                <a:latin typeface="Open Sans"/>
                <a:ea typeface="Open Sans"/>
                <a:cs typeface="Open Sans"/>
                <a:sym typeface="Open Sans"/>
              </a:rPr>
              <a:t>O </a:t>
            </a:r>
            <a:r>
              <a:rPr lang="en-US" sz="2000" err="1">
                <a:solidFill>
                  <a:srgbClr val="FFFFFF"/>
                </a:solidFill>
                <a:latin typeface="Open Sans"/>
                <a:ea typeface="Open Sans"/>
                <a:cs typeface="Open Sans"/>
                <a:sym typeface="Open Sans"/>
              </a:rPr>
              <a:t>sursă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importantă</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inspirație</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fost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cercetarea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asupra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viermelui</a:t>
            </a:r>
            <a:r>
              <a:rPr lang="en-US" sz="2000">
                <a:solidFill>
                  <a:srgbClr val="FFFFFF"/>
                </a:solidFill>
                <a:latin typeface="Open Sans"/>
                <a:ea typeface="Open Sans"/>
                <a:cs typeface="Open Sans"/>
                <a:sym typeface="Open Sans"/>
              </a:rPr>
              <a:t> C. elegans, </a:t>
            </a:r>
            <a:r>
              <a:rPr lang="en-US" sz="2000" err="1">
                <a:solidFill>
                  <a:srgbClr val="FFFFFF"/>
                </a:solidFill>
                <a:latin typeface="Open Sans"/>
                <a:ea typeface="Open Sans"/>
                <a:cs typeface="Open Sans"/>
                <a:sym typeface="Open Sans"/>
              </a:rPr>
              <a:t>în</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sistemul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nervos</a:t>
            </a:r>
            <a:r>
              <a:rPr lang="en-US" sz="2000">
                <a:solidFill>
                  <a:srgbClr val="FFFFFF"/>
                </a:solidFill>
                <a:latin typeface="Open Sans"/>
                <a:ea typeface="Open Sans"/>
                <a:cs typeface="Open Sans"/>
                <a:sym typeface="Open Sans"/>
              </a:rPr>
              <a:t> al </a:t>
            </a:r>
            <a:r>
              <a:rPr lang="en-US" sz="2000" err="1">
                <a:solidFill>
                  <a:srgbClr val="FFFFFF"/>
                </a:solidFill>
                <a:latin typeface="Open Sans"/>
                <a:ea typeface="Open Sans"/>
                <a:cs typeface="Open Sans"/>
                <a:sym typeface="Open Sans"/>
              </a:rPr>
              <a:t>organismului</a:t>
            </a:r>
            <a:r>
              <a:rPr lang="en-US" sz="2000">
                <a:solidFill>
                  <a:srgbClr val="FFFFFF"/>
                </a:solidFill>
                <a:latin typeface="Open Sans"/>
                <a:ea typeface="Open Sans"/>
                <a:cs typeface="Open Sans"/>
                <a:sym typeface="Open Sans"/>
              </a:rPr>
              <a:t>, care are 302 </a:t>
            </a:r>
            <a:r>
              <a:rPr lang="en-US" sz="2000" err="1">
                <a:solidFill>
                  <a:srgbClr val="FFFFFF"/>
                </a:solidFill>
                <a:latin typeface="Open Sans"/>
                <a:ea typeface="Open Sans"/>
                <a:cs typeface="Open Sans"/>
                <a:sym typeface="Open Sans"/>
              </a:rPr>
              <a:t>neuroni</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fost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virtualizat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integrat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într</a:t>
            </a:r>
            <a:r>
              <a:rPr lang="en-US" sz="2000">
                <a:solidFill>
                  <a:srgbClr val="FFFFFF"/>
                </a:solidFill>
                <a:latin typeface="Open Sans"/>
                <a:ea typeface="Open Sans"/>
                <a:cs typeface="Open Sans"/>
                <a:sym typeface="Open Sans"/>
              </a:rPr>
              <a:t>-un </a:t>
            </a:r>
            <a:r>
              <a:rPr lang="en-US" sz="2000" err="1">
                <a:solidFill>
                  <a:srgbClr val="FFFFFF"/>
                </a:solidFill>
                <a:latin typeface="Open Sans"/>
                <a:ea typeface="Open Sans"/>
                <a:cs typeface="Open Sans"/>
                <a:sym typeface="Open Sans"/>
              </a:rPr>
              <a:t>mediu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simulat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Studiul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evidențiază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potențialul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modelelor</a:t>
            </a:r>
            <a:r>
              <a:rPr lang="en-US" sz="2000">
                <a:solidFill>
                  <a:srgbClr val="FFFFFF"/>
                </a:solidFill>
                <a:latin typeface="Open Sans"/>
                <a:ea typeface="Open Sans"/>
                <a:cs typeface="Open Sans"/>
                <a:sym typeface="Open Sans"/>
              </a:rPr>
              <a:t> neuro-inspirate </a:t>
            </a:r>
            <a:r>
              <a:rPr lang="en-US" sz="2000" err="1">
                <a:solidFill>
                  <a:srgbClr val="FFFFFF"/>
                </a:solidFill>
                <a:latin typeface="Open Sans"/>
                <a:ea typeface="Open Sans"/>
                <a:cs typeface="Open Sans"/>
                <a:sym typeface="Open Sans"/>
              </a:rPr>
              <a:t>pentru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generarea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comportamentelor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autonome</a:t>
            </a:r>
            <a:r>
              <a:rPr lang="en-US" sz="2000">
                <a:solidFill>
                  <a:srgbClr val="FFFFFF"/>
                </a:solidFill>
                <a:latin typeface="Open Sans"/>
                <a:ea typeface="Open Sans"/>
                <a:cs typeface="Open Sans"/>
                <a:sym typeface="Open Sans"/>
              </a:rPr>
              <a:t>, cu </a:t>
            </a:r>
            <a:r>
              <a:rPr lang="en-US" sz="2000" err="1">
                <a:solidFill>
                  <a:srgbClr val="FFFFFF"/>
                </a:solidFill>
                <a:latin typeface="Open Sans"/>
                <a:ea typeface="Open Sans"/>
                <a:cs typeface="Open Sans"/>
                <a:sym typeface="Open Sans"/>
              </a:rPr>
              <a:t>ajutorul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Inteligentei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Artificiale</a:t>
            </a:r>
            <a:r>
              <a:rPr lang="en-US" sz="2000">
                <a:solidFill>
                  <a:srgbClr val="FFFFFF"/>
                </a:solidFill>
                <a:latin typeface="Open Sans"/>
                <a:ea typeface="Open Sans"/>
                <a:cs typeface="Open Sans"/>
                <a:sym typeface="Open Sans"/>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335908"/>
            <a:ext cx="2392685" cy="692792"/>
            <a:chOff x="0" y="-38100"/>
            <a:chExt cx="630172" cy="182464"/>
          </a:xfrm>
        </p:grpSpPr>
        <p:sp>
          <p:nvSpPr>
            <p:cNvPr id="4" name="Freeform 4"/>
            <p:cNvSpPr/>
            <p:nvPr/>
          </p:nvSpPr>
          <p:spPr>
            <a:xfrm>
              <a:off x="0" y="-19088"/>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txBody>
            <a:bodyPr/>
            <a:lstStyle/>
            <a:p>
              <a:r>
                <a:rPr lang="en-US" b="1">
                  <a:solidFill>
                    <a:schemeClr val="bg1"/>
                  </a:solidFill>
                </a:rPr>
                <a:t>           3/16</a:t>
              </a:r>
              <a:endParaRPr lang="en-US" b="1"/>
            </a:p>
          </p:txBody>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7341919" y="0"/>
            <a:ext cx="10232592" cy="10287000"/>
            <a:chOff x="0" y="0"/>
            <a:chExt cx="606376" cy="609600"/>
          </a:xfrm>
        </p:grpSpPr>
        <p:sp>
          <p:nvSpPr>
            <p:cNvPr id="7" name="Freeform 7"/>
            <p:cNvSpPr/>
            <p:nvPr/>
          </p:nvSpPr>
          <p:spPr>
            <a:xfrm>
              <a:off x="0" y="0"/>
              <a:ext cx="606376" cy="609600"/>
            </a:xfrm>
            <a:custGeom>
              <a:avLst/>
              <a:gdLst/>
              <a:ahLst/>
              <a:cxnLst/>
              <a:rect l="l" t="t" r="r" b="b"/>
              <a:pathLst>
                <a:path w="606376" h="609600">
                  <a:moveTo>
                    <a:pt x="403176" y="0"/>
                  </a:moveTo>
                  <a:lnTo>
                    <a:pt x="0" y="0"/>
                  </a:lnTo>
                  <a:lnTo>
                    <a:pt x="203200" y="609600"/>
                  </a:lnTo>
                  <a:lnTo>
                    <a:pt x="606376" y="609600"/>
                  </a:lnTo>
                  <a:lnTo>
                    <a:pt x="403176" y="0"/>
                  </a:lnTo>
                  <a:close/>
                </a:path>
              </a:pathLst>
            </a:custGeom>
            <a:blipFill>
              <a:blip r:embed="rId3"/>
              <a:stretch>
                <a:fillRect l="-265" r="-265"/>
              </a:stretch>
            </a:blipFill>
          </p:spPr>
        </p:sp>
      </p:grpSp>
      <p:grpSp>
        <p:nvGrpSpPr>
          <p:cNvPr id="8" name="Group 8"/>
          <p:cNvGrpSpPr/>
          <p:nvPr/>
        </p:nvGrpSpPr>
        <p:grpSpPr>
          <a:xfrm>
            <a:off x="17688631" y="7520059"/>
            <a:ext cx="599369" cy="1738241"/>
            <a:chOff x="0" y="0"/>
            <a:chExt cx="157859" cy="457808"/>
          </a:xfrm>
        </p:grpSpPr>
        <p:sp>
          <p:nvSpPr>
            <p:cNvPr id="9" name="Freeform 9"/>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10" name="TextBox 10"/>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2078360" y="3003418"/>
            <a:ext cx="1854690" cy="124256"/>
            <a:chOff x="0" y="0"/>
            <a:chExt cx="488478" cy="32726"/>
          </a:xfrm>
        </p:grpSpPr>
        <p:sp>
          <p:nvSpPr>
            <p:cNvPr id="12" name="Freeform 12"/>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3" name="TextBox 13"/>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1202053" y="4055391"/>
            <a:ext cx="677751" cy="677751"/>
            <a:chOff x="0" y="0"/>
            <a:chExt cx="812800" cy="812800"/>
          </a:xfrm>
        </p:grpSpPr>
        <p:sp>
          <p:nvSpPr>
            <p:cNvPr id="15" name="Freeform 1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16" name="TextBox 16"/>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17" name="Group 17"/>
          <p:cNvGrpSpPr/>
          <p:nvPr/>
        </p:nvGrpSpPr>
        <p:grpSpPr>
          <a:xfrm>
            <a:off x="1207570" y="6275683"/>
            <a:ext cx="677751" cy="677751"/>
            <a:chOff x="0" y="0"/>
            <a:chExt cx="812800" cy="812800"/>
          </a:xfrm>
        </p:grpSpPr>
        <p:sp>
          <p:nvSpPr>
            <p:cNvPr id="18" name="Freeform 1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19" name="TextBox 19"/>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20" name="Group 20"/>
          <p:cNvGrpSpPr/>
          <p:nvPr/>
        </p:nvGrpSpPr>
        <p:grpSpPr>
          <a:xfrm>
            <a:off x="1196342" y="8114530"/>
            <a:ext cx="677751" cy="677751"/>
            <a:chOff x="0" y="0"/>
            <a:chExt cx="812800" cy="812800"/>
          </a:xfrm>
        </p:grpSpPr>
        <p:sp>
          <p:nvSpPr>
            <p:cNvPr id="21" name="Freeform 2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22" name="TextBox 22"/>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23" name="Group 23"/>
          <p:cNvGrpSpPr/>
          <p:nvPr/>
        </p:nvGrpSpPr>
        <p:grpSpPr>
          <a:xfrm>
            <a:off x="8017488" y="5652699"/>
            <a:ext cx="3679191" cy="4634301"/>
            <a:chOff x="0" y="0"/>
            <a:chExt cx="483964" cy="609600"/>
          </a:xfrm>
        </p:grpSpPr>
        <p:sp>
          <p:nvSpPr>
            <p:cNvPr id="24" name="Freeform 24"/>
            <p:cNvSpPr/>
            <p:nvPr/>
          </p:nvSpPr>
          <p:spPr>
            <a:xfrm>
              <a:off x="0" y="0"/>
              <a:ext cx="483964" cy="609600"/>
            </a:xfrm>
            <a:custGeom>
              <a:avLst/>
              <a:gdLst/>
              <a:ahLst/>
              <a:cxnLst/>
              <a:rect l="l" t="t" r="r" b="b"/>
              <a:pathLst>
                <a:path w="483964" h="609600">
                  <a:moveTo>
                    <a:pt x="280764" y="0"/>
                  </a:moveTo>
                  <a:lnTo>
                    <a:pt x="0" y="0"/>
                  </a:lnTo>
                  <a:lnTo>
                    <a:pt x="203200" y="609600"/>
                  </a:lnTo>
                  <a:lnTo>
                    <a:pt x="483964" y="609600"/>
                  </a:lnTo>
                  <a:lnTo>
                    <a:pt x="280764" y="0"/>
                  </a:lnTo>
                  <a:close/>
                </a:path>
              </a:pathLst>
            </a:custGeom>
            <a:gradFill rotWithShape="1">
              <a:gsLst>
                <a:gs pos="0">
                  <a:srgbClr val="001BD1">
                    <a:alpha val="58000"/>
                  </a:srgbClr>
                </a:gs>
                <a:gs pos="100000">
                  <a:srgbClr val="0085FF">
                    <a:alpha val="0"/>
                  </a:srgbClr>
                </a:gs>
              </a:gsLst>
              <a:lin ang="0"/>
            </a:gradFill>
          </p:spPr>
        </p:sp>
        <p:sp>
          <p:nvSpPr>
            <p:cNvPr id="25" name="TextBox 25"/>
            <p:cNvSpPr txBox="1"/>
            <p:nvPr/>
          </p:nvSpPr>
          <p:spPr>
            <a:xfrm>
              <a:off x="101600" y="-38100"/>
              <a:ext cx="280764" cy="647700"/>
            </a:xfrm>
            <a:prstGeom prst="rect">
              <a:avLst/>
            </a:prstGeom>
          </p:spPr>
          <p:txBody>
            <a:bodyPr lIns="50800" tIns="50800" rIns="50800" bIns="50800" rtlCol="0" anchor="ctr"/>
            <a:lstStyle/>
            <a:p>
              <a:pPr marL="0" lvl="0" indent="0" algn="ctr">
                <a:lnSpc>
                  <a:spcPts val="2659"/>
                </a:lnSpc>
              </a:pPr>
              <a:endParaRPr/>
            </a:p>
          </p:txBody>
        </p:sp>
      </p:grpSp>
      <p:sp>
        <p:nvSpPr>
          <p:cNvPr id="27" name="TextBox 27"/>
          <p:cNvSpPr txBox="1"/>
          <p:nvPr/>
        </p:nvSpPr>
        <p:spPr>
          <a:xfrm>
            <a:off x="2078360" y="2025671"/>
            <a:ext cx="5389240" cy="1102866"/>
          </a:xfrm>
          <a:prstGeom prst="rect">
            <a:avLst/>
          </a:prstGeom>
        </p:spPr>
        <p:txBody>
          <a:bodyPr wrap="square" lIns="0" tIns="0" rIns="0" bIns="0" rtlCol="0" anchor="t">
            <a:spAutoFit/>
          </a:bodyPr>
          <a:lstStyle/>
          <a:p>
            <a:pPr marL="0" lvl="0" indent="0" algn="l">
              <a:lnSpc>
                <a:spcPts val="4271"/>
              </a:lnSpc>
              <a:spcBef>
                <a:spcPct val="0"/>
              </a:spcBef>
            </a:pPr>
            <a:r>
              <a:rPr lang="pt-BR" sz="3600">
                <a:solidFill>
                  <a:srgbClr val="FFFFFF"/>
                </a:solidFill>
                <a:latin typeface="Pattanakarn"/>
                <a:ea typeface="Pattanakarn"/>
                <a:cs typeface="Pattanakarn"/>
                <a:sym typeface="Pattanakarn"/>
              </a:rPr>
              <a:t>Inspiratie Biologica si Viziunea Platformei</a:t>
            </a:r>
            <a:endParaRPr lang="en-US" sz="3600">
              <a:solidFill>
                <a:srgbClr val="FFFFFF"/>
              </a:solidFill>
              <a:latin typeface="Pattanakarn"/>
              <a:ea typeface="Pattanakarn"/>
              <a:cs typeface="Pattanakarn"/>
              <a:sym typeface="Pattanakarn"/>
            </a:endParaRPr>
          </a:p>
        </p:txBody>
      </p:sp>
      <p:sp>
        <p:nvSpPr>
          <p:cNvPr id="28" name="TextBox 28"/>
          <p:cNvSpPr txBox="1"/>
          <p:nvPr/>
        </p:nvSpPr>
        <p:spPr>
          <a:xfrm>
            <a:off x="2078360" y="3968381"/>
            <a:ext cx="7065640" cy="1231106"/>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BioSimAI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este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inspirat</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modul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în</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organismele</a:t>
            </a:r>
            <a:r>
              <a:rPr lang="en-US" sz="2000">
                <a:solidFill>
                  <a:srgbClr val="FFFFFF"/>
                </a:solidFill>
                <a:latin typeface="Open Sans"/>
                <a:ea typeface="Open Sans"/>
                <a:cs typeface="Open Sans"/>
                <a:sym typeface="Open Sans"/>
              </a:rPr>
              <a:t> simple </a:t>
            </a:r>
            <a:r>
              <a:rPr lang="en-US" sz="2000" err="1">
                <a:solidFill>
                  <a:srgbClr val="FFFFFF"/>
                </a:solidFill>
                <a:latin typeface="Open Sans"/>
                <a:ea typeface="Open Sans"/>
                <a:cs typeface="Open Sans"/>
                <a:sym typeface="Open Sans"/>
              </a:rPr>
              <a:t>interacționează</a:t>
            </a:r>
            <a:r>
              <a:rPr lang="en-US" sz="2000">
                <a:solidFill>
                  <a:srgbClr val="FFFFFF"/>
                </a:solidFill>
                <a:latin typeface="Open Sans"/>
                <a:ea typeface="Open Sans"/>
                <a:cs typeface="Open Sans"/>
                <a:sym typeface="Open Sans"/>
              </a:rPr>
              <a:t> cu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prin</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sisteme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nervoase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distribuite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Comportamente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complexe</a:t>
            </a:r>
            <a:r>
              <a:rPr lang="en-US" sz="2000">
                <a:solidFill>
                  <a:srgbClr val="FFFFFF"/>
                </a:solidFill>
                <a:latin typeface="Open Sans"/>
                <a:ea typeface="Open Sans"/>
                <a:cs typeface="Open Sans"/>
                <a:sym typeface="Open Sans"/>
              </a:rPr>
              <a:t> pot </a:t>
            </a:r>
            <a:r>
              <a:rPr lang="en-US" sz="2000" err="1">
                <a:solidFill>
                  <a:srgbClr val="FFFFFF"/>
                </a:solidFill>
                <a:latin typeface="Open Sans"/>
                <a:ea typeface="Open Sans"/>
                <a:cs typeface="Open Sans"/>
                <a:sym typeface="Open Sans"/>
              </a:rPr>
              <a:t>apărea</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interacțiunea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mecanisme</a:t>
            </a:r>
            <a:r>
              <a:rPr lang="en-US" sz="2000">
                <a:solidFill>
                  <a:srgbClr val="FFFFFF"/>
                </a:solidFill>
                <a:latin typeface="Open Sans"/>
                <a:ea typeface="Open Sans"/>
                <a:cs typeface="Open Sans"/>
                <a:sym typeface="Open Sans"/>
              </a:rPr>
              <a:t> simple de </a:t>
            </a:r>
            <a:r>
              <a:rPr lang="en-US" sz="2000" err="1">
                <a:solidFill>
                  <a:srgbClr val="FFFFFF"/>
                </a:solidFill>
                <a:latin typeface="Open Sans"/>
                <a:ea typeface="Open Sans"/>
                <a:cs typeface="Open Sans"/>
                <a:sym typeface="Open Sans"/>
              </a:rPr>
              <a:t>percepție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procesare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acțiune.</a:t>
            </a:r>
          </a:p>
        </p:txBody>
      </p:sp>
      <p:sp>
        <p:nvSpPr>
          <p:cNvPr id="30" name="TextBox 30"/>
          <p:cNvSpPr txBox="1"/>
          <p:nvPr/>
        </p:nvSpPr>
        <p:spPr>
          <a:xfrm>
            <a:off x="2051286" y="5994991"/>
            <a:ext cx="7549913" cy="1538883"/>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Agentul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formează</a:t>
            </a:r>
            <a:r>
              <a:rPr lang="en-US" sz="2000">
                <a:solidFill>
                  <a:srgbClr val="FFFFFF"/>
                </a:solidFill>
                <a:latin typeface="Open Sans"/>
                <a:ea typeface="Open Sans"/>
                <a:cs typeface="Open Sans"/>
                <a:sym typeface="Open Sans"/>
              </a:rPr>
              <a:t> un </a:t>
            </a:r>
            <a:r>
              <a:rPr lang="en-US" sz="2000" err="1">
                <a:solidFill>
                  <a:srgbClr val="FFFFFF"/>
                </a:solidFill>
                <a:latin typeface="Open Sans"/>
                <a:ea typeface="Open Sans"/>
                <a:cs typeface="Open Sans"/>
                <a:sym typeface="Open Sans"/>
              </a:rPr>
              <a:t>sistem</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dinamic</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în</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informația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circulă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continuu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printr</a:t>
            </a:r>
            <a:r>
              <a:rPr lang="en-US" sz="2000">
                <a:solidFill>
                  <a:srgbClr val="FFFFFF"/>
                </a:solidFill>
                <a:latin typeface="Open Sans"/>
                <a:ea typeface="Open Sans"/>
                <a:cs typeface="Open Sans"/>
                <a:sym typeface="Open Sans"/>
              </a:rPr>
              <a:t>-o </a:t>
            </a:r>
            <a:r>
              <a:rPr lang="en-US" sz="2000" err="1">
                <a:solidFill>
                  <a:srgbClr val="FFFFFF"/>
                </a:solidFill>
                <a:latin typeface="Open Sans"/>
                <a:ea typeface="Open Sans"/>
                <a:cs typeface="Open Sans"/>
                <a:sym typeface="Open Sans"/>
              </a:rPr>
              <a:t>buclă</a:t>
            </a:r>
            <a:r>
              <a:rPr lang="en-US" sz="2000">
                <a:solidFill>
                  <a:srgbClr val="FFFFFF"/>
                </a:solidFill>
                <a:latin typeface="Open Sans"/>
                <a:ea typeface="Open Sans"/>
                <a:cs typeface="Open Sans"/>
                <a:sym typeface="Open Sans"/>
              </a:rPr>
              <a:t> de feedback. </a:t>
            </a:r>
            <a:r>
              <a:rPr lang="en-US" sz="2000" err="1">
                <a:solidFill>
                  <a:srgbClr val="FFFFFF"/>
                </a:solidFill>
                <a:latin typeface="Open Sans"/>
                <a:ea typeface="Open Sans"/>
                <a:cs typeface="Open Sans"/>
                <a:sym typeface="Open Sans"/>
              </a:rPr>
              <a:t>Arhitectura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permite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extinderea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simulării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prin</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introducerea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factori</a:t>
            </a:r>
            <a:r>
              <a:rPr lang="en-US" sz="2000">
                <a:solidFill>
                  <a:srgbClr val="FFFFFF"/>
                </a:solidFill>
                <a:latin typeface="Open Sans"/>
                <a:ea typeface="Open Sans"/>
                <a:cs typeface="Open Sans"/>
                <a:sym typeface="Open Sans"/>
              </a:rPr>
              <a:t> precum </a:t>
            </a:r>
            <a:r>
              <a:rPr lang="en-US" sz="2000" err="1">
                <a:solidFill>
                  <a:srgbClr val="FFFFFF"/>
                </a:solidFill>
                <a:latin typeface="Open Sans"/>
                <a:ea typeface="Open Sans"/>
                <a:cs typeface="Open Sans"/>
                <a:sym typeface="Open Sans"/>
              </a:rPr>
              <a:t>semnale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chimice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temperatură</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condiții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meteorologice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și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resurse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distribuite</a:t>
            </a:r>
            <a:r>
              <a:rPr lang="en-US" sz="2000">
                <a:solidFill>
                  <a:srgbClr val="FFFFFF"/>
                </a:solidFill>
                <a:latin typeface="Open Sans"/>
                <a:ea typeface="Open Sans"/>
                <a:cs typeface="Open Sans"/>
                <a:sym typeface="Open Sans"/>
              </a:rPr>
              <a:t>.</a:t>
            </a:r>
          </a:p>
        </p:txBody>
      </p:sp>
      <p:sp>
        <p:nvSpPr>
          <p:cNvPr id="32" name="TextBox 32"/>
          <p:cNvSpPr txBox="1"/>
          <p:nvPr/>
        </p:nvSpPr>
        <p:spPr>
          <a:xfrm>
            <a:off x="2051286" y="8145630"/>
            <a:ext cx="7398199" cy="615553"/>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Astfel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proiectul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urmărește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trecerea</a:t>
            </a:r>
            <a:r>
              <a:rPr lang="en-US" sz="2000">
                <a:solidFill>
                  <a:srgbClr val="FFFFFF"/>
                </a:solidFill>
                <a:latin typeface="Open Sans"/>
                <a:ea typeface="Open Sans"/>
                <a:cs typeface="Open Sans"/>
                <a:sym typeface="Open Sans"/>
              </a:rPr>
              <a:t> de la </a:t>
            </a:r>
            <a:r>
              <a:rPr lang="en-US" sz="2000" err="1">
                <a:solidFill>
                  <a:srgbClr val="FFFFFF"/>
                </a:solidFill>
                <a:latin typeface="Open Sans"/>
                <a:ea typeface="Open Sans"/>
                <a:cs typeface="Open Sans"/>
                <a:sym typeface="Open Sans"/>
              </a:rPr>
              <a:t>simularea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unui</a:t>
            </a:r>
            <a:r>
              <a:rPr lang="en-US" sz="2000">
                <a:solidFill>
                  <a:srgbClr val="FFFFFF"/>
                </a:solidFill>
                <a:latin typeface="Open Sans"/>
                <a:ea typeface="Open Sans"/>
                <a:cs typeface="Open Sans"/>
                <a:sym typeface="Open Sans"/>
              </a:rPr>
              <a:t> agent individual la </a:t>
            </a:r>
            <a:r>
              <a:rPr lang="en-US" sz="2000" err="1">
                <a:solidFill>
                  <a:srgbClr val="FFFFFF"/>
                </a:solidFill>
                <a:latin typeface="Open Sans"/>
                <a:ea typeface="Open Sans"/>
                <a:cs typeface="Open Sans"/>
                <a:sym typeface="Open Sans"/>
              </a:rPr>
              <a:t>modelarea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ecosisteme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autonome</a:t>
            </a:r>
            <a:r>
              <a:rPr lang="en-US" sz="2000">
                <a:solidFill>
                  <a:srgbClr val="FFFFFF"/>
                </a:solidFill>
                <a:latin typeface="Open Sans"/>
                <a:ea typeface="Open Sans"/>
                <a:cs typeface="Open Sans"/>
                <a:sym typeface="Open Sans"/>
              </a:rPr>
              <a:t>. </a:t>
            </a:r>
          </a:p>
        </p:txBody>
      </p:sp>
      <p:grpSp>
        <p:nvGrpSpPr>
          <p:cNvPr id="34" name="Group 34"/>
          <p:cNvGrpSpPr/>
          <p:nvPr/>
        </p:nvGrpSpPr>
        <p:grpSpPr>
          <a:xfrm>
            <a:off x="14169766" y="0"/>
            <a:ext cx="3089534" cy="4634301"/>
            <a:chOff x="0" y="0"/>
            <a:chExt cx="406400" cy="609600"/>
          </a:xfrm>
        </p:grpSpPr>
        <p:sp>
          <p:nvSpPr>
            <p:cNvPr id="35" name="Freeform 35"/>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001BD1">
                    <a:alpha val="58000"/>
                  </a:srgbClr>
                </a:gs>
                <a:gs pos="100000">
                  <a:srgbClr val="0085FF">
                    <a:alpha val="0"/>
                  </a:srgbClr>
                </a:gs>
              </a:gsLst>
              <a:lin ang="0"/>
            </a:gradFill>
          </p:spPr>
        </p:sp>
        <p:sp>
          <p:nvSpPr>
            <p:cNvPr id="36" name="TextBox 36"/>
            <p:cNvSpPr txBox="1"/>
            <p:nvPr/>
          </p:nvSpPr>
          <p:spPr>
            <a:xfrm>
              <a:off x="101600" y="-38100"/>
              <a:ext cx="203200" cy="6477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6924311" y="3209561"/>
            <a:ext cx="4439378" cy="443937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3"/>
              <a:stretch>
                <a:fillRect/>
              </a:stretch>
            </a:blipFill>
          </p:spPr>
        </p:sp>
      </p:grpSp>
      <p:grpSp>
        <p:nvGrpSpPr>
          <p:cNvPr id="11" name="Group 11"/>
          <p:cNvGrpSpPr/>
          <p:nvPr/>
        </p:nvGrpSpPr>
        <p:grpSpPr>
          <a:xfrm>
            <a:off x="3571594" y="3845373"/>
            <a:ext cx="3167754" cy="316775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4"/>
              <a:stretch>
                <a:fillRect/>
              </a:stretch>
            </a:blipFill>
          </p:spPr>
        </p:sp>
      </p:grpSp>
      <p:grpSp>
        <p:nvGrpSpPr>
          <p:cNvPr id="13" name="Group 13"/>
          <p:cNvGrpSpPr/>
          <p:nvPr/>
        </p:nvGrpSpPr>
        <p:grpSpPr>
          <a:xfrm>
            <a:off x="11544664" y="3845373"/>
            <a:ext cx="3167754" cy="316775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a:stretch>
            </a:blipFill>
          </p:spPr>
        </p:sp>
      </p:grpSp>
      <p:grpSp>
        <p:nvGrpSpPr>
          <p:cNvPr id="15" name="Group 15"/>
          <p:cNvGrpSpPr/>
          <p:nvPr/>
        </p:nvGrpSpPr>
        <p:grpSpPr>
          <a:xfrm>
            <a:off x="8216655" y="2460777"/>
            <a:ext cx="1854690" cy="124256"/>
            <a:chOff x="0" y="0"/>
            <a:chExt cx="488478" cy="32726"/>
          </a:xfrm>
        </p:grpSpPr>
        <p:sp>
          <p:nvSpPr>
            <p:cNvPr id="16" name="Freeform 16"/>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7" name="TextBox 17"/>
            <p:cNvSpPr txBox="1"/>
            <p:nvPr/>
          </p:nvSpPr>
          <p:spPr>
            <a:xfrm>
              <a:off x="0" y="-38100"/>
              <a:ext cx="488478" cy="70826"/>
            </a:xfrm>
            <a:prstGeom prst="rect">
              <a:avLst/>
            </a:prstGeom>
          </p:spPr>
          <p:txBody>
            <a:bodyPr lIns="50800" tIns="50800" rIns="50800" bIns="50800" rtlCol="0" anchor="ctr"/>
            <a:lstStyle/>
            <a:p>
              <a:pPr marL="0" lvl="0" indent="0" algn="r">
                <a:lnSpc>
                  <a:spcPts val="2659"/>
                </a:lnSpc>
                <a:spcBef>
                  <a:spcPct val="0"/>
                </a:spcBef>
              </a:pPr>
              <a:endParaRPr/>
            </a:p>
          </p:txBody>
        </p:sp>
      </p:grpSp>
      <p:grpSp>
        <p:nvGrpSpPr>
          <p:cNvPr id="18" name="Group 18"/>
          <p:cNvGrpSpPr/>
          <p:nvPr/>
        </p:nvGrpSpPr>
        <p:grpSpPr>
          <a:xfrm>
            <a:off x="2820482" y="4678138"/>
            <a:ext cx="1502223" cy="1502223"/>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139700" y="101600"/>
              <a:ext cx="533400" cy="571500"/>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457200" y="645630"/>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4/16</a:t>
            </a:r>
          </a:p>
        </p:txBody>
      </p:sp>
      <p:sp>
        <p:nvSpPr>
          <p:cNvPr id="22" name="TextBox 22"/>
          <p:cNvSpPr txBox="1"/>
          <p:nvPr/>
        </p:nvSpPr>
        <p:spPr>
          <a:xfrm>
            <a:off x="4856928" y="1665015"/>
            <a:ext cx="8271613" cy="1282402"/>
          </a:xfrm>
          <a:prstGeom prst="rect">
            <a:avLst/>
          </a:prstGeom>
        </p:spPr>
        <p:txBody>
          <a:bodyPr lIns="0" tIns="0" rIns="0" bIns="0" rtlCol="0" anchor="t">
            <a:spAutoFit/>
          </a:bodyPr>
          <a:lstStyle/>
          <a:p>
            <a:pPr marL="0" lvl="0" indent="0" algn="ctr">
              <a:lnSpc>
                <a:spcPts val="5036"/>
              </a:lnSpc>
              <a:spcBef>
                <a:spcPct val="0"/>
              </a:spcBef>
            </a:pPr>
            <a:r>
              <a:rPr lang="en-US" sz="4000" err="1">
                <a:solidFill>
                  <a:srgbClr val="FFFFFF"/>
                </a:solidFill>
                <a:latin typeface="Pattanakarn"/>
                <a:ea typeface="Pattanakarn"/>
                <a:cs typeface="Pattanakarn"/>
                <a:sym typeface="Pattanakarn"/>
              </a:rPr>
              <a:t>Implementarea</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agentului</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vierme</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si</a:t>
            </a:r>
            <a:r>
              <a:rPr lang="en-US" sz="4000">
                <a:solidFill>
                  <a:srgbClr val="FFFFFF"/>
                </a:solidFill>
                <a:latin typeface="Pattanakarn"/>
                <a:ea typeface="Pattanakarn"/>
                <a:cs typeface="Pattanakarn"/>
                <a:sym typeface="Pattanakarn"/>
              </a:rPr>
              <a:t> a </a:t>
            </a:r>
            <a:r>
              <a:rPr lang="en-US" sz="4000" err="1">
                <a:solidFill>
                  <a:srgbClr val="FFFFFF"/>
                </a:solidFill>
                <a:latin typeface="Pattanakarn"/>
                <a:ea typeface="Pattanakarn"/>
                <a:cs typeface="Pattanakarn"/>
                <a:sym typeface="Pattanakarn"/>
              </a:rPr>
              <a:t>mediului</a:t>
            </a:r>
            <a:r>
              <a:rPr lang="en-US" sz="4000">
                <a:solidFill>
                  <a:srgbClr val="FFFFFF"/>
                </a:solidFill>
                <a:latin typeface="Pattanakarn"/>
                <a:ea typeface="Pattanakarn"/>
                <a:cs typeface="Pattanakarn"/>
                <a:sym typeface="Pattanakarn"/>
              </a:rPr>
              <a:t> virtual </a:t>
            </a:r>
            <a:r>
              <a:rPr lang="en-US" sz="4000" err="1">
                <a:solidFill>
                  <a:srgbClr val="FFFFFF"/>
                </a:solidFill>
                <a:latin typeface="Pattanakarn"/>
                <a:ea typeface="Pattanakarn"/>
                <a:cs typeface="Pattanakarn"/>
                <a:sym typeface="Pattanakarn"/>
              </a:rPr>
              <a:t>inconjurator</a:t>
            </a:r>
            <a:endParaRPr lang="en-US" sz="4000">
              <a:solidFill>
                <a:srgbClr val="FFFFFF"/>
              </a:solidFill>
              <a:latin typeface="Pattanakarn"/>
              <a:ea typeface="Pattanakarn"/>
              <a:cs typeface="Pattanakarn"/>
              <a:sym typeface="Pattanakarn"/>
            </a:endParaRPr>
          </a:p>
        </p:txBody>
      </p:sp>
      <p:grpSp>
        <p:nvGrpSpPr>
          <p:cNvPr id="23" name="Group 23"/>
          <p:cNvGrpSpPr/>
          <p:nvPr/>
        </p:nvGrpSpPr>
        <p:grpSpPr>
          <a:xfrm>
            <a:off x="13961306" y="4678138"/>
            <a:ext cx="1502223" cy="1502223"/>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gradFill rotWithShape="1">
              <a:gsLst>
                <a:gs pos="0">
                  <a:srgbClr val="0085FF">
                    <a:alpha val="0"/>
                  </a:srgbClr>
                </a:gs>
                <a:gs pos="100000">
                  <a:srgbClr val="001BD1">
                    <a:alpha val="58000"/>
                  </a:srgbClr>
                </a:gs>
              </a:gsLst>
              <a:lin ang="0"/>
            </a:gradFill>
          </p:spPr>
        </p:sp>
        <p:sp>
          <p:nvSpPr>
            <p:cNvPr id="25" name="TextBox 25"/>
            <p:cNvSpPr txBox="1"/>
            <p:nvPr/>
          </p:nvSpPr>
          <p:spPr>
            <a:xfrm>
              <a:off x="139700" y="101600"/>
              <a:ext cx="533400" cy="571500"/>
            </a:xfrm>
            <a:prstGeom prst="rect">
              <a:avLst/>
            </a:prstGeom>
          </p:spPr>
          <p:txBody>
            <a:bodyPr lIns="50800" tIns="50800" rIns="50800" bIns="50800" rtlCol="0" anchor="ctr"/>
            <a:lstStyle/>
            <a:p>
              <a:pPr marL="0" lvl="0" indent="0" algn="ctr">
                <a:lnSpc>
                  <a:spcPts val="2659"/>
                </a:lnSpc>
              </a:pPr>
              <a:endParaRPr/>
            </a:p>
          </p:txBody>
        </p:sp>
      </p:grpSp>
      <p:sp>
        <p:nvSpPr>
          <p:cNvPr id="26" name="TextBox 26"/>
          <p:cNvSpPr txBox="1"/>
          <p:nvPr/>
        </p:nvSpPr>
        <p:spPr>
          <a:xfrm>
            <a:off x="2392685" y="7597965"/>
            <a:ext cx="13152115" cy="2154436"/>
          </a:xfrm>
          <a:prstGeom prst="rect">
            <a:avLst/>
          </a:prstGeom>
        </p:spPr>
        <p:txBody>
          <a:bodyPr wrap="square" lIns="0" tIns="0" rIns="0" bIns="0" rtlCol="0" anchor="t">
            <a:spAutoFit/>
          </a:bodyPr>
          <a:lstStyle/>
          <a:p>
            <a:pPr marL="0" lvl="0" indent="0" algn="ctr">
              <a:spcBef>
                <a:spcPct val="0"/>
              </a:spcBef>
            </a:pPr>
            <a:r>
              <a:rPr lang="en-US" sz="2000">
                <a:solidFill>
                  <a:srgbClr val="FFFFFF"/>
                </a:solidFill>
                <a:latin typeface="Open Sans"/>
                <a:ea typeface="Open Sans"/>
                <a:cs typeface="Open Sans"/>
                <a:sym typeface="Open Sans"/>
              </a:rPr>
              <a:t>Am ales Unity ca </a:t>
            </a:r>
            <a:r>
              <a:rPr lang="en-US" sz="2000" err="1">
                <a:solidFill>
                  <a:srgbClr val="FFFFFF"/>
                </a:solidFill>
                <a:latin typeface="Open Sans"/>
                <a:ea typeface="Open Sans"/>
                <a:cs typeface="Open Sans"/>
                <a:sym typeface="Open Sans"/>
              </a:rPr>
              <a:t>platforma</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implementare</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mai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multe</a:t>
            </a:r>
            <a:r>
              <a:rPr lang="en-US" sz="2000">
                <a:solidFill>
                  <a:srgbClr val="FFFFFF"/>
                </a:solidFill>
                <a:latin typeface="Open Sans"/>
                <a:ea typeface="Open Sans"/>
                <a:cs typeface="Open Sans"/>
                <a:sym typeface="Open Sans"/>
              </a:rPr>
              <a:t> motive care </a:t>
            </a:r>
            <a:r>
              <a:rPr lang="en-US" sz="2000" err="1">
                <a:solidFill>
                  <a:srgbClr val="FFFFFF"/>
                </a:solidFill>
                <a:latin typeface="Open Sans"/>
                <a:ea typeface="Open Sans"/>
                <a:cs typeface="Open Sans"/>
                <a:sym typeface="Open Sans"/>
              </a:rPr>
              <a:t>influenteaza</a:t>
            </a:r>
            <a:r>
              <a:rPr lang="en-US" sz="2000">
                <a:solidFill>
                  <a:srgbClr val="FFFFFF"/>
                </a:solidFill>
                <a:latin typeface="Open Sans"/>
                <a:ea typeface="Open Sans"/>
                <a:cs typeface="Open Sans"/>
                <a:sym typeface="Open Sans"/>
              </a:rPr>
              <a:t> direct </a:t>
            </a:r>
            <a:r>
              <a:rPr lang="en-US" sz="2000" err="1">
                <a:solidFill>
                  <a:srgbClr val="FFFFFF"/>
                </a:solidFill>
                <a:latin typeface="Open Sans"/>
                <a:ea typeface="Open Sans"/>
                <a:cs typeface="Open Sans"/>
                <a:sym typeface="Open Sans"/>
              </a:rPr>
              <a:t>modul</a:t>
            </a:r>
            <a:r>
              <a:rPr lang="en-US" sz="2000">
                <a:solidFill>
                  <a:srgbClr val="FFFFFF"/>
                </a:solidFill>
                <a:latin typeface="Open Sans"/>
                <a:ea typeface="Open Sans"/>
                <a:cs typeface="Open Sans"/>
                <a:sym typeface="Open Sans"/>
              </a:rPr>
              <a:t> in care a </a:t>
            </a:r>
            <a:r>
              <a:rPr lang="en-US" sz="2000" err="1">
                <a:solidFill>
                  <a:srgbClr val="FFFFFF"/>
                </a:solidFill>
                <a:latin typeface="Open Sans"/>
                <a:ea typeface="Open Sans"/>
                <a:cs typeface="Open Sans"/>
                <a:sym typeface="Open Sans"/>
              </a:rPr>
              <a:t>fost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construit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agentul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sau</a:t>
            </a:r>
            <a:r>
              <a:rPr lang="en-US" sz="2000">
                <a:solidFill>
                  <a:srgbClr val="FFFFFF"/>
                </a:solidFill>
                <a:latin typeface="Open Sans"/>
                <a:ea typeface="Open Sans"/>
                <a:cs typeface="Open Sans"/>
                <a:sym typeface="Open Sans"/>
              </a:rPr>
              <a:t> : motor </a:t>
            </a:r>
            <a:r>
              <a:rPr lang="en-US" sz="2000" err="1">
                <a:solidFill>
                  <a:srgbClr val="FFFFFF"/>
                </a:solidFill>
                <a:latin typeface="Open Sans"/>
                <a:ea typeface="Open Sans"/>
                <a:cs typeface="Open Sans"/>
                <a:sym typeface="Open Sans"/>
              </a:rPr>
              <a:t>fizic</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integrat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arhitectura</a:t>
            </a:r>
            <a:r>
              <a:rPr lang="en-US" sz="2000">
                <a:solidFill>
                  <a:srgbClr val="FFFFFF"/>
                </a:solidFill>
                <a:latin typeface="Open Sans"/>
                <a:ea typeface="Open Sans"/>
                <a:cs typeface="Open Sans"/>
                <a:sym typeface="Open Sans"/>
              </a:rPr>
              <a:t> pe </a:t>
            </a:r>
            <a:r>
              <a:rPr lang="en-US" sz="2000" err="1">
                <a:solidFill>
                  <a:srgbClr val="FFFFFF"/>
                </a:solidFill>
                <a:latin typeface="Open Sans"/>
                <a:ea typeface="Open Sans"/>
                <a:cs typeface="Open Sans"/>
                <a:sym typeface="Open Sans"/>
              </a:rPr>
              <a:t>componente</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permite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extinderea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ulterioara</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platformei</a:t>
            </a:r>
            <a:r>
              <a:rPr lang="en-US" sz="2000">
                <a:solidFill>
                  <a:srgbClr val="FFFFFF"/>
                </a:solidFill>
                <a:latin typeface="Open Sans"/>
                <a:ea typeface="Open Sans"/>
                <a:cs typeface="Open Sans"/>
                <a:sym typeface="Open Sans"/>
              </a:rPr>
              <a:t> cu </a:t>
            </a:r>
            <a:r>
              <a:rPr lang="en-US" sz="2000" err="1">
                <a:solidFill>
                  <a:srgbClr val="FFFFFF"/>
                </a:solidFill>
                <a:latin typeface="Open Sans"/>
                <a:ea typeface="Open Sans"/>
                <a:cs typeface="Open Sans"/>
                <a:sym typeface="Open Sans"/>
              </a:rPr>
              <a:t>agenti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complet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diferiti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fara</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rescrie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logica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existenta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iterare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rapida</a:t>
            </a:r>
            <a:r>
              <a:rPr lang="en-US" sz="2000">
                <a:solidFill>
                  <a:srgbClr val="FFFFFF"/>
                </a:solidFill>
                <a:latin typeface="Open Sans"/>
                <a:ea typeface="Open Sans"/>
                <a:cs typeface="Open Sans"/>
                <a:sym typeface="Open Sans"/>
              </a:rPr>
              <a:t> si </a:t>
            </a:r>
            <a:r>
              <a:rPr lang="en-US" sz="2000" err="1">
                <a:solidFill>
                  <a:srgbClr val="FFFFFF"/>
                </a:solidFill>
                <a:latin typeface="Open Sans"/>
                <a:ea typeface="Open Sans"/>
                <a:cs typeface="Open Sans"/>
                <a:sym typeface="Open Sans"/>
              </a:rPr>
              <a:t>depanare</a:t>
            </a:r>
            <a:r>
              <a:rPr lang="en-US" sz="2000">
                <a:solidFill>
                  <a:srgbClr val="FFFFFF"/>
                </a:solidFill>
                <a:latin typeface="Open Sans"/>
                <a:ea typeface="Open Sans"/>
                <a:cs typeface="Open Sans"/>
                <a:sym typeface="Open Sans"/>
              </a:rPr>
              <a:t> vizuala, </a:t>
            </a:r>
            <a:r>
              <a:rPr lang="en-US" sz="2000" err="1">
                <a:solidFill>
                  <a:srgbClr val="FFFFFF"/>
                </a:solidFill>
                <a:latin typeface="Open Sans"/>
                <a:ea typeface="Open Sans"/>
                <a:cs typeface="Open Sans"/>
                <a:sym typeface="Open Sans"/>
              </a:rPr>
              <a:t>posibilitati</a:t>
            </a:r>
            <a:r>
              <a:rPr lang="en-US" sz="2000">
                <a:solidFill>
                  <a:srgbClr val="FFFFFF"/>
                </a:solidFill>
                <a:latin typeface="Open Sans"/>
                <a:ea typeface="Open Sans"/>
                <a:cs typeface="Open Sans"/>
                <a:sym typeface="Open Sans"/>
              </a:rPr>
              <a:t> de upgrade graphic </a:t>
            </a:r>
            <a:r>
              <a:rPr lang="en-US" sz="2000" err="1">
                <a:solidFill>
                  <a:srgbClr val="FFFFFF"/>
                </a:solidFill>
                <a:latin typeface="Open Sans"/>
                <a:ea typeface="Open Sans"/>
                <a:cs typeface="Open Sans"/>
                <a:sym typeface="Open Sans"/>
              </a:rPr>
              <a:t>pentru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calitate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vizuala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este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construit</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coliziuni</a:t>
            </a:r>
            <a:r>
              <a:rPr lang="en-US" sz="2000">
                <a:solidFill>
                  <a:srgbClr val="FFFFFF"/>
                </a:solidFill>
                <a:latin typeface="Open Sans"/>
                <a:ea typeface="Open Sans"/>
                <a:cs typeface="Open Sans"/>
                <a:sym typeface="Open Sans"/>
              </a:rPr>
              <a:t> simple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volume de tip trigger </a:t>
            </a:r>
            <a:r>
              <a:rPr lang="en-US" sz="2000" err="1">
                <a:solidFill>
                  <a:srgbClr val="FFFFFF"/>
                </a:solidFill>
                <a:latin typeface="Open Sans"/>
                <a:ea typeface="Open Sans"/>
                <a:cs typeface="Open Sans"/>
                <a:sym typeface="Open Sans"/>
              </a:rPr>
              <a:t>ce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permite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testarea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rapida</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scenarii </a:t>
            </a:r>
            <a:r>
              <a:rPr lang="en-US" sz="2000" err="1">
                <a:solidFill>
                  <a:srgbClr val="FFFFFF"/>
                </a:solidFill>
                <a:latin typeface="Open Sans"/>
                <a:ea typeface="Open Sans"/>
                <a:cs typeface="Open Sans"/>
                <a:sym typeface="Open Sans"/>
              </a:rPr>
              <a:t>noi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fara</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modifica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scripurile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agentului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agentul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comunica</a:t>
            </a:r>
            <a:r>
              <a:rPr lang="en-US" sz="2000">
                <a:solidFill>
                  <a:srgbClr val="FFFFFF"/>
                </a:solidFill>
                <a:latin typeface="Open Sans"/>
                <a:ea typeface="Open Sans"/>
                <a:cs typeface="Open Sans"/>
                <a:sym typeface="Open Sans"/>
              </a:rPr>
              <a:t> exclusiv </a:t>
            </a:r>
            <a:r>
              <a:rPr lang="en-US" sz="2000" err="1">
                <a:solidFill>
                  <a:srgbClr val="FFFFFF"/>
                </a:solidFill>
                <a:latin typeface="Open Sans"/>
                <a:ea typeface="Open Sans"/>
                <a:cs typeface="Open Sans"/>
                <a:sym typeface="Open Sans"/>
              </a:rPr>
              <a:t>prin</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senzori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triggere</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coliziune</a:t>
            </a:r>
            <a:r>
              <a:rPr lang="en-US" sz="2000">
                <a:solidFill>
                  <a:srgbClr val="FFFFFF"/>
                </a:solidFill>
                <a:latin typeface="Open Sans"/>
                <a:ea typeface="Open Sans"/>
                <a:cs typeface="Open Sans"/>
                <a:sym typeface="Open Sans"/>
              </a:rPr>
              <a:t>, o </a:t>
            </a:r>
            <a:r>
              <a:rPr lang="en-US" sz="2000" err="1">
                <a:solidFill>
                  <a:srgbClr val="FFFFFF"/>
                </a:solidFill>
                <a:latin typeface="Open Sans"/>
                <a:ea typeface="Open Sans"/>
                <a:cs typeface="Open Sans"/>
                <a:sym typeface="Open Sans"/>
              </a:rPr>
              <a:t>separare</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va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permite</a:t>
            </a:r>
            <a:r>
              <a:rPr lang="en-US" sz="2000">
                <a:solidFill>
                  <a:srgbClr val="FFFFFF"/>
                </a:solidFill>
                <a:latin typeface="Open Sans"/>
                <a:ea typeface="Open Sans"/>
                <a:cs typeface="Open Sans"/>
                <a:sym typeface="Open Sans"/>
              </a:rPr>
              <a:t>, in </a:t>
            </a:r>
            <a:r>
              <a:rPr lang="en-US" sz="2000" err="1">
                <a:solidFill>
                  <a:srgbClr val="FFFFFF"/>
                </a:solidFill>
                <a:latin typeface="Open Sans"/>
                <a:ea typeface="Open Sans"/>
                <a:cs typeface="Open Sans"/>
                <a:sym typeface="Open Sans"/>
              </a:rPr>
              <a:t>etape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viitoare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introducerea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altor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sisteme</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mediu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fara</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perturba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arhitectura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actuala</a:t>
            </a:r>
            <a:r>
              <a:rPr lang="en-US" sz="2000">
                <a:solidFill>
                  <a:srgbClr val="FFFFFF"/>
                </a:solidFill>
                <a:latin typeface="Open Sans"/>
                <a:ea typeface="Open Sans"/>
                <a:cs typeface="Open Sans"/>
                <a:sym typeface="Open Sans"/>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83572" y="1283524"/>
            <a:ext cx="5443715" cy="7659473"/>
            <a:chOff x="-12840" y="-38100"/>
            <a:chExt cx="665044" cy="658851"/>
          </a:xfrm>
        </p:grpSpPr>
        <p:sp>
          <p:nvSpPr>
            <p:cNvPr id="10" name="Freeform 10"/>
            <p:cNvSpPr/>
            <p:nvPr/>
          </p:nvSpPr>
          <p:spPr>
            <a:xfrm>
              <a:off x="-12840" y="11151"/>
              <a:ext cx="665044" cy="609600"/>
            </a:xfrm>
            <a:custGeom>
              <a:avLst/>
              <a:gdLst/>
              <a:ahLst/>
              <a:cxnLst/>
              <a:rect l="l" t="t" r="r" b="b"/>
              <a:pathLst>
                <a:path w="665044" h="609600">
                  <a:moveTo>
                    <a:pt x="461844" y="0"/>
                  </a:moveTo>
                  <a:lnTo>
                    <a:pt x="0" y="0"/>
                  </a:lnTo>
                  <a:lnTo>
                    <a:pt x="203200" y="609600"/>
                  </a:lnTo>
                  <a:lnTo>
                    <a:pt x="665044" y="609600"/>
                  </a:lnTo>
                  <a:lnTo>
                    <a:pt x="461844" y="0"/>
                  </a:lnTo>
                  <a:close/>
                </a:path>
              </a:pathLst>
            </a:custGeom>
            <a:gradFill rotWithShape="1">
              <a:gsLst>
                <a:gs pos="0">
                  <a:srgbClr val="001BD1">
                    <a:alpha val="58000"/>
                  </a:srgbClr>
                </a:gs>
                <a:gs pos="100000">
                  <a:srgbClr val="0085FF">
                    <a:alpha val="0"/>
                  </a:srgbClr>
                </a:gs>
              </a:gsLst>
              <a:lin ang="0"/>
            </a:gradFill>
          </p:spPr>
        </p:sp>
        <p:sp>
          <p:nvSpPr>
            <p:cNvPr id="11" name="TextBox 11"/>
            <p:cNvSpPr txBox="1"/>
            <p:nvPr/>
          </p:nvSpPr>
          <p:spPr>
            <a:xfrm>
              <a:off x="101600" y="-38100"/>
              <a:ext cx="461844" cy="647700"/>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2708644" y="1366210"/>
            <a:ext cx="5617238" cy="6800194"/>
            <a:chOff x="-23250" y="-38100"/>
            <a:chExt cx="665044" cy="669847"/>
          </a:xfrm>
        </p:grpSpPr>
        <p:sp>
          <p:nvSpPr>
            <p:cNvPr id="13" name="Freeform 13"/>
            <p:cNvSpPr/>
            <p:nvPr/>
          </p:nvSpPr>
          <p:spPr>
            <a:xfrm>
              <a:off x="-23250" y="22147"/>
              <a:ext cx="665044" cy="609600"/>
            </a:xfrm>
            <a:custGeom>
              <a:avLst/>
              <a:gdLst/>
              <a:ahLst/>
              <a:cxnLst/>
              <a:rect l="l" t="t" r="r" b="b"/>
              <a:pathLst>
                <a:path w="665044" h="609600">
                  <a:moveTo>
                    <a:pt x="461844" y="0"/>
                  </a:moveTo>
                  <a:lnTo>
                    <a:pt x="0" y="0"/>
                  </a:lnTo>
                  <a:lnTo>
                    <a:pt x="203200" y="609600"/>
                  </a:lnTo>
                  <a:lnTo>
                    <a:pt x="665044" y="609600"/>
                  </a:lnTo>
                  <a:lnTo>
                    <a:pt x="461844" y="0"/>
                  </a:lnTo>
                  <a:close/>
                </a:path>
              </a:pathLst>
            </a:custGeom>
            <a:gradFill rotWithShape="1">
              <a:gsLst>
                <a:gs pos="0">
                  <a:srgbClr val="001BD1">
                    <a:alpha val="58000"/>
                  </a:srgbClr>
                </a:gs>
                <a:gs pos="100000">
                  <a:srgbClr val="0085FF">
                    <a:alpha val="0"/>
                  </a:srgbClr>
                </a:gs>
              </a:gsLst>
              <a:lin ang="0"/>
            </a:gradFill>
          </p:spPr>
        </p:sp>
        <p:sp>
          <p:nvSpPr>
            <p:cNvPr id="14" name="TextBox 14"/>
            <p:cNvSpPr txBox="1"/>
            <p:nvPr/>
          </p:nvSpPr>
          <p:spPr>
            <a:xfrm>
              <a:off x="101600" y="-38100"/>
              <a:ext cx="461844" cy="647700"/>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223976" y="2803504"/>
            <a:ext cx="5268693" cy="6704992"/>
            <a:chOff x="27643" y="-130083"/>
            <a:chExt cx="665044" cy="609600"/>
          </a:xfrm>
        </p:grpSpPr>
        <p:sp>
          <p:nvSpPr>
            <p:cNvPr id="16" name="Freeform 16"/>
            <p:cNvSpPr/>
            <p:nvPr/>
          </p:nvSpPr>
          <p:spPr>
            <a:xfrm>
              <a:off x="27643" y="-130083"/>
              <a:ext cx="665044" cy="609600"/>
            </a:xfrm>
            <a:custGeom>
              <a:avLst/>
              <a:gdLst/>
              <a:ahLst/>
              <a:cxnLst/>
              <a:rect l="l" t="t" r="r" b="b"/>
              <a:pathLst>
                <a:path w="665044" h="609600">
                  <a:moveTo>
                    <a:pt x="461844" y="0"/>
                  </a:moveTo>
                  <a:lnTo>
                    <a:pt x="0" y="0"/>
                  </a:lnTo>
                  <a:lnTo>
                    <a:pt x="203200" y="609600"/>
                  </a:lnTo>
                  <a:lnTo>
                    <a:pt x="665044" y="609600"/>
                  </a:lnTo>
                  <a:lnTo>
                    <a:pt x="461844" y="0"/>
                  </a:lnTo>
                  <a:close/>
                </a:path>
              </a:pathLst>
            </a:custGeom>
            <a:blipFill>
              <a:blip r:embed="rId3"/>
              <a:stretch>
                <a:fillRect t="-4547" b="-4547"/>
              </a:stretch>
            </a:blipFill>
          </p:spPr>
        </p:sp>
      </p:grpSp>
      <p:grpSp>
        <p:nvGrpSpPr>
          <p:cNvPr id="17" name="Group 17"/>
          <p:cNvGrpSpPr/>
          <p:nvPr/>
        </p:nvGrpSpPr>
        <p:grpSpPr>
          <a:xfrm>
            <a:off x="12812253" y="2890137"/>
            <a:ext cx="5458953" cy="6188575"/>
            <a:chOff x="0" y="0"/>
            <a:chExt cx="665044" cy="609600"/>
          </a:xfrm>
        </p:grpSpPr>
        <p:sp>
          <p:nvSpPr>
            <p:cNvPr id="18" name="Freeform 18"/>
            <p:cNvSpPr/>
            <p:nvPr/>
          </p:nvSpPr>
          <p:spPr>
            <a:xfrm>
              <a:off x="0" y="0"/>
              <a:ext cx="665044" cy="609600"/>
            </a:xfrm>
            <a:custGeom>
              <a:avLst/>
              <a:gdLst/>
              <a:ahLst/>
              <a:cxnLst/>
              <a:rect l="l" t="t" r="r" b="b"/>
              <a:pathLst>
                <a:path w="665044" h="609600">
                  <a:moveTo>
                    <a:pt x="461844" y="0"/>
                  </a:moveTo>
                  <a:lnTo>
                    <a:pt x="0" y="0"/>
                  </a:lnTo>
                  <a:lnTo>
                    <a:pt x="203200" y="609600"/>
                  </a:lnTo>
                  <a:lnTo>
                    <a:pt x="665044" y="609600"/>
                  </a:lnTo>
                  <a:lnTo>
                    <a:pt x="461844" y="0"/>
                  </a:lnTo>
                  <a:close/>
                </a:path>
              </a:pathLst>
            </a:custGeom>
            <a:blipFill>
              <a:blip r:embed="rId4"/>
              <a:stretch>
                <a:fillRect t="-4547" b="-4547"/>
              </a:stretch>
            </a:blipFill>
          </p:spPr>
        </p:sp>
      </p:grpSp>
      <p:grpSp>
        <p:nvGrpSpPr>
          <p:cNvPr id="19" name="Group 19"/>
          <p:cNvGrpSpPr/>
          <p:nvPr/>
        </p:nvGrpSpPr>
        <p:grpSpPr>
          <a:xfrm>
            <a:off x="8058415" y="1645695"/>
            <a:ext cx="1854690" cy="124256"/>
            <a:chOff x="0" y="0"/>
            <a:chExt cx="488478" cy="32726"/>
          </a:xfrm>
        </p:grpSpPr>
        <p:sp>
          <p:nvSpPr>
            <p:cNvPr id="20" name="Freeform 20"/>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1" name="TextBox 21"/>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2" name="TextBox 22"/>
          <p:cNvSpPr txBox="1"/>
          <p:nvPr/>
        </p:nvSpPr>
        <p:spPr>
          <a:xfrm>
            <a:off x="503214" y="645630"/>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5/16</a:t>
            </a:r>
          </a:p>
        </p:txBody>
      </p:sp>
      <p:sp>
        <p:nvSpPr>
          <p:cNvPr id="23" name="TextBox 23"/>
          <p:cNvSpPr txBox="1"/>
          <p:nvPr/>
        </p:nvSpPr>
        <p:spPr>
          <a:xfrm>
            <a:off x="5928618" y="895982"/>
            <a:ext cx="10524005" cy="394339"/>
          </a:xfrm>
          <a:prstGeom prst="rect">
            <a:avLst/>
          </a:prstGeom>
        </p:spPr>
        <p:txBody>
          <a:bodyPr wrap="square" lIns="0" tIns="0" rIns="0" bIns="0" rtlCol="0" anchor="t">
            <a:spAutoFit/>
          </a:bodyPr>
          <a:lstStyle/>
          <a:p>
            <a:pPr marL="0" lvl="0" indent="0" algn="l">
              <a:lnSpc>
                <a:spcPts val="2530"/>
              </a:lnSpc>
              <a:spcBef>
                <a:spcPct val="0"/>
              </a:spcBef>
            </a:pPr>
            <a:r>
              <a:rPr lang="en-US" sz="4000" err="1">
                <a:solidFill>
                  <a:srgbClr val="FFFFFF"/>
                </a:solidFill>
                <a:latin typeface="Pattanakarn"/>
                <a:ea typeface="Pattanakarn"/>
                <a:cs typeface="Pattanakarn"/>
                <a:sym typeface="Pattanakarn"/>
              </a:rPr>
              <a:t>Arhitectura</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Sistemului</a:t>
            </a:r>
            <a:endParaRPr lang="en-US" sz="4000">
              <a:solidFill>
                <a:srgbClr val="FFFFFF"/>
              </a:solidFill>
              <a:latin typeface="Pattanakarn"/>
              <a:ea typeface="Pattanakarn"/>
              <a:cs typeface="Pattanakarn"/>
              <a:sym typeface="Pattanakarn"/>
            </a:endParaRPr>
          </a:p>
        </p:txBody>
      </p:sp>
      <p:grpSp>
        <p:nvGrpSpPr>
          <p:cNvPr id="24" name="Group 24"/>
          <p:cNvGrpSpPr/>
          <p:nvPr/>
        </p:nvGrpSpPr>
        <p:grpSpPr>
          <a:xfrm>
            <a:off x="4666416" y="3750201"/>
            <a:ext cx="677751" cy="677751"/>
            <a:chOff x="0" y="0"/>
            <a:chExt cx="812800" cy="812800"/>
          </a:xfrm>
        </p:grpSpPr>
        <p:sp>
          <p:nvSpPr>
            <p:cNvPr id="25" name="Freeform 2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26" name="TextBox 26"/>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sp>
        <p:nvSpPr>
          <p:cNvPr id="27" name="TextBox 27"/>
          <p:cNvSpPr txBox="1"/>
          <p:nvPr/>
        </p:nvSpPr>
        <p:spPr>
          <a:xfrm>
            <a:off x="5178403" y="2298386"/>
            <a:ext cx="7932407" cy="677108"/>
          </a:xfrm>
          <a:prstGeom prst="rect">
            <a:avLst/>
          </a:prstGeom>
        </p:spPr>
        <p:txBody>
          <a:bodyPr wrap="square" lIns="0" tIns="0" rIns="0" bIns="0" rtlCol="0" anchor="t">
            <a:spAutoFit/>
          </a:bodyPr>
          <a:lstStyle/>
          <a:p>
            <a:pPr marL="0" lvl="0" indent="0" algn="l">
              <a:spcBef>
                <a:spcPct val="0"/>
              </a:spcBef>
            </a:pPr>
            <a:r>
              <a:rPr lang="en-US" sz="2200" err="1">
                <a:solidFill>
                  <a:srgbClr val="FFFFFF"/>
                </a:solidFill>
                <a:latin typeface="Open Sans"/>
                <a:ea typeface="Open Sans"/>
                <a:cs typeface="Open Sans"/>
                <a:sym typeface="Open Sans"/>
              </a:rPr>
              <a:t>Pentru</a:t>
            </a:r>
            <a:r>
              <a:rPr lang="en-US" sz="2200">
                <a:solidFill>
                  <a:srgbClr val="FFFFFF"/>
                </a:solidFill>
                <a:latin typeface="Open Sans"/>
                <a:ea typeface="Open Sans"/>
                <a:cs typeface="Open Sans"/>
                <a:sym typeface="Open Sans"/>
              </a:rPr>
              <a:t> </a:t>
            </a:r>
            <a:r>
              <a:rPr lang="en-US" sz="2200" err="1">
                <a:solidFill>
                  <a:srgbClr val="FFFFFF"/>
                </a:solidFill>
                <a:latin typeface="Open Sans"/>
                <a:ea typeface="Open Sans"/>
                <a:cs typeface="Open Sans"/>
                <a:sym typeface="Open Sans"/>
              </a:rPr>
              <a:t>primul</a:t>
            </a:r>
            <a:r>
              <a:rPr lang="en-US" sz="2200">
                <a:solidFill>
                  <a:srgbClr val="FFFFFF"/>
                </a:solidFill>
                <a:latin typeface="Open Sans"/>
                <a:ea typeface="Open Sans"/>
                <a:cs typeface="Open Sans"/>
                <a:sym typeface="Open Sans"/>
              </a:rPr>
              <a:t> agent, </a:t>
            </a:r>
            <a:r>
              <a:rPr lang="en-US" sz="2200" err="1">
                <a:solidFill>
                  <a:srgbClr val="FFFFFF"/>
                </a:solidFill>
                <a:latin typeface="Open Sans"/>
                <a:ea typeface="Open Sans"/>
                <a:cs typeface="Open Sans"/>
                <a:sym typeface="Open Sans"/>
              </a:rPr>
              <a:t>inspirat</a:t>
            </a:r>
            <a:r>
              <a:rPr lang="en-US" sz="2200">
                <a:solidFill>
                  <a:srgbClr val="FFFFFF"/>
                </a:solidFill>
                <a:latin typeface="Open Sans"/>
                <a:ea typeface="Open Sans"/>
                <a:cs typeface="Open Sans"/>
                <a:sym typeface="Open Sans"/>
              </a:rPr>
              <a:t> din </a:t>
            </a:r>
            <a:r>
              <a:rPr lang="en-US" sz="2200" err="1">
                <a:solidFill>
                  <a:srgbClr val="FFFFFF"/>
                </a:solidFill>
                <a:latin typeface="Open Sans"/>
                <a:ea typeface="Open Sans"/>
                <a:cs typeface="Open Sans"/>
                <a:sym typeface="Open Sans"/>
              </a:rPr>
              <a:t>viermele</a:t>
            </a:r>
            <a:r>
              <a:rPr lang="en-US" sz="2200">
                <a:solidFill>
                  <a:srgbClr val="FFFFFF"/>
                </a:solidFill>
                <a:latin typeface="Open Sans"/>
                <a:ea typeface="Open Sans"/>
                <a:cs typeface="Open Sans"/>
                <a:sym typeface="Open Sans"/>
              </a:rPr>
              <a:t> C Elegans, am </a:t>
            </a:r>
            <a:r>
              <a:rPr lang="en-US" sz="2200" err="1">
                <a:solidFill>
                  <a:srgbClr val="FFFFFF"/>
                </a:solidFill>
                <a:latin typeface="Open Sans"/>
                <a:ea typeface="Open Sans"/>
                <a:cs typeface="Open Sans"/>
                <a:sym typeface="Open Sans"/>
              </a:rPr>
              <a:t>construit</a:t>
            </a:r>
            <a:r>
              <a:rPr lang="en-US" sz="2200">
                <a:solidFill>
                  <a:srgbClr val="FFFFFF"/>
                </a:solidFill>
                <a:latin typeface="Open Sans"/>
                <a:ea typeface="Open Sans"/>
                <a:cs typeface="Open Sans"/>
                <a:sym typeface="Open Sans"/>
              </a:rPr>
              <a:t> o </a:t>
            </a:r>
            <a:r>
              <a:rPr lang="en-US" sz="2200" err="1">
                <a:solidFill>
                  <a:srgbClr val="FFFFFF"/>
                </a:solidFill>
                <a:latin typeface="Open Sans"/>
                <a:ea typeface="Open Sans"/>
                <a:cs typeface="Open Sans"/>
                <a:sym typeface="Open Sans"/>
              </a:rPr>
              <a:t>arhitectura</a:t>
            </a:r>
            <a:r>
              <a:rPr lang="en-US" sz="2200">
                <a:solidFill>
                  <a:srgbClr val="FFFFFF"/>
                </a:solidFill>
                <a:latin typeface="Open Sans"/>
                <a:ea typeface="Open Sans"/>
                <a:cs typeface="Open Sans"/>
                <a:sym typeface="Open Sans"/>
              </a:rPr>
              <a:t> care </a:t>
            </a:r>
            <a:r>
              <a:rPr lang="en-US" sz="2200" err="1">
                <a:solidFill>
                  <a:srgbClr val="FFFFFF"/>
                </a:solidFill>
                <a:latin typeface="Open Sans"/>
                <a:ea typeface="Open Sans"/>
                <a:cs typeface="Open Sans"/>
                <a:sym typeface="Open Sans"/>
              </a:rPr>
              <a:t>contine</a:t>
            </a:r>
            <a:r>
              <a:rPr lang="en-US" sz="2200">
                <a:solidFill>
                  <a:srgbClr val="FFFFFF"/>
                </a:solidFill>
                <a:latin typeface="Open Sans"/>
                <a:ea typeface="Open Sans"/>
                <a:cs typeface="Open Sans"/>
                <a:sym typeface="Open Sans"/>
              </a:rPr>
              <a:t> </a:t>
            </a:r>
            <a:r>
              <a:rPr lang="en-US" sz="2200" err="1">
                <a:solidFill>
                  <a:srgbClr val="FFFFFF"/>
                </a:solidFill>
                <a:latin typeface="Open Sans"/>
                <a:ea typeface="Open Sans"/>
                <a:cs typeface="Open Sans"/>
                <a:sym typeface="Open Sans"/>
              </a:rPr>
              <a:t>componentele</a:t>
            </a:r>
            <a:r>
              <a:rPr lang="en-US" sz="2200">
                <a:solidFill>
                  <a:srgbClr val="FFFFFF"/>
                </a:solidFill>
                <a:latin typeface="Open Sans"/>
                <a:ea typeface="Open Sans"/>
                <a:cs typeface="Open Sans"/>
                <a:sym typeface="Open Sans"/>
              </a:rPr>
              <a:t>:</a:t>
            </a:r>
          </a:p>
        </p:txBody>
      </p:sp>
      <p:sp>
        <p:nvSpPr>
          <p:cNvPr id="28" name="TextBox 28"/>
          <p:cNvSpPr txBox="1"/>
          <p:nvPr/>
        </p:nvSpPr>
        <p:spPr>
          <a:xfrm>
            <a:off x="4828399" y="3981684"/>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01</a:t>
            </a:r>
          </a:p>
        </p:txBody>
      </p:sp>
      <p:grpSp>
        <p:nvGrpSpPr>
          <p:cNvPr id="29" name="Group 29"/>
          <p:cNvGrpSpPr/>
          <p:nvPr/>
        </p:nvGrpSpPr>
        <p:grpSpPr>
          <a:xfrm>
            <a:off x="5068480" y="4896405"/>
            <a:ext cx="677751" cy="677751"/>
            <a:chOff x="0" y="0"/>
            <a:chExt cx="812800" cy="812800"/>
          </a:xfrm>
        </p:grpSpPr>
        <p:sp>
          <p:nvSpPr>
            <p:cNvPr id="30" name="Freeform 3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31" name="TextBox 31"/>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sp>
        <p:nvSpPr>
          <p:cNvPr id="33" name="TextBox 33"/>
          <p:cNvSpPr txBox="1"/>
          <p:nvPr/>
        </p:nvSpPr>
        <p:spPr>
          <a:xfrm>
            <a:off x="5171935" y="5113261"/>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02</a:t>
            </a:r>
          </a:p>
        </p:txBody>
      </p:sp>
      <p:sp>
        <p:nvSpPr>
          <p:cNvPr id="34" name="TextBox 33">
            <a:extLst>
              <a:ext uri="{FF2B5EF4-FFF2-40B4-BE49-F238E27FC236}">
                <a16:creationId xmlns:a16="http://schemas.microsoft.com/office/drawing/2014/main" id="{D80A9D24-3249-660B-5506-E7D64D84F725}"/>
              </a:ext>
            </a:extLst>
          </p:cNvPr>
          <p:cNvSpPr txBox="1"/>
          <p:nvPr/>
        </p:nvSpPr>
        <p:spPr>
          <a:xfrm>
            <a:off x="575891" y="1989297"/>
            <a:ext cx="4090525" cy="707886"/>
          </a:xfrm>
          <a:prstGeom prst="rect">
            <a:avLst/>
          </a:prstGeom>
          <a:noFill/>
        </p:spPr>
        <p:txBody>
          <a:bodyPr wrap="square" rtlCol="0">
            <a:spAutoFit/>
          </a:bodyPr>
          <a:lstStyle/>
          <a:p>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Engine </a:t>
            </a:r>
            <a:r>
              <a:rPr lang="en-US" sz="2000" b="1" err="1">
                <a:solidFill>
                  <a:schemeClr val="bg1"/>
                </a:solidFill>
                <a:latin typeface="Open Sans" panose="020B0606030504020204" pitchFamily="34" charset="0"/>
                <a:ea typeface="Open Sans" panose="020B0606030504020204" pitchFamily="34" charset="0"/>
                <a:cs typeface="Open Sans" panose="020B0606030504020204" pitchFamily="34" charset="0"/>
              </a:rPr>
              <a:t>utilizat</a:t>
            </a:r>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 : Unity</a:t>
            </a:r>
          </a:p>
          <a:p>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   Limbaj : C#</a:t>
            </a:r>
          </a:p>
        </p:txBody>
      </p:sp>
      <p:sp>
        <p:nvSpPr>
          <p:cNvPr id="35" name="TextBox 34">
            <a:extLst>
              <a:ext uri="{FF2B5EF4-FFF2-40B4-BE49-F238E27FC236}">
                <a16:creationId xmlns:a16="http://schemas.microsoft.com/office/drawing/2014/main" id="{0DD61690-60BC-2185-CE5A-ABAB2E81324D}"/>
              </a:ext>
            </a:extLst>
          </p:cNvPr>
          <p:cNvSpPr txBox="1"/>
          <p:nvPr/>
        </p:nvSpPr>
        <p:spPr>
          <a:xfrm>
            <a:off x="13204156" y="2095617"/>
            <a:ext cx="3581400" cy="707886"/>
          </a:xfrm>
          <a:prstGeom prst="rect">
            <a:avLst/>
          </a:prstGeom>
          <a:noFill/>
        </p:spPr>
        <p:txBody>
          <a:bodyPr wrap="square" rtlCol="0">
            <a:spAutoFit/>
          </a:bodyPr>
          <a:lstStyle/>
          <a:p>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Agent : </a:t>
            </a:r>
            <a:r>
              <a:rPr lang="en-US" sz="2000" b="1" err="1">
                <a:solidFill>
                  <a:schemeClr val="bg1"/>
                </a:solidFill>
                <a:latin typeface="Open Sans" panose="020B0606030504020204" pitchFamily="34" charset="0"/>
                <a:ea typeface="Open Sans" panose="020B0606030504020204" pitchFamily="34" charset="0"/>
                <a:cs typeface="Open Sans" panose="020B0606030504020204" pitchFamily="34" charset="0"/>
              </a:rPr>
              <a:t>Vierme</a:t>
            </a:r>
            <a:endPar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a:p>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b="1" err="1">
                <a:solidFill>
                  <a:schemeClr val="bg1"/>
                </a:solidFill>
                <a:latin typeface="Open Sans" panose="020B0606030504020204" pitchFamily="34" charset="0"/>
                <a:ea typeface="Open Sans" panose="020B0606030504020204" pitchFamily="34" charset="0"/>
                <a:cs typeface="Open Sans" panose="020B0606030504020204" pitchFamily="34" charset="0"/>
              </a:rPr>
              <a:t>inspirat</a:t>
            </a:r>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 din C. Elegans )</a:t>
            </a:r>
          </a:p>
        </p:txBody>
      </p:sp>
      <p:grpSp>
        <p:nvGrpSpPr>
          <p:cNvPr id="36" name="Group 29">
            <a:extLst>
              <a:ext uri="{FF2B5EF4-FFF2-40B4-BE49-F238E27FC236}">
                <a16:creationId xmlns:a16="http://schemas.microsoft.com/office/drawing/2014/main" id="{24F8EF59-46D5-E5A0-A20C-F3820391A509}"/>
              </a:ext>
            </a:extLst>
          </p:cNvPr>
          <p:cNvGrpSpPr/>
          <p:nvPr/>
        </p:nvGrpSpPr>
        <p:grpSpPr>
          <a:xfrm>
            <a:off x="5396925" y="6042609"/>
            <a:ext cx="677751" cy="677751"/>
            <a:chOff x="0" y="0"/>
            <a:chExt cx="812800" cy="812800"/>
          </a:xfrm>
        </p:grpSpPr>
        <p:sp>
          <p:nvSpPr>
            <p:cNvPr id="37" name="Freeform 30">
              <a:extLst>
                <a:ext uri="{FF2B5EF4-FFF2-40B4-BE49-F238E27FC236}">
                  <a16:creationId xmlns:a16="http://schemas.microsoft.com/office/drawing/2014/main" id="{630FBF84-2D8D-6383-A330-1BD6B68DEA91}"/>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38" name="TextBox 31">
              <a:extLst>
                <a:ext uri="{FF2B5EF4-FFF2-40B4-BE49-F238E27FC236}">
                  <a16:creationId xmlns:a16="http://schemas.microsoft.com/office/drawing/2014/main" id="{05DB0203-429D-FD75-0D1C-D82474D53AAD}"/>
                </a:ext>
              </a:extLst>
            </p:cNvPr>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39" name="Group 29">
            <a:extLst>
              <a:ext uri="{FF2B5EF4-FFF2-40B4-BE49-F238E27FC236}">
                <a16:creationId xmlns:a16="http://schemas.microsoft.com/office/drawing/2014/main" id="{0944C944-1EFF-80AA-22A4-D84B73679CDB}"/>
              </a:ext>
            </a:extLst>
          </p:cNvPr>
          <p:cNvGrpSpPr/>
          <p:nvPr/>
        </p:nvGrpSpPr>
        <p:grpSpPr>
          <a:xfrm>
            <a:off x="5811283" y="7171339"/>
            <a:ext cx="677751" cy="677751"/>
            <a:chOff x="0" y="0"/>
            <a:chExt cx="812800" cy="812800"/>
          </a:xfrm>
        </p:grpSpPr>
        <p:sp>
          <p:nvSpPr>
            <p:cNvPr id="40" name="Freeform 30">
              <a:extLst>
                <a:ext uri="{FF2B5EF4-FFF2-40B4-BE49-F238E27FC236}">
                  <a16:creationId xmlns:a16="http://schemas.microsoft.com/office/drawing/2014/main" id="{0873EF38-5DD0-8509-5EB1-6DD73514EF04}"/>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41" name="TextBox 31">
              <a:extLst>
                <a:ext uri="{FF2B5EF4-FFF2-40B4-BE49-F238E27FC236}">
                  <a16:creationId xmlns:a16="http://schemas.microsoft.com/office/drawing/2014/main" id="{60FCF4FA-EC91-7C72-D3AF-7577DA47A36B}"/>
                </a:ext>
              </a:extLst>
            </p:cNvPr>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42" name="Group 29">
            <a:extLst>
              <a:ext uri="{FF2B5EF4-FFF2-40B4-BE49-F238E27FC236}">
                <a16:creationId xmlns:a16="http://schemas.microsoft.com/office/drawing/2014/main" id="{A5247726-841F-A7F2-9E52-3A8D61AE5DA4}"/>
              </a:ext>
            </a:extLst>
          </p:cNvPr>
          <p:cNvGrpSpPr/>
          <p:nvPr/>
        </p:nvGrpSpPr>
        <p:grpSpPr>
          <a:xfrm>
            <a:off x="6177481" y="8280045"/>
            <a:ext cx="677751" cy="677751"/>
            <a:chOff x="0" y="0"/>
            <a:chExt cx="812800" cy="812800"/>
          </a:xfrm>
        </p:grpSpPr>
        <p:sp>
          <p:nvSpPr>
            <p:cNvPr id="43" name="Freeform 30">
              <a:extLst>
                <a:ext uri="{FF2B5EF4-FFF2-40B4-BE49-F238E27FC236}">
                  <a16:creationId xmlns:a16="http://schemas.microsoft.com/office/drawing/2014/main" id="{F09F68D1-DF99-020E-152F-E898941014E2}"/>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44" name="TextBox 31">
              <a:extLst>
                <a:ext uri="{FF2B5EF4-FFF2-40B4-BE49-F238E27FC236}">
                  <a16:creationId xmlns:a16="http://schemas.microsoft.com/office/drawing/2014/main" id="{78DC75BC-7ECA-2B05-863A-09F1E781B822}"/>
                </a:ext>
              </a:extLst>
            </p:cNvPr>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sp>
        <p:nvSpPr>
          <p:cNvPr id="45" name="TextBox 44">
            <a:extLst>
              <a:ext uri="{FF2B5EF4-FFF2-40B4-BE49-F238E27FC236}">
                <a16:creationId xmlns:a16="http://schemas.microsoft.com/office/drawing/2014/main" id="{AB25D1A2-E67D-A70D-CFAA-46A997CDBC8E}"/>
              </a:ext>
            </a:extLst>
          </p:cNvPr>
          <p:cNvSpPr txBox="1"/>
          <p:nvPr/>
        </p:nvSpPr>
        <p:spPr>
          <a:xfrm>
            <a:off x="5659464" y="3872109"/>
            <a:ext cx="6652593" cy="738664"/>
          </a:xfrm>
          <a:prstGeom prst="rect">
            <a:avLst/>
          </a:prstGeom>
          <a:noFill/>
        </p:spPr>
        <p:txBody>
          <a:bodyPr wrap="square" rtlCol="0">
            <a:spAutoFit/>
          </a:bodyPr>
          <a:lstStyle/>
          <a:p>
            <a:r>
              <a:rPr lang="en-US" sz="2200" b="1" err="1">
                <a:solidFill>
                  <a:schemeClr val="bg1"/>
                </a:solidFill>
                <a:latin typeface="Open Sans" panose="020B0606030504020204" pitchFamily="34" charset="0"/>
                <a:ea typeface="Open Sans" panose="020B0606030504020204" pitchFamily="34" charset="0"/>
                <a:cs typeface="Open Sans" panose="020B0606030504020204" pitchFamily="34" charset="0"/>
              </a:rPr>
              <a:t>WormPerception</a:t>
            </a: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b="1">
                <a:solidFill>
                  <a:schemeClr val="bg1"/>
                </a:solidFill>
              </a:rPr>
              <a:t>       </a:t>
            </a:r>
            <a:r>
              <a:rPr lang="en-US" sz="2000">
                <a:solidFill>
                  <a:schemeClr val="bg1"/>
                </a:solidFill>
              </a:rPr>
              <a:t>- </a:t>
            </a:r>
            <a:r>
              <a:rPr lang="en-US" sz="2000" err="1">
                <a:solidFill>
                  <a:schemeClr val="bg1"/>
                </a:solidFill>
              </a:rPr>
              <a:t>detectarea</a:t>
            </a:r>
            <a:r>
              <a:rPr lang="en-US" sz="2000">
                <a:solidFill>
                  <a:schemeClr val="bg1"/>
                </a:solidFill>
              </a:rPr>
              <a:t> </a:t>
            </a:r>
            <a:r>
              <a:rPr lang="en-US" sz="2000" err="1">
                <a:solidFill>
                  <a:schemeClr val="bg1"/>
                </a:solidFill>
              </a:rPr>
              <a:t>stimulilor</a:t>
            </a:r>
            <a:r>
              <a:rPr lang="en-US" sz="2000">
                <a:solidFill>
                  <a:schemeClr val="bg1"/>
                </a:solidFill>
              </a:rPr>
              <a:t> de </a:t>
            </a:r>
            <a:r>
              <a:rPr lang="en-US" sz="2000" err="1">
                <a:solidFill>
                  <a:schemeClr val="bg1"/>
                </a:solidFill>
              </a:rPr>
              <a:t>hrana</a:t>
            </a:r>
            <a:r>
              <a:rPr lang="en-US" sz="2000">
                <a:solidFill>
                  <a:schemeClr val="bg1"/>
                </a:solidFill>
              </a:rPr>
              <a:t>                    </a:t>
            </a:r>
          </a:p>
          <a:p>
            <a:r>
              <a:rPr lang="en-US" sz="2000">
                <a:solidFill>
                  <a:schemeClr val="bg1"/>
                </a:solidFill>
              </a:rPr>
              <a:t>                                                    din </a:t>
            </a:r>
            <a:r>
              <a:rPr lang="en-US" sz="2000" err="1">
                <a:solidFill>
                  <a:schemeClr val="bg1"/>
                </a:solidFill>
              </a:rPr>
              <a:t>mediu</a:t>
            </a:r>
            <a:endParaRPr lang="en-US" sz="2000"/>
          </a:p>
        </p:txBody>
      </p:sp>
      <p:sp>
        <p:nvSpPr>
          <p:cNvPr id="46" name="TextBox 45">
            <a:extLst>
              <a:ext uri="{FF2B5EF4-FFF2-40B4-BE49-F238E27FC236}">
                <a16:creationId xmlns:a16="http://schemas.microsoft.com/office/drawing/2014/main" id="{D6178953-B3E6-8C78-C066-31C68071D693}"/>
              </a:ext>
            </a:extLst>
          </p:cNvPr>
          <p:cNvSpPr txBox="1"/>
          <p:nvPr/>
        </p:nvSpPr>
        <p:spPr>
          <a:xfrm>
            <a:off x="6063318" y="4932154"/>
            <a:ext cx="8192355" cy="1046440"/>
          </a:xfrm>
          <a:prstGeom prst="rect">
            <a:avLst/>
          </a:prstGeom>
          <a:noFill/>
        </p:spPr>
        <p:txBody>
          <a:bodyPr wrap="square" rtlCol="0">
            <a:spAutoFit/>
          </a:bodyPr>
          <a:lstStyle/>
          <a:p>
            <a:r>
              <a:rPr lang="en-US" sz="2200" b="1" err="1">
                <a:solidFill>
                  <a:schemeClr val="bg1"/>
                </a:solidFill>
                <a:latin typeface="Open Sans" panose="020B0606030504020204" pitchFamily="34" charset="0"/>
                <a:ea typeface="Open Sans" panose="020B0606030504020204" pitchFamily="34" charset="0"/>
                <a:cs typeface="Open Sans" panose="020B0606030504020204" pitchFamily="34" charset="0"/>
              </a:rPr>
              <a:t>WormBrain</a:t>
            </a: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contine</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reteaua</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neuronala</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pentru</a:t>
            </a:r>
            <a:endParaRPr lang="en-US" sz="2000">
              <a:solidFill>
                <a:schemeClr val="bg1"/>
              </a:solidFill>
              <a:ea typeface="Open Sans" panose="020B0606030504020204" pitchFamily="34" charset="0"/>
              <a:cs typeface="Open Sans" panose="020B0606030504020204" pitchFamily="34" charset="0"/>
            </a:endParaRPr>
          </a:p>
          <a:p>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procesarea</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informatiilor</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si</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generarea</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deciziilor</a:t>
            </a:r>
            <a:endParaRPr lang="en-US" sz="2000">
              <a:solidFill>
                <a:schemeClr val="bg1"/>
              </a:solidFill>
              <a:ea typeface="Open Sans" panose="020B0606030504020204" pitchFamily="34" charset="0"/>
              <a:cs typeface="Open Sans" panose="020B0606030504020204" pitchFamily="34" charset="0"/>
            </a:endParaRPr>
          </a:p>
          <a:p>
            <a:r>
              <a:rPr lang="en-US" sz="2000">
                <a:solidFill>
                  <a:schemeClr val="bg1"/>
                </a:solidFill>
                <a:ea typeface="Open Sans" panose="020B0606030504020204" pitchFamily="34" charset="0"/>
                <a:cs typeface="Open Sans" panose="020B0606030504020204" pitchFamily="34" charset="0"/>
              </a:rPr>
              <a:t>                                     </a:t>
            </a:r>
          </a:p>
        </p:txBody>
      </p:sp>
      <p:sp>
        <p:nvSpPr>
          <p:cNvPr id="47" name="TextBox 33">
            <a:extLst>
              <a:ext uri="{FF2B5EF4-FFF2-40B4-BE49-F238E27FC236}">
                <a16:creationId xmlns:a16="http://schemas.microsoft.com/office/drawing/2014/main" id="{36AB31D5-50CB-4524-B551-1CFB53F37409}"/>
              </a:ext>
            </a:extLst>
          </p:cNvPr>
          <p:cNvSpPr txBox="1"/>
          <p:nvPr/>
        </p:nvSpPr>
        <p:spPr>
          <a:xfrm>
            <a:off x="5473344" y="6239054"/>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03</a:t>
            </a:r>
          </a:p>
        </p:txBody>
      </p:sp>
      <p:sp>
        <p:nvSpPr>
          <p:cNvPr id="48" name="TextBox 33">
            <a:extLst>
              <a:ext uri="{FF2B5EF4-FFF2-40B4-BE49-F238E27FC236}">
                <a16:creationId xmlns:a16="http://schemas.microsoft.com/office/drawing/2014/main" id="{8B8FC210-C8AE-EE6A-8799-760E1395254A}"/>
              </a:ext>
            </a:extLst>
          </p:cNvPr>
          <p:cNvSpPr txBox="1"/>
          <p:nvPr/>
        </p:nvSpPr>
        <p:spPr>
          <a:xfrm>
            <a:off x="5928618" y="7361608"/>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04</a:t>
            </a:r>
          </a:p>
        </p:txBody>
      </p:sp>
      <p:sp>
        <p:nvSpPr>
          <p:cNvPr id="49" name="TextBox 33">
            <a:extLst>
              <a:ext uri="{FF2B5EF4-FFF2-40B4-BE49-F238E27FC236}">
                <a16:creationId xmlns:a16="http://schemas.microsoft.com/office/drawing/2014/main" id="{53CA8DC7-9777-D6AB-A12B-8530D99AC129}"/>
              </a:ext>
            </a:extLst>
          </p:cNvPr>
          <p:cNvSpPr txBox="1"/>
          <p:nvPr/>
        </p:nvSpPr>
        <p:spPr>
          <a:xfrm>
            <a:off x="6286636" y="8450458"/>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05</a:t>
            </a:r>
          </a:p>
        </p:txBody>
      </p:sp>
      <p:sp>
        <p:nvSpPr>
          <p:cNvPr id="50" name="TextBox 49">
            <a:extLst>
              <a:ext uri="{FF2B5EF4-FFF2-40B4-BE49-F238E27FC236}">
                <a16:creationId xmlns:a16="http://schemas.microsoft.com/office/drawing/2014/main" id="{1D14D90F-78A6-CC22-C7B7-2C9F467BF715}"/>
              </a:ext>
            </a:extLst>
          </p:cNvPr>
          <p:cNvSpPr txBox="1"/>
          <p:nvPr/>
        </p:nvSpPr>
        <p:spPr>
          <a:xfrm>
            <a:off x="6396885" y="6089021"/>
            <a:ext cx="5309892" cy="430887"/>
          </a:xfrm>
          <a:prstGeom prst="rect">
            <a:avLst/>
          </a:prstGeom>
          <a:noFill/>
        </p:spPr>
        <p:txBody>
          <a:bodyPr wrap="square" rtlCol="0">
            <a:spAutoFit/>
          </a:bodyPr>
          <a:lstStyle/>
          <a:p>
            <a:r>
              <a:rPr lang="en-US" sz="2200" b="1" err="1">
                <a:solidFill>
                  <a:schemeClr val="bg1"/>
                </a:solidFill>
                <a:latin typeface="Open Sans" panose="020B0606030504020204" pitchFamily="34" charset="0"/>
                <a:ea typeface="Open Sans" panose="020B0606030504020204" pitchFamily="34" charset="0"/>
                <a:cs typeface="Open Sans" panose="020B0606030504020204" pitchFamily="34" charset="0"/>
              </a:rPr>
              <a:t>WormLocomotion</a:t>
            </a: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controlul</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miscarii</a:t>
            </a:r>
            <a:r>
              <a:rPr lang="en-US" sz="2000">
                <a:solidFill>
                  <a:schemeClr val="bg1"/>
                </a:solidFill>
                <a:ea typeface="Open Sans" panose="020B0606030504020204" pitchFamily="34" charset="0"/>
                <a:cs typeface="Open Sans" panose="020B0606030504020204" pitchFamily="34" charset="0"/>
              </a:rPr>
              <a:t> </a:t>
            </a:r>
            <a:endParaRPr lang="en-US" sz="2000">
              <a:solidFill>
                <a:schemeClr val="bg1"/>
              </a:solidFill>
            </a:endParaRPr>
          </a:p>
        </p:txBody>
      </p:sp>
      <p:sp>
        <p:nvSpPr>
          <p:cNvPr id="51" name="TextBox 50">
            <a:extLst>
              <a:ext uri="{FF2B5EF4-FFF2-40B4-BE49-F238E27FC236}">
                <a16:creationId xmlns:a16="http://schemas.microsoft.com/office/drawing/2014/main" id="{6715ACAC-9277-5325-35C1-7641C07EBF5F}"/>
              </a:ext>
            </a:extLst>
          </p:cNvPr>
          <p:cNvSpPr txBox="1"/>
          <p:nvPr/>
        </p:nvSpPr>
        <p:spPr>
          <a:xfrm>
            <a:off x="6822624" y="7211907"/>
            <a:ext cx="5339398" cy="430887"/>
          </a:xfrm>
          <a:prstGeom prst="rect">
            <a:avLst/>
          </a:prstGeom>
          <a:noFill/>
        </p:spPr>
        <p:txBody>
          <a:bodyPr wrap="square" rtlCol="0">
            <a:spAutoFit/>
          </a:bodyPr>
          <a:lstStyle/>
          <a:p>
            <a:r>
              <a:rPr lang="en-US" sz="2200" b="1" err="1">
                <a:solidFill>
                  <a:schemeClr val="bg1"/>
                </a:solidFill>
                <a:latin typeface="Open Sans" panose="020B0606030504020204" pitchFamily="34" charset="0"/>
                <a:ea typeface="Open Sans" panose="020B0606030504020204" pitchFamily="34" charset="0"/>
                <a:cs typeface="Open Sans" panose="020B0606030504020204" pitchFamily="34" charset="0"/>
              </a:rPr>
              <a:t>WormState</a:t>
            </a: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gestionarea</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starii</a:t>
            </a:r>
            <a:r>
              <a:rPr lang="en-US" sz="2000">
                <a:solidFill>
                  <a:schemeClr val="bg1"/>
                </a:solidFill>
                <a:ea typeface="Open Sans" panose="020B0606030504020204" pitchFamily="34" charset="0"/>
                <a:cs typeface="Open Sans" panose="020B0606030504020204" pitchFamily="34" charset="0"/>
              </a:rPr>
              <a:t> interne </a:t>
            </a:r>
            <a:endParaRPr lang="en-US" sz="2000">
              <a:solidFill>
                <a:schemeClr val="bg1"/>
              </a:solidFill>
            </a:endParaRPr>
          </a:p>
        </p:txBody>
      </p:sp>
      <p:sp>
        <p:nvSpPr>
          <p:cNvPr id="52" name="TextBox 51">
            <a:extLst>
              <a:ext uri="{FF2B5EF4-FFF2-40B4-BE49-F238E27FC236}">
                <a16:creationId xmlns:a16="http://schemas.microsoft.com/office/drawing/2014/main" id="{B250220D-55D4-7148-0405-12D3A49F7A9D}"/>
              </a:ext>
            </a:extLst>
          </p:cNvPr>
          <p:cNvSpPr txBox="1"/>
          <p:nvPr/>
        </p:nvSpPr>
        <p:spPr>
          <a:xfrm>
            <a:off x="7206370" y="8334793"/>
            <a:ext cx="5790223" cy="430887"/>
          </a:xfrm>
          <a:prstGeom prst="rect">
            <a:avLst/>
          </a:prstGeom>
          <a:noFill/>
        </p:spPr>
        <p:txBody>
          <a:bodyPr wrap="square" rtlCol="0">
            <a:spAutoFit/>
          </a:bodyPr>
          <a:lstStyle/>
          <a:p>
            <a:r>
              <a:rPr lang="en-US" sz="2200" b="1" err="1">
                <a:solidFill>
                  <a:schemeClr val="bg1"/>
                </a:solidFill>
                <a:latin typeface="Open Sans" panose="020B0606030504020204" pitchFamily="34" charset="0"/>
                <a:ea typeface="Open Sans" panose="020B0606030504020204" pitchFamily="34" charset="0"/>
                <a:cs typeface="Open Sans" panose="020B0606030504020204" pitchFamily="34" charset="0"/>
              </a:rPr>
              <a:t>WormSensor</a:t>
            </a: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detectarea</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obstacolelor</a:t>
            </a:r>
            <a:r>
              <a:rPr lang="en-US" sz="2000">
                <a:solidFill>
                  <a:schemeClr val="bg1"/>
                </a:solidFill>
                <a:ea typeface="Open Sans" panose="020B0606030504020204" pitchFamily="34" charset="0"/>
                <a:cs typeface="Open Sans" panose="020B0606030504020204" pitchFamily="34" charset="0"/>
              </a:rPr>
              <a:t> </a:t>
            </a:r>
            <a:r>
              <a:rPr lang="en-US" sz="2000" err="1">
                <a:solidFill>
                  <a:schemeClr val="bg1"/>
                </a:solidFill>
                <a:ea typeface="Open Sans" panose="020B0606030504020204" pitchFamily="34" charset="0"/>
                <a:cs typeface="Open Sans" panose="020B0606030504020204" pitchFamily="34" charset="0"/>
              </a:rPr>
              <a:t>fizice</a:t>
            </a:r>
            <a:endParaRPr lang="en-US" sz="200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200" b="1">
                <a:solidFill>
                  <a:srgbClr val="FFFFFF"/>
                </a:solidFill>
                <a:latin typeface="Open Sans Bold"/>
                <a:ea typeface="Open Sans Bold"/>
                <a:cs typeface="Open Sans Bold"/>
                <a:sym typeface="Open Sans Bold"/>
              </a:rPr>
              <a:t>     </a:t>
            </a:r>
            <a:r>
              <a:rPr lang="en-US" sz="1600" b="1">
                <a:solidFill>
                  <a:srgbClr val="FFFFFF"/>
                </a:solidFill>
                <a:latin typeface="Open Sans Bold"/>
                <a:ea typeface="Open Sans Bold"/>
                <a:cs typeface="Open Sans Bold"/>
                <a:sym typeface="Open Sans Bold"/>
              </a:rPr>
              <a:t>6/16</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3007949" y="7900499"/>
            <a:ext cx="2735520" cy="339773"/>
          </a:xfrm>
          <a:prstGeom prst="rect">
            <a:avLst/>
          </a:prstGeom>
        </p:spPr>
        <p:txBody>
          <a:bodyPr lIns="0" tIns="0" rIns="0" bIns="0" rtlCol="0" anchor="t">
            <a:spAutoFit/>
          </a:bodyPr>
          <a:lstStyle/>
          <a:p>
            <a:pPr marL="0" lvl="0" indent="0" algn="ctr">
              <a:lnSpc>
                <a:spcPts val="2518"/>
              </a:lnSpc>
              <a:spcBef>
                <a:spcPct val="0"/>
              </a:spcBef>
            </a:pPr>
            <a:r>
              <a:rPr lang="en-US" sz="3000" b="1" err="1">
                <a:solidFill>
                  <a:srgbClr val="007DFF"/>
                </a:solidFill>
                <a:latin typeface="Open Sans Bold"/>
                <a:ea typeface="Open Sans Bold"/>
                <a:cs typeface="Open Sans Bold"/>
                <a:sym typeface="Open Sans Bold"/>
              </a:rPr>
              <a:t>Perceptie</a:t>
            </a:r>
            <a:endParaRPr lang="en-US" sz="3000" b="1">
              <a:solidFill>
                <a:srgbClr val="007DFF"/>
              </a:solidFill>
              <a:latin typeface="Open Sans Bold"/>
              <a:ea typeface="Open Sans Bold"/>
              <a:cs typeface="Open Sans Bold"/>
              <a:sym typeface="Open Sans Bold"/>
            </a:endParaRPr>
          </a:p>
        </p:txBody>
      </p:sp>
      <p:sp>
        <p:nvSpPr>
          <p:cNvPr id="11" name="TextBox 11"/>
          <p:cNvSpPr txBox="1"/>
          <p:nvPr/>
        </p:nvSpPr>
        <p:spPr>
          <a:xfrm>
            <a:off x="2398561" y="8398482"/>
            <a:ext cx="3954296" cy="830997"/>
          </a:xfrm>
          <a:prstGeom prst="rect">
            <a:avLst/>
          </a:prstGeom>
        </p:spPr>
        <p:txBody>
          <a:bodyPr lIns="0" tIns="0" rIns="0" bIns="0" rtlCol="0" anchor="t">
            <a:spAutoFit/>
          </a:bodyPr>
          <a:lstStyle/>
          <a:p>
            <a:pPr marL="0" lvl="0" indent="0" algn="ctr">
              <a:spcBef>
                <a:spcPct val="0"/>
              </a:spcBef>
            </a:pPr>
            <a:r>
              <a:rPr lang="en-US" err="1">
                <a:solidFill>
                  <a:srgbClr val="FFFFFF"/>
                </a:solidFill>
                <a:latin typeface="Open Sans"/>
                <a:ea typeface="Open Sans"/>
                <a:cs typeface="Open Sans"/>
                <a:sym typeface="Open Sans"/>
              </a:rPr>
              <a:t>Detectarea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hranei</a:t>
            </a:r>
            <a:r>
              <a:rPr lang="en-US">
                <a:solidFill>
                  <a:srgbClr val="FFFFFF"/>
                </a:solidFill>
                <a:latin typeface="Open Sans"/>
                <a:ea typeface="Open Sans"/>
                <a:cs typeface="Open Sans"/>
                <a:sym typeface="Open Sans"/>
              </a:rPr>
              <a:t> </a:t>
            </a:r>
          </a:p>
          <a:p>
            <a:pPr marL="0" lvl="0" indent="0" algn="ctr">
              <a:spcBef>
                <a:spcPct val="0"/>
              </a:spcBef>
            </a:pPr>
            <a:r>
              <a:rPr lang="en-US" err="1">
                <a:solidFill>
                  <a:srgbClr val="FFFFFF"/>
                </a:solidFill>
                <a:latin typeface="Open Sans"/>
                <a:ea typeface="Open Sans"/>
                <a:cs typeface="Open Sans"/>
                <a:sym typeface="Open Sans"/>
              </a:rPr>
              <a:t>Detectarea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obstacolelor</a:t>
            </a:r>
            <a:endParaRPr lang="en-US">
              <a:solidFill>
                <a:srgbClr val="FFFFFF"/>
              </a:solidFill>
              <a:latin typeface="Open Sans"/>
              <a:ea typeface="Open Sans"/>
              <a:cs typeface="Open Sans"/>
              <a:sym typeface="Open Sans"/>
            </a:endParaRPr>
          </a:p>
          <a:p>
            <a:pPr marL="0" lvl="0" indent="0" algn="ctr">
              <a:spcBef>
                <a:spcPct val="0"/>
              </a:spcBef>
            </a:pPr>
            <a:r>
              <a:rPr lang="en-US" err="1">
                <a:solidFill>
                  <a:srgbClr val="FFFFFF"/>
                </a:solidFill>
                <a:latin typeface="Open Sans"/>
                <a:ea typeface="Open Sans"/>
                <a:cs typeface="Open Sans"/>
                <a:sym typeface="Open Sans"/>
              </a:rPr>
              <a:t>Detectarea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urmelor</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chimice</a:t>
            </a:r>
            <a:r>
              <a:rPr lang="en-US">
                <a:solidFill>
                  <a:srgbClr val="FFFFFF"/>
                </a:solidFill>
                <a:latin typeface="Open Sans"/>
                <a:ea typeface="Open Sans"/>
                <a:cs typeface="Open Sans"/>
                <a:sym typeface="Open Sans"/>
              </a:rPr>
              <a:t>.</a:t>
            </a:r>
          </a:p>
        </p:txBody>
      </p:sp>
      <p:sp>
        <p:nvSpPr>
          <p:cNvPr id="12" name="TextBox 12"/>
          <p:cNvSpPr txBox="1"/>
          <p:nvPr/>
        </p:nvSpPr>
        <p:spPr>
          <a:xfrm>
            <a:off x="7671165" y="7900499"/>
            <a:ext cx="2735520" cy="339773"/>
          </a:xfrm>
          <a:prstGeom prst="rect">
            <a:avLst/>
          </a:prstGeom>
        </p:spPr>
        <p:txBody>
          <a:bodyPr lIns="0" tIns="0" rIns="0" bIns="0" rtlCol="0" anchor="t">
            <a:spAutoFit/>
          </a:bodyPr>
          <a:lstStyle/>
          <a:p>
            <a:pPr marL="0" lvl="0" indent="0" algn="ctr">
              <a:lnSpc>
                <a:spcPts val="2518"/>
              </a:lnSpc>
              <a:spcBef>
                <a:spcPct val="0"/>
              </a:spcBef>
            </a:pPr>
            <a:r>
              <a:rPr lang="en-US" sz="3000" b="1">
                <a:solidFill>
                  <a:srgbClr val="007DFF"/>
                </a:solidFill>
                <a:latin typeface="Open Sans Bold"/>
                <a:ea typeface="Open Sans Bold"/>
                <a:cs typeface="Open Sans Bold"/>
                <a:sym typeface="Open Sans Bold"/>
              </a:rPr>
              <a:t>Stare interna</a:t>
            </a:r>
          </a:p>
        </p:txBody>
      </p:sp>
      <p:sp>
        <p:nvSpPr>
          <p:cNvPr id="13" name="TextBox 13"/>
          <p:cNvSpPr txBox="1"/>
          <p:nvPr/>
        </p:nvSpPr>
        <p:spPr>
          <a:xfrm>
            <a:off x="7166851" y="8381080"/>
            <a:ext cx="3954296" cy="553998"/>
          </a:xfrm>
          <a:prstGeom prst="rect">
            <a:avLst/>
          </a:prstGeom>
        </p:spPr>
        <p:txBody>
          <a:bodyPr lIns="0" tIns="0" rIns="0" bIns="0" rtlCol="0" anchor="t">
            <a:spAutoFit/>
          </a:bodyPr>
          <a:lstStyle/>
          <a:p>
            <a:pPr marL="0" lvl="0" indent="0" algn="ctr">
              <a:spcBef>
                <a:spcPct val="0"/>
              </a:spcBef>
            </a:pPr>
            <a:r>
              <a:rPr lang="en-US">
                <a:solidFill>
                  <a:srgbClr val="FFFFFF"/>
                </a:solidFill>
                <a:latin typeface="Open Sans"/>
                <a:ea typeface="Open Sans"/>
                <a:cs typeface="Open Sans"/>
                <a:sym typeface="Open Sans"/>
              </a:rPr>
              <a:t>Nivel de </a:t>
            </a:r>
            <a:r>
              <a:rPr lang="en-US" err="1">
                <a:solidFill>
                  <a:srgbClr val="FFFFFF"/>
                </a:solidFill>
                <a:latin typeface="Open Sans"/>
                <a:ea typeface="Open Sans"/>
                <a:cs typeface="Open Sans"/>
                <a:sym typeface="Open Sans"/>
              </a:rPr>
              <a:t>foame</a:t>
            </a:r>
            <a:endParaRPr lang="en-US">
              <a:solidFill>
                <a:srgbClr val="FFFFFF"/>
              </a:solidFill>
              <a:latin typeface="Open Sans"/>
              <a:ea typeface="Open Sans"/>
              <a:cs typeface="Open Sans"/>
              <a:sym typeface="Open Sans"/>
            </a:endParaRPr>
          </a:p>
          <a:p>
            <a:pPr marL="0" lvl="0" indent="0" algn="ctr">
              <a:spcBef>
                <a:spcPct val="0"/>
              </a:spcBef>
            </a:pPr>
            <a:r>
              <a:rPr lang="en-US" err="1">
                <a:solidFill>
                  <a:srgbClr val="FFFFFF"/>
                </a:solidFill>
                <a:latin typeface="Open Sans"/>
                <a:ea typeface="Open Sans"/>
                <a:cs typeface="Open Sans"/>
                <a:sym typeface="Open Sans"/>
              </a:rPr>
              <a:t>Supravietuire</a:t>
            </a:r>
            <a:endParaRPr lang="en-US">
              <a:solidFill>
                <a:srgbClr val="FFFFFF"/>
              </a:solidFill>
              <a:latin typeface="Open Sans"/>
              <a:ea typeface="Open Sans"/>
              <a:cs typeface="Open Sans"/>
              <a:sym typeface="Open Sans"/>
            </a:endParaRPr>
          </a:p>
        </p:txBody>
      </p:sp>
      <p:sp>
        <p:nvSpPr>
          <p:cNvPr id="14" name="TextBox 14"/>
          <p:cNvSpPr txBox="1"/>
          <p:nvPr/>
        </p:nvSpPr>
        <p:spPr>
          <a:xfrm>
            <a:off x="12041641" y="7876480"/>
            <a:ext cx="3954295" cy="339773"/>
          </a:xfrm>
          <a:prstGeom prst="rect">
            <a:avLst/>
          </a:prstGeom>
        </p:spPr>
        <p:txBody>
          <a:bodyPr wrap="square" lIns="0" tIns="0" rIns="0" bIns="0" rtlCol="0" anchor="t">
            <a:spAutoFit/>
          </a:bodyPr>
          <a:lstStyle/>
          <a:p>
            <a:pPr marL="0" lvl="0" indent="0" algn="ctr">
              <a:lnSpc>
                <a:spcPts val="2518"/>
              </a:lnSpc>
              <a:spcBef>
                <a:spcPct val="0"/>
              </a:spcBef>
            </a:pPr>
            <a:r>
              <a:rPr lang="en-US" sz="3000" b="1" err="1">
                <a:solidFill>
                  <a:srgbClr val="007DFF"/>
                </a:solidFill>
                <a:latin typeface="Open Sans Bold"/>
                <a:ea typeface="Open Sans Bold"/>
                <a:cs typeface="Open Sans Bold"/>
                <a:sym typeface="Open Sans Bold"/>
              </a:rPr>
              <a:t>Comportament</a:t>
            </a:r>
            <a:endParaRPr lang="en-US" sz="3000" b="1">
              <a:solidFill>
                <a:srgbClr val="007DFF"/>
              </a:solidFill>
              <a:latin typeface="Open Sans Bold"/>
              <a:ea typeface="Open Sans Bold"/>
              <a:cs typeface="Open Sans Bold"/>
              <a:sym typeface="Open Sans Bold"/>
            </a:endParaRPr>
          </a:p>
        </p:txBody>
      </p:sp>
      <p:sp>
        <p:nvSpPr>
          <p:cNvPr id="15" name="TextBox 15"/>
          <p:cNvSpPr txBox="1"/>
          <p:nvPr/>
        </p:nvSpPr>
        <p:spPr>
          <a:xfrm>
            <a:off x="11922852" y="8402478"/>
            <a:ext cx="3954296" cy="1107996"/>
          </a:xfrm>
          <a:prstGeom prst="rect">
            <a:avLst/>
          </a:prstGeom>
        </p:spPr>
        <p:txBody>
          <a:bodyPr lIns="0" tIns="0" rIns="0" bIns="0" rtlCol="0" anchor="t">
            <a:spAutoFit/>
          </a:bodyPr>
          <a:lstStyle/>
          <a:p>
            <a:pPr marL="0" lvl="0" indent="0" algn="ctr">
              <a:spcBef>
                <a:spcPct val="0"/>
              </a:spcBef>
            </a:pPr>
            <a:r>
              <a:rPr lang="en-US" err="1">
                <a:solidFill>
                  <a:srgbClr val="FFFFFF"/>
                </a:solidFill>
                <a:latin typeface="Open Sans"/>
                <a:ea typeface="Open Sans"/>
                <a:cs typeface="Open Sans"/>
                <a:sym typeface="Open Sans"/>
              </a:rPr>
              <a:t>Cautarea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resurselor</a:t>
            </a:r>
            <a:endParaRPr lang="en-US">
              <a:solidFill>
                <a:srgbClr val="FFFFFF"/>
              </a:solidFill>
              <a:latin typeface="Open Sans"/>
              <a:ea typeface="Open Sans"/>
              <a:cs typeface="Open Sans"/>
              <a:sym typeface="Open Sans"/>
            </a:endParaRPr>
          </a:p>
          <a:p>
            <a:pPr marL="0" lvl="0" indent="0" algn="ctr">
              <a:spcBef>
                <a:spcPct val="0"/>
              </a:spcBef>
            </a:pPr>
            <a:r>
              <a:rPr lang="en-US" err="1">
                <a:solidFill>
                  <a:srgbClr val="FFFFFF"/>
                </a:solidFill>
                <a:latin typeface="Open Sans"/>
                <a:ea typeface="Open Sans"/>
                <a:cs typeface="Open Sans"/>
                <a:sym typeface="Open Sans"/>
              </a:rPr>
              <a:t>Evitarea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obstacolelor</a:t>
            </a:r>
            <a:endParaRPr lang="en-US">
              <a:solidFill>
                <a:srgbClr val="FFFFFF"/>
              </a:solidFill>
              <a:latin typeface="Open Sans"/>
              <a:ea typeface="Open Sans"/>
              <a:cs typeface="Open Sans"/>
              <a:sym typeface="Open Sans"/>
            </a:endParaRPr>
          </a:p>
          <a:p>
            <a:pPr marL="0" lvl="0" indent="0" algn="ctr">
              <a:spcBef>
                <a:spcPct val="0"/>
              </a:spcBef>
            </a:pPr>
            <a:r>
              <a:rPr lang="en-US" err="1">
                <a:solidFill>
                  <a:srgbClr val="FFFFFF"/>
                </a:solidFill>
                <a:latin typeface="Open Sans"/>
                <a:ea typeface="Open Sans"/>
                <a:cs typeface="Open Sans"/>
                <a:sym typeface="Open Sans"/>
              </a:rPr>
              <a:t>Explorarea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mediului</a:t>
            </a:r>
            <a:r>
              <a:rPr lang="en-US">
                <a:solidFill>
                  <a:srgbClr val="FFFFFF"/>
                </a:solidFill>
                <a:latin typeface="Open Sans"/>
                <a:ea typeface="Open Sans"/>
                <a:cs typeface="Open Sans"/>
                <a:sym typeface="Open Sans"/>
              </a:rPr>
              <a:t>.</a:t>
            </a:r>
          </a:p>
          <a:p>
            <a:pPr marL="0" lvl="0" indent="0" algn="ctr">
              <a:spcBef>
                <a:spcPct val="0"/>
              </a:spcBef>
            </a:pPr>
            <a:r>
              <a:rPr lang="en-US" err="1">
                <a:solidFill>
                  <a:srgbClr val="FFFFFF"/>
                </a:solidFill>
                <a:latin typeface="Open Sans"/>
                <a:ea typeface="Open Sans"/>
                <a:cs typeface="Open Sans"/>
                <a:sym typeface="Open Sans"/>
              </a:rPr>
              <a:t>Luarea</a:t>
            </a:r>
            <a:r>
              <a:rPr lang="en-US">
                <a:solidFill>
                  <a:srgbClr val="FFFFFF"/>
                </a:solidFill>
                <a:latin typeface="Open Sans"/>
                <a:ea typeface="Open Sans"/>
                <a:cs typeface="Open Sans"/>
                <a:sym typeface="Open Sans"/>
              </a:rPr>
              <a:t> </a:t>
            </a:r>
            <a:r>
              <a:rPr lang="en-US" err="1">
                <a:solidFill>
                  <a:srgbClr val="FFFFFF"/>
                </a:solidFill>
                <a:latin typeface="Open Sans"/>
                <a:ea typeface="Open Sans"/>
                <a:cs typeface="Open Sans"/>
                <a:sym typeface="Open Sans"/>
              </a:rPr>
              <a:t>deciziilor</a:t>
            </a:r>
            <a:endParaRPr lang="en-US">
              <a:solidFill>
                <a:srgbClr val="FFFFFF"/>
              </a:solidFill>
              <a:latin typeface="Open Sans"/>
              <a:ea typeface="Open Sans"/>
              <a:cs typeface="Open Sans"/>
              <a:sym typeface="Open Sans"/>
            </a:endParaRPr>
          </a:p>
        </p:txBody>
      </p:sp>
      <p:grpSp>
        <p:nvGrpSpPr>
          <p:cNvPr id="16" name="Group 16"/>
          <p:cNvGrpSpPr/>
          <p:nvPr/>
        </p:nvGrpSpPr>
        <p:grpSpPr>
          <a:xfrm>
            <a:off x="2785571" y="4222296"/>
            <a:ext cx="3074687" cy="3577818"/>
            <a:chOff x="0" y="0"/>
            <a:chExt cx="698500" cy="812800"/>
          </a:xfrm>
        </p:grpSpPr>
        <p:sp>
          <p:nvSpPr>
            <p:cNvPr id="17" name="Freeform 1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3"/>
              <a:stretch>
                <a:fillRect t="-3129" b="-3129"/>
              </a:stretch>
            </a:blipFill>
          </p:spPr>
        </p:sp>
      </p:grpSp>
      <p:grpSp>
        <p:nvGrpSpPr>
          <p:cNvPr id="18" name="Group 18"/>
          <p:cNvGrpSpPr/>
          <p:nvPr/>
        </p:nvGrpSpPr>
        <p:grpSpPr>
          <a:xfrm>
            <a:off x="7574114" y="4235450"/>
            <a:ext cx="3074687" cy="3577818"/>
            <a:chOff x="0" y="0"/>
            <a:chExt cx="698500" cy="812800"/>
          </a:xfrm>
        </p:grpSpPr>
        <p:sp>
          <p:nvSpPr>
            <p:cNvPr id="19" name="Freeform 1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4"/>
              <a:stretch>
                <a:fillRect t="-3129" b="-3129"/>
              </a:stretch>
            </a:blipFill>
          </p:spPr>
        </p:sp>
      </p:grpSp>
      <p:grpSp>
        <p:nvGrpSpPr>
          <p:cNvPr id="20" name="Group 20"/>
          <p:cNvGrpSpPr/>
          <p:nvPr/>
        </p:nvGrpSpPr>
        <p:grpSpPr>
          <a:xfrm>
            <a:off x="12362657" y="4228150"/>
            <a:ext cx="3074687" cy="3577818"/>
            <a:chOff x="0" y="0"/>
            <a:chExt cx="698500" cy="812800"/>
          </a:xfrm>
        </p:grpSpPr>
        <p:sp>
          <p:nvSpPr>
            <p:cNvPr id="21" name="Freeform 2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5"/>
              <a:stretch>
                <a:fillRect t="-3129" b="-3129"/>
              </a:stretch>
            </a:blipFill>
          </p:spPr>
        </p:sp>
      </p:grpSp>
      <p:grpSp>
        <p:nvGrpSpPr>
          <p:cNvPr id="22" name="Group 22"/>
          <p:cNvGrpSpPr/>
          <p:nvPr/>
        </p:nvGrpSpPr>
        <p:grpSpPr>
          <a:xfrm>
            <a:off x="8111580" y="2340545"/>
            <a:ext cx="1854690" cy="124256"/>
            <a:chOff x="0" y="0"/>
            <a:chExt cx="488478" cy="32726"/>
          </a:xfrm>
        </p:grpSpPr>
        <p:sp>
          <p:nvSpPr>
            <p:cNvPr id="23" name="Freeform 23"/>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4" name="TextBox 24"/>
            <p:cNvSpPr txBox="1"/>
            <p:nvPr/>
          </p:nvSpPr>
          <p:spPr>
            <a:xfrm>
              <a:off x="0" y="-38100"/>
              <a:ext cx="488478" cy="70826"/>
            </a:xfrm>
            <a:prstGeom prst="rect">
              <a:avLst/>
            </a:prstGeom>
          </p:spPr>
          <p:txBody>
            <a:bodyPr lIns="50800" tIns="50800" rIns="50800" bIns="50800" rtlCol="0" anchor="ctr"/>
            <a:lstStyle/>
            <a:p>
              <a:pPr marL="0" lvl="0" indent="0" algn="r">
                <a:lnSpc>
                  <a:spcPts val="2659"/>
                </a:lnSpc>
                <a:spcBef>
                  <a:spcPct val="0"/>
                </a:spcBef>
              </a:pPr>
              <a:endParaRPr/>
            </a:p>
          </p:txBody>
        </p:sp>
      </p:grpSp>
      <p:sp>
        <p:nvSpPr>
          <p:cNvPr id="25" name="TextBox 25"/>
          <p:cNvSpPr txBox="1"/>
          <p:nvPr/>
        </p:nvSpPr>
        <p:spPr>
          <a:xfrm>
            <a:off x="5257800" y="1405819"/>
            <a:ext cx="7543799" cy="628377"/>
          </a:xfrm>
          <a:prstGeom prst="rect">
            <a:avLst/>
          </a:prstGeom>
        </p:spPr>
        <p:txBody>
          <a:bodyPr wrap="square" lIns="0" tIns="0" rIns="0" bIns="0" rtlCol="0" anchor="t">
            <a:spAutoFit/>
          </a:bodyPr>
          <a:lstStyle/>
          <a:p>
            <a:pPr marL="0" lvl="0" indent="0" algn="ctr">
              <a:lnSpc>
                <a:spcPts val="4851"/>
              </a:lnSpc>
              <a:spcBef>
                <a:spcPct val="0"/>
              </a:spcBef>
            </a:pPr>
            <a:r>
              <a:rPr lang="en-US" sz="4000" err="1">
                <a:solidFill>
                  <a:srgbClr val="FFFFFF"/>
                </a:solidFill>
                <a:latin typeface="Pattanakarn"/>
                <a:ea typeface="Pattanakarn"/>
                <a:cs typeface="Pattanakarn"/>
                <a:sym typeface="Pattanakarn"/>
              </a:rPr>
              <a:t>Functionalitati</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curente</a:t>
            </a:r>
            <a:endParaRPr lang="en-US" sz="4000">
              <a:solidFill>
                <a:srgbClr val="FFFFFF"/>
              </a:solidFill>
              <a:latin typeface="Pattanakarn"/>
              <a:ea typeface="Pattanakarn"/>
              <a:cs typeface="Pattanakarn"/>
              <a:sym typeface="Pattanakarn"/>
            </a:endParaRPr>
          </a:p>
        </p:txBody>
      </p:sp>
      <p:grpSp>
        <p:nvGrpSpPr>
          <p:cNvPr id="26" name="Group 26"/>
          <p:cNvGrpSpPr/>
          <p:nvPr/>
        </p:nvGrpSpPr>
        <p:grpSpPr>
          <a:xfrm>
            <a:off x="5366751" y="4511214"/>
            <a:ext cx="1117184" cy="1299996"/>
            <a:chOff x="0" y="0"/>
            <a:chExt cx="698500" cy="812800"/>
          </a:xfrm>
        </p:grpSpPr>
        <p:sp>
          <p:nvSpPr>
            <p:cNvPr id="27" name="Freeform 2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085FF">
                    <a:alpha val="0"/>
                  </a:srgbClr>
                </a:gs>
                <a:gs pos="100000">
                  <a:srgbClr val="001BD1">
                    <a:alpha val="58000"/>
                  </a:srgbClr>
                </a:gs>
              </a:gsLst>
              <a:lin ang="0"/>
            </a:gradFill>
          </p:spPr>
        </p:sp>
        <p:sp>
          <p:nvSpPr>
            <p:cNvPr id="28" name="TextBox 28"/>
            <p:cNvSpPr txBox="1"/>
            <p:nvPr/>
          </p:nvSpPr>
          <p:spPr>
            <a:xfrm>
              <a:off x="0" y="101600"/>
              <a:ext cx="698500" cy="571500"/>
            </a:xfrm>
            <a:prstGeom prst="rect">
              <a:avLst/>
            </a:prstGeom>
          </p:spPr>
          <p:txBody>
            <a:bodyPr lIns="50800" tIns="50800" rIns="50800" bIns="50800" rtlCol="0" anchor="ctr"/>
            <a:lstStyle/>
            <a:p>
              <a:pPr marL="0" lvl="0" indent="0" algn="ctr">
                <a:lnSpc>
                  <a:spcPts val="2659"/>
                </a:lnSpc>
              </a:pPr>
              <a:endParaRPr/>
            </a:p>
          </p:txBody>
        </p:sp>
      </p:grpSp>
      <p:grpSp>
        <p:nvGrpSpPr>
          <p:cNvPr id="29" name="Group 29"/>
          <p:cNvGrpSpPr/>
          <p:nvPr/>
        </p:nvGrpSpPr>
        <p:grpSpPr>
          <a:xfrm>
            <a:off x="10122752" y="4511214"/>
            <a:ext cx="1117184" cy="1299996"/>
            <a:chOff x="0" y="0"/>
            <a:chExt cx="698500" cy="812800"/>
          </a:xfrm>
        </p:grpSpPr>
        <p:sp>
          <p:nvSpPr>
            <p:cNvPr id="30" name="Freeform 3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085FF">
                    <a:alpha val="0"/>
                  </a:srgbClr>
                </a:gs>
                <a:gs pos="100000">
                  <a:srgbClr val="001BD1">
                    <a:alpha val="58000"/>
                  </a:srgbClr>
                </a:gs>
              </a:gsLst>
              <a:lin ang="0"/>
            </a:gradFill>
          </p:spPr>
        </p:sp>
        <p:sp>
          <p:nvSpPr>
            <p:cNvPr id="31" name="TextBox 31"/>
            <p:cNvSpPr txBox="1"/>
            <p:nvPr/>
          </p:nvSpPr>
          <p:spPr>
            <a:xfrm>
              <a:off x="0" y="101600"/>
              <a:ext cx="698500" cy="571500"/>
            </a:xfrm>
            <a:prstGeom prst="rect">
              <a:avLst/>
            </a:prstGeom>
          </p:spPr>
          <p:txBody>
            <a:bodyPr lIns="50800" tIns="50800" rIns="50800" bIns="50800" rtlCol="0" anchor="ctr"/>
            <a:lstStyle/>
            <a:p>
              <a:pPr marL="0" lvl="0" indent="0" algn="ctr">
                <a:lnSpc>
                  <a:spcPts val="2659"/>
                </a:lnSpc>
              </a:pPr>
              <a:endParaRPr/>
            </a:p>
          </p:txBody>
        </p:sp>
      </p:grpSp>
      <p:grpSp>
        <p:nvGrpSpPr>
          <p:cNvPr id="32" name="Group 32"/>
          <p:cNvGrpSpPr/>
          <p:nvPr/>
        </p:nvGrpSpPr>
        <p:grpSpPr>
          <a:xfrm>
            <a:off x="14878752" y="4511214"/>
            <a:ext cx="1117184" cy="1299996"/>
            <a:chOff x="0" y="0"/>
            <a:chExt cx="698500" cy="812800"/>
          </a:xfrm>
        </p:grpSpPr>
        <p:sp>
          <p:nvSpPr>
            <p:cNvPr id="33" name="Freeform 3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085FF">
                    <a:alpha val="0"/>
                  </a:srgbClr>
                </a:gs>
                <a:gs pos="100000">
                  <a:srgbClr val="001BD1">
                    <a:alpha val="58000"/>
                  </a:srgbClr>
                </a:gs>
              </a:gsLst>
              <a:lin ang="0"/>
            </a:gradFill>
          </p:spPr>
        </p:sp>
        <p:sp>
          <p:nvSpPr>
            <p:cNvPr id="34" name="TextBox 34"/>
            <p:cNvSpPr txBox="1"/>
            <p:nvPr/>
          </p:nvSpPr>
          <p:spPr>
            <a:xfrm>
              <a:off x="0" y="101600"/>
              <a:ext cx="698500" cy="571500"/>
            </a:xfrm>
            <a:prstGeom prst="rect">
              <a:avLst/>
            </a:prstGeom>
          </p:spPr>
          <p:txBody>
            <a:bodyPr lIns="50800" tIns="50800" rIns="50800" bIns="50800" rtlCol="0" anchor="ctr"/>
            <a:lstStyle/>
            <a:p>
              <a:pPr marL="0" lvl="0" indent="0" algn="ctr">
                <a:lnSpc>
                  <a:spcPts val="2659"/>
                </a:lnSpc>
              </a:pPr>
              <a:endParaRPr/>
            </a:p>
          </p:txBody>
        </p:sp>
      </p:grpSp>
      <p:sp>
        <p:nvSpPr>
          <p:cNvPr id="35" name="TextBox 34">
            <a:extLst>
              <a:ext uri="{FF2B5EF4-FFF2-40B4-BE49-F238E27FC236}">
                <a16:creationId xmlns:a16="http://schemas.microsoft.com/office/drawing/2014/main" id="{0C47508A-2DC7-FEB6-77C2-A2FA92AF6751}"/>
              </a:ext>
            </a:extLst>
          </p:cNvPr>
          <p:cNvSpPr txBox="1"/>
          <p:nvPr/>
        </p:nvSpPr>
        <p:spPr>
          <a:xfrm>
            <a:off x="4191000" y="2895407"/>
            <a:ext cx="10363200" cy="769441"/>
          </a:xfrm>
          <a:prstGeom prst="rect">
            <a:avLst/>
          </a:prstGeom>
          <a:noFill/>
        </p:spPr>
        <p:txBody>
          <a:bodyPr wrap="square" rtlCol="0">
            <a:spAutoFit/>
          </a:bodyPr>
          <a:lstStyle/>
          <a:p>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Agentul</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nu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urmează</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trasee</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predefinite</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Comportamentul</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rezultă</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din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evaluarea</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continuă</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informațiilor</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provenite</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din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mediu</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și</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din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starea</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200" err="1">
                <a:solidFill>
                  <a:schemeClr val="bg1"/>
                </a:solidFill>
                <a:latin typeface="Open Sans" panose="020B0606030504020204" pitchFamily="34" charset="0"/>
                <a:ea typeface="Open Sans" panose="020B0606030504020204" pitchFamily="34" charset="0"/>
                <a:cs typeface="Open Sans" panose="020B0606030504020204" pitchFamily="34" charset="0"/>
              </a:rPr>
              <a:t>internă</a:t>
            </a:r>
            <a:r>
              <a:rPr lang="en-US" sz="220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1402417" y="0"/>
            <a:ext cx="5856883" cy="5033259"/>
            <a:chOff x="0" y="0"/>
            <a:chExt cx="812800" cy="698500"/>
          </a:xfrm>
        </p:grpSpPr>
        <p:sp>
          <p:nvSpPr>
            <p:cNvPr id="10" name="Freeform 1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3"/>
              <a:stretch>
                <a:fillRect l="-3129" r="-3129"/>
              </a:stretch>
            </a:blipFill>
          </p:spPr>
        </p:sp>
      </p:grpSp>
      <p:grpSp>
        <p:nvGrpSpPr>
          <p:cNvPr id="13" name="Group 13"/>
          <p:cNvGrpSpPr/>
          <p:nvPr/>
        </p:nvGrpSpPr>
        <p:grpSpPr>
          <a:xfrm>
            <a:off x="11321475" y="5143500"/>
            <a:ext cx="5856883" cy="5033259"/>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4"/>
              <a:stretch>
                <a:fillRect l="-3129" r="-3129"/>
              </a:stretch>
            </a:blipFill>
          </p:spPr>
        </p:sp>
      </p:grpSp>
      <p:grpSp>
        <p:nvGrpSpPr>
          <p:cNvPr id="15" name="Group 15"/>
          <p:cNvGrpSpPr/>
          <p:nvPr/>
        </p:nvGrpSpPr>
        <p:grpSpPr>
          <a:xfrm>
            <a:off x="1934840" y="2917257"/>
            <a:ext cx="1854690" cy="124256"/>
            <a:chOff x="0" y="0"/>
            <a:chExt cx="488478" cy="32726"/>
          </a:xfrm>
        </p:grpSpPr>
        <p:sp>
          <p:nvSpPr>
            <p:cNvPr id="16" name="Freeform 16"/>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7" name="TextBox 17"/>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222249" y="3987893"/>
            <a:ext cx="273855" cy="273855"/>
            <a:chOff x="0" y="0"/>
            <a:chExt cx="72126" cy="72126"/>
          </a:xfrm>
        </p:grpSpPr>
        <p:sp>
          <p:nvSpPr>
            <p:cNvPr id="19" name="Freeform 19"/>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1222250" y="5565623"/>
            <a:ext cx="986445" cy="418517"/>
            <a:chOff x="-187677" y="-38100"/>
            <a:chExt cx="259803" cy="110226"/>
          </a:xfrm>
        </p:grpSpPr>
        <p:sp>
          <p:nvSpPr>
            <p:cNvPr id="22" name="Freeform 22"/>
            <p:cNvSpPr/>
            <p:nvPr/>
          </p:nvSpPr>
          <p:spPr>
            <a:xfrm>
              <a:off x="-187677" y="-28822"/>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3" name="TextBox 23"/>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4" name="Group 24"/>
          <p:cNvGrpSpPr/>
          <p:nvPr/>
        </p:nvGrpSpPr>
        <p:grpSpPr>
          <a:xfrm>
            <a:off x="1222249" y="8460055"/>
            <a:ext cx="273855" cy="273855"/>
            <a:chOff x="0" y="0"/>
            <a:chExt cx="72126" cy="72126"/>
          </a:xfrm>
        </p:grpSpPr>
        <p:sp>
          <p:nvSpPr>
            <p:cNvPr id="25" name="Freeform 25"/>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6" name="TextBox 26"/>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7" name="Group 27"/>
          <p:cNvGrpSpPr/>
          <p:nvPr/>
        </p:nvGrpSpPr>
        <p:grpSpPr>
          <a:xfrm>
            <a:off x="10145637" y="4261748"/>
            <a:ext cx="1888429" cy="1622868"/>
            <a:chOff x="0" y="0"/>
            <a:chExt cx="812800" cy="698500"/>
          </a:xfrm>
        </p:grpSpPr>
        <p:sp>
          <p:nvSpPr>
            <p:cNvPr id="28" name="Freeform 2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001BD1">
                    <a:alpha val="58000"/>
                  </a:srgbClr>
                </a:gs>
                <a:gs pos="100000">
                  <a:srgbClr val="0085FF">
                    <a:alpha val="0"/>
                  </a:srgbClr>
                </a:gs>
              </a:gsLst>
              <a:lin ang="0"/>
            </a:gradFill>
          </p:spPr>
        </p:sp>
        <p:sp>
          <p:nvSpPr>
            <p:cNvPr id="29" name="TextBox 29"/>
            <p:cNvSpPr txBox="1"/>
            <p:nvPr/>
          </p:nvSpPr>
          <p:spPr>
            <a:xfrm>
              <a:off x="114300" y="-38100"/>
              <a:ext cx="584200" cy="736600"/>
            </a:xfrm>
            <a:prstGeom prst="rect">
              <a:avLst/>
            </a:prstGeom>
          </p:spPr>
          <p:txBody>
            <a:bodyPr lIns="50800" tIns="50800" rIns="50800" bIns="50800" rtlCol="0" anchor="ctr"/>
            <a:lstStyle/>
            <a:p>
              <a:pPr marL="0" lvl="0" indent="0" algn="ctr">
                <a:lnSpc>
                  <a:spcPts val="2659"/>
                </a:lnSpc>
              </a:pPr>
              <a:endParaRPr/>
            </a:p>
          </p:txBody>
        </p:sp>
      </p:grpSp>
      <p:sp>
        <p:nvSpPr>
          <p:cNvPr id="30" name="TextBox 30"/>
          <p:cNvSpPr txBox="1"/>
          <p:nvPr/>
        </p:nvSpPr>
        <p:spPr>
          <a:xfrm>
            <a:off x="410214" y="645630"/>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7/16</a:t>
            </a:r>
          </a:p>
        </p:txBody>
      </p:sp>
      <p:sp>
        <p:nvSpPr>
          <p:cNvPr id="31" name="TextBox 31"/>
          <p:cNvSpPr txBox="1"/>
          <p:nvPr/>
        </p:nvSpPr>
        <p:spPr>
          <a:xfrm>
            <a:off x="1934840" y="2017705"/>
            <a:ext cx="6218560" cy="586699"/>
          </a:xfrm>
          <a:prstGeom prst="rect">
            <a:avLst/>
          </a:prstGeom>
        </p:spPr>
        <p:txBody>
          <a:bodyPr wrap="square" lIns="0" tIns="0" rIns="0" bIns="0" rtlCol="0" anchor="t">
            <a:spAutoFit/>
          </a:bodyPr>
          <a:lstStyle/>
          <a:p>
            <a:pPr marL="0" lvl="0" indent="0" algn="l">
              <a:lnSpc>
                <a:spcPts val="4508"/>
              </a:lnSpc>
              <a:spcBef>
                <a:spcPct val="0"/>
              </a:spcBef>
            </a:pPr>
            <a:r>
              <a:rPr lang="en-US" sz="4000" err="1">
                <a:solidFill>
                  <a:srgbClr val="FFFFFF"/>
                </a:solidFill>
                <a:latin typeface="Pattanakarn"/>
                <a:ea typeface="Pattanakarn"/>
                <a:cs typeface="Pattanakarn"/>
                <a:sym typeface="Pattanakarn"/>
              </a:rPr>
              <a:t>Sistemele</a:t>
            </a:r>
            <a:r>
              <a:rPr lang="en-US" sz="4000">
                <a:solidFill>
                  <a:srgbClr val="FFFFFF"/>
                </a:solidFill>
                <a:latin typeface="Pattanakarn"/>
                <a:ea typeface="Pattanakarn"/>
                <a:cs typeface="Pattanakarn"/>
                <a:sym typeface="Pattanakarn"/>
              </a:rPr>
              <a:t> de </a:t>
            </a:r>
            <a:r>
              <a:rPr lang="en-US" sz="4000" err="1">
                <a:solidFill>
                  <a:srgbClr val="FFFFFF"/>
                </a:solidFill>
                <a:latin typeface="Pattanakarn"/>
                <a:ea typeface="Pattanakarn"/>
                <a:cs typeface="Pattanakarn"/>
                <a:sym typeface="Pattanakarn"/>
              </a:rPr>
              <a:t>perceptie</a:t>
            </a:r>
            <a:endParaRPr lang="en-US" sz="4000">
              <a:solidFill>
                <a:srgbClr val="FFFFFF"/>
              </a:solidFill>
              <a:latin typeface="Pattanakarn"/>
              <a:ea typeface="Pattanakarn"/>
              <a:cs typeface="Pattanakarn"/>
              <a:sym typeface="Pattanakarn"/>
            </a:endParaRPr>
          </a:p>
        </p:txBody>
      </p:sp>
      <p:sp>
        <p:nvSpPr>
          <p:cNvPr id="32" name="TextBox 32"/>
          <p:cNvSpPr txBox="1"/>
          <p:nvPr/>
        </p:nvSpPr>
        <p:spPr>
          <a:xfrm>
            <a:off x="1924729" y="3730896"/>
            <a:ext cx="8581107" cy="923330"/>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Sistemul</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perceptie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integreaza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informatii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provenite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atat</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mediul</a:t>
            </a:r>
            <a:r>
              <a:rPr lang="en-US" sz="2000">
                <a:solidFill>
                  <a:srgbClr val="FFFFFF"/>
                </a:solidFill>
                <a:latin typeface="Open Sans"/>
                <a:ea typeface="Open Sans"/>
                <a:cs typeface="Open Sans"/>
                <a:sym typeface="Open Sans"/>
              </a:rPr>
              <a:t> extern, cat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starea</a:t>
            </a:r>
            <a:r>
              <a:rPr lang="en-US" sz="2000">
                <a:solidFill>
                  <a:srgbClr val="FFFFFF"/>
                </a:solidFill>
                <a:latin typeface="Open Sans"/>
                <a:ea typeface="Open Sans"/>
                <a:cs typeface="Open Sans"/>
                <a:sym typeface="Open Sans"/>
              </a:rPr>
              <a:t> interna a </a:t>
            </a:r>
            <a:r>
              <a:rPr lang="en-US" sz="2000" err="1">
                <a:solidFill>
                  <a:srgbClr val="FFFFFF"/>
                </a:solidFill>
                <a:latin typeface="Open Sans"/>
                <a:ea typeface="Open Sans"/>
                <a:cs typeface="Open Sans"/>
                <a:sym typeface="Open Sans"/>
              </a:rPr>
              <a:t>agentului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generand</a:t>
            </a:r>
            <a:r>
              <a:rPr lang="en-US" sz="2000">
                <a:solidFill>
                  <a:srgbClr val="FFFFFF"/>
                </a:solidFill>
                <a:latin typeface="Open Sans"/>
                <a:ea typeface="Open Sans"/>
                <a:cs typeface="Open Sans"/>
                <a:sym typeface="Open Sans"/>
              </a:rPr>
              <a:t> o </a:t>
            </a:r>
            <a:r>
              <a:rPr lang="en-US" sz="2000" err="1">
                <a:solidFill>
                  <a:srgbClr val="FFFFFF"/>
                </a:solidFill>
                <a:latin typeface="Open Sans"/>
                <a:ea typeface="Open Sans"/>
                <a:cs typeface="Open Sans"/>
                <a:sym typeface="Open Sans"/>
              </a:rPr>
              <a:t>reprezentare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unificata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utilizata</a:t>
            </a:r>
            <a:r>
              <a:rPr lang="en-US" sz="2000">
                <a:solidFill>
                  <a:srgbClr val="FFFFFF"/>
                </a:solidFill>
                <a:latin typeface="Open Sans"/>
                <a:ea typeface="Open Sans"/>
                <a:cs typeface="Open Sans"/>
                <a:sym typeface="Open Sans"/>
              </a:rPr>
              <a:t> in </a:t>
            </a:r>
            <a:r>
              <a:rPr lang="en-US" sz="2000" err="1">
                <a:solidFill>
                  <a:srgbClr val="FFFFFF"/>
                </a:solidFill>
                <a:latin typeface="Open Sans"/>
                <a:ea typeface="Open Sans"/>
                <a:cs typeface="Open Sans"/>
                <a:sym typeface="Open Sans"/>
              </a:rPr>
              <a:t>procesul</a:t>
            </a:r>
            <a:r>
              <a:rPr lang="en-US" sz="2000">
                <a:solidFill>
                  <a:srgbClr val="FFFFFF"/>
                </a:solidFill>
                <a:latin typeface="Open Sans"/>
                <a:ea typeface="Open Sans"/>
                <a:cs typeface="Open Sans"/>
                <a:sym typeface="Open Sans"/>
              </a:rPr>
              <a:t> decisional. </a:t>
            </a:r>
          </a:p>
        </p:txBody>
      </p:sp>
      <p:sp>
        <p:nvSpPr>
          <p:cNvPr id="33" name="TextBox 33"/>
          <p:cNvSpPr txBox="1"/>
          <p:nvPr/>
        </p:nvSpPr>
        <p:spPr>
          <a:xfrm>
            <a:off x="1934840" y="5361449"/>
            <a:ext cx="9183580" cy="2462213"/>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Detectarea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obstacolelor</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identificarea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peretilor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obiectelor</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apropiere</a:t>
            </a:r>
            <a:r>
              <a:rPr lang="en-US" sz="2000">
                <a:solidFill>
                  <a:srgbClr val="FFFFFF"/>
                </a:solidFill>
                <a:latin typeface="Open Sans"/>
                <a:ea typeface="Open Sans"/>
                <a:cs typeface="Open Sans"/>
                <a:sym typeface="Open Sans"/>
              </a:rPr>
              <a:t>. </a:t>
            </a:r>
          </a:p>
          <a:p>
            <a:pPr marL="0" lvl="0" indent="0" algn="l">
              <a:spcBef>
                <a:spcPct val="0"/>
              </a:spcBef>
            </a:pPr>
            <a:r>
              <a:rPr lang="en-US" sz="2000" err="1">
                <a:solidFill>
                  <a:srgbClr val="FFFFFF"/>
                </a:solidFill>
                <a:latin typeface="Open Sans"/>
                <a:ea typeface="Open Sans"/>
                <a:cs typeface="Open Sans"/>
                <a:sym typeface="Open Sans"/>
              </a:rPr>
              <a:t>Detectarea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marginilor</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identificarea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zonelor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fara</a:t>
            </a:r>
            <a:r>
              <a:rPr lang="en-US" sz="2000">
                <a:solidFill>
                  <a:srgbClr val="FFFFFF"/>
                </a:solidFill>
                <a:latin typeface="Open Sans"/>
                <a:ea typeface="Open Sans"/>
                <a:cs typeface="Open Sans"/>
                <a:sym typeface="Open Sans"/>
              </a:rPr>
              <a:t> support </a:t>
            </a:r>
            <a:r>
              <a:rPr lang="en-US" sz="2000" err="1">
                <a:solidFill>
                  <a:srgbClr val="FFFFFF"/>
                </a:solidFill>
                <a:latin typeface="Open Sans"/>
                <a:ea typeface="Open Sans"/>
                <a:cs typeface="Open Sans"/>
                <a:sym typeface="Open Sans"/>
              </a:rPr>
              <a:t>sau</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limitelor</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deplasare</a:t>
            </a:r>
            <a:r>
              <a:rPr lang="en-US" sz="2000">
                <a:solidFill>
                  <a:srgbClr val="FFFFFF"/>
                </a:solidFill>
                <a:latin typeface="Open Sans"/>
                <a:ea typeface="Open Sans"/>
                <a:cs typeface="Open Sans"/>
                <a:sym typeface="Open Sans"/>
              </a:rPr>
              <a:t>.</a:t>
            </a:r>
          </a:p>
          <a:p>
            <a:pPr lvl="0" algn="l">
              <a:spcBef>
                <a:spcPct val="0"/>
              </a:spcBef>
            </a:pPr>
            <a:r>
              <a:rPr lang="en-US" sz="2000" err="1">
                <a:solidFill>
                  <a:srgbClr val="FFFFFF"/>
                </a:solidFill>
                <a:latin typeface="Open Sans"/>
                <a:ea typeface="Open Sans"/>
                <a:cs typeface="Open Sans"/>
                <a:sym typeface="Open Sans"/>
              </a:rPr>
              <a:t>Chemoreceptia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hranei</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estimarea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directiei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intensitatii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semnalului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asociat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surselor</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hrana</a:t>
            </a:r>
            <a:r>
              <a:rPr lang="en-US" sz="2000">
                <a:solidFill>
                  <a:srgbClr val="FFFFFF"/>
                </a:solidFill>
                <a:latin typeface="Open Sans"/>
                <a:ea typeface="Open Sans"/>
                <a:cs typeface="Open Sans"/>
                <a:sym typeface="Open Sans"/>
              </a:rPr>
              <a:t>.</a:t>
            </a:r>
          </a:p>
          <a:p>
            <a:pPr lvl="0" algn="l">
              <a:spcBef>
                <a:spcPct val="0"/>
              </a:spcBef>
            </a:pPr>
            <a:r>
              <a:rPr lang="en-US" sz="2000" err="1">
                <a:solidFill>
                  <a:srgbClr val="FFFFFF"/>
                </a:solidFill>
                <a:latin typeface="Open Sans"/>
                <a:ea typeface="Open Sans"/>
                <a:cs typeface="Open Sans"/>
                <a:sym typeface="Open Sans"/>
              </a:rPr>
              <a:t>Detectarea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urmelor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chimice</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evaluarea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markerilor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depusi</a:t>
            </a:r>
            <a:r>
              <a:rPr lang="en-US" sz="2000">
                <a:solidFill>
                  <a:srgbClr val="FFFFFF"/>
                </a:solidFill>
                <a:latin typeface="Open Sans"/>
                <a:ea typeface="Open Sans"/>
                <a:cs typeface="Open Sans"/>
                <a:sym typeface="Open Sans"/>
              </a:rPr>
              <a:t> anterior in </a:t>
            </a:r>
            <a:r>
              <a:rPr lang="en-US" sz="2000" err="1">
                <a:solidFill>
                  <a:srgbClr val="FFFFFF"/>
                </a:solidFill>
                <a:latin typeface="Open Sans"/>
                <a:ea typeface="Open Sans"/>
                <a:cs typeface="Open Sans"/>
                <a:sym typeface="Open Sans"/>
              </a:rPr>
              <a:t>mediu</a:t>
            </a:r>
            <a:r>
              <a:rPr lang="en-US" sz="2000">
                <a:solidFill>
                  <a:srgbClr val="FFFFFF"/>
                </a:solidFill>
                <a:latin typeface="Open Sans"/>
                <a:ea typeface="Open Sans"/>
                <a:cs typeface="Open Sans"/>
                <a:sym typeface="Open Sans"/>
              </a:rPr>
              <a:t>.</a:t>
            </a:r>
          </a:p>
          <a:p>
            <a:pPr lvl="0" algn="l">
              <a:spcBef>
                <a:spcPct val="0"/>
              </a:spcBef>
            </a:pPr>
            <a:r>
              <a:rPr lang="en-US" sz="2000" err="1">
                <a:solidFill>
                  <a:srgbClr val="FFFFFF"/>
                </a:solidFill>
                <a:latin typeface="Open Sans"/>
                <a:ea typeface="Open Sans"/>
                <a:cs typeface="Open Sans"/>
                <a:sym typeface="Open Sans"/>
              </a:rPr>
              <a:t>Receptori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aersivi</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identificarea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stimulilor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trebuie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evitati</a:t>
            </a:r>
            <a:r>
              <a:rPr lang="en-US" sz="2000">
                <a:solidFill>
                  <a:srgbClr val="FFFFFF"/>
                </a:solidFill>
                <a:latin typeface="Open Sans"/>
                <a:ea typeface="Open Sans"/>
                <a:cs typeface="Open Sans"/>
                <a:sym typeface="Open Sans"/>
              </a:rPr>
              <a:t>.</a:t>
            </a:r>
          </a:p>
          <a:p>
            <a:pPr lvl="0" algn="l">
              <a:spcBef>
                <a:spcPct val="0"/>
              </a:spcBef>
            </a:pPr>
            <a:r>
              <a:rPr lang="en-US" sz="2000">
                <a:solidFill>
                  <a:srgbClr val="FFFFFF"/>
                </a:solidFill>
                <a:latin typeface="Open Sans"/>
                <a:ea typeface="Open Sans"/>
                <a:cs typeface="Open Sans"/>
                <a:sym typeface="Open Sans"/>
              </a:rPr>
              <a:t>Stare interna – </a:t>
            </a:r>
            <a:r>
              <a:rPr lang="en-US" sz="2000" err="1">
                <a:solidFill>
                  <a:srgbClr val="FFFFFF"/>
                </a:solidFill>
                <a:latin typeface="Open Sans"/>
                <a:ea typeface="Open Sans"/>
                <a:cs typeface="Open Sans"/>
                <a:sym typeface="Open Sans"/>
              </a:rPr>
              <a:t>monitorizarea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nivelului</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foame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 </a:t>
            </a:r>
            <a:r>
              <a:rPr lang="en-US" sz="2000" err="1">
                <a:solidFill>
                  <a:srgbClr val="FFFFFF"/>
                </a:solidFill>
                <a:latin typeface="Open Sans"/>
                <a:ea typeface="Open Sans"/>
                <a:cs typeface="Open Sans"/>
                <a:sym typeface="Open Sans"/>
              </a:rPr>
              <a:t>necesitatilor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agentului</a:t>
            </a:r>
            <a:r>
              <a:rPr lang="en-US" sz="2000">
                <a:solidFill>
                  <a:srgbClr val="FFFFFF"/>
                </a:solidFill>
                <a:latin typeface="Open Sans"/>
                <a:ea typeface="Open Sans"/>
                <a:cs typeface="Open Sans"/>
                <a:sym typeface="Open Sans"/>
              </a:rPr>
              <a:t>.</a:t>
            </a:r>
          </a:p>
        </p:txBody>
      </p:sp>
      <p:sp>
        <p:nvSpPr>
          <p:cNvPr id="34" name="TextBox 34"/>
          <p:cNvSpPr txBox="1"/>
          <p:nvPr/>
        </p:nvSpPr>
        <p:spPr>
          <a:xfrm>
            <a:off x="1872925" y="8374665"/>
            <a:ext cx="9429057" cy="923330"/>
          </a:xfrm>
          <a:prstGeom prst="rect">
            <a:avLst/>
          </a:prstGeom>
        </p:spPr>
        <p:txBody>
          <a:bodyPr wrap="square" lIns="0" tIns="0" rIns="0" bIns="0" rtlCol="0" anchor="t">
            <a:spAutoFit/>
          </a:bodyPr>
          <a:lstStyle/>
          <a:p>
            <a:pPr marL="0" lvl="0" indent="0" algn="l">
              <a:spcBef>
                <a:spcPct val="0"/>
              </a:spcBef>
            </a:pPr>
            <a:r>
              <a:rPr lang="en-US" sz="2000" err="1">
                <a:solidFill>
                  <a:srgbClr val="FFFFFF"/>
                </a:solidFill>
                <a:latin typeface="Open Sans"/>
                <a:ea typeface="Open Sans"/>
                <a:cs typeface="Open Sans"/>
                <a:sym typeface="Open Sans"/>
              </a:rPr>
              <a:t>Perceptia</a:t>
            </a:r>
            <a:r>
              <a:rPr lang="en-US" sz="2000">
                <a:solidFill>
                  <a:srgbClr val="FFFFFF"/>
                </a:solidFill>
                <a:latin typeface="Open Sans"/>
                <a:ea typeface="Open Sans"/>
                <a:cs typeface="Open Sans"/>
                <a:sym typeface="Open Sans"/>
              </a:rPr>
              <a:t> nu </a:t>
            </a:r>
            <a:r>
              <a:rPr lang="en-US" sz="2000" err="1">
                <a:solidFill>
                  <a:srgbClr val="FFFFFF"/>
                </a:solidFill>
                <a:latin typeface="Open Sans"/>
                <a:ea typeface="Open Sans"/>
                <a:cs typeface="Open Sans"/>
                <a:sym typeface="Open Sans"/>
              </a:rPr>
              <a:t>este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tratata</a:t>
            </a:r>
            <a:r>
              <a:rPr lang="en-US" sz="2000">
                <a:solidFill>
                  <a:srgbClr val="FFFFFF"/>
                </a:solidFill>
                <a:latin typeface="Open Sans"/>
                <a:ea typeface="Open Sans"/>
                <a:cs typeface="Open Sans"/>
                <a:sym typeface="Open Sans"/>
              </a:rPr>
              <a:t> ca un </a:t>
            </a:r>
            <a:r>
              <a:rPr lang="en-US" sz="2000" err="1">
                <a:solidFill>
                  <a:srgbClr val="FFFFFF"/>
                </a:solidFill>
                <a:latin typeface="Open Sans"/>
                <a:ea typeface="Open Sans"/>
                <a:cs typeface="Open Sans"/>
                <a:sym typeface="Open Sans"/>
              </a:rPr>
              <a:t>singur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simt</a:t>
            </a:r>
            <a:r>
              <a:rPr lang="en-US" sz="2000">
                <a:solidFill>
                  <a:srgbClr val="FFFFFF"/>
                </a:solidFill>
                <a:latin typeface="Open Sans"/>
                <a:ea typeface="Open Sans"/>
                <a:cs typeface="Open Sans"/>
                <a:sym typeface="Open Sans"/>
              </a:rPr>
              <a:t>, ci ca un </a:t>
            </a:r>
            <a:r>
              <a:rPr lang="en-US" sz="2000" err="1">
                <a:solidFill>
                  <a:srgbClr val="FFFFFF"/>
                </a:solidFill>
                <a:latin typeface="Open Sans"/>
                <a:ea typeface="Open Sans"/>
                <a:cs typeface="Open Sans"/>
                <a:sym typeface="Open Sans"/>
              </a:rPr>
              <a:t>ansamplu</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mecanisme</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combina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informatii</a:t>
            </a:r>
            <a:r>
              <a:rPr lang="en-US" sz="2000">
                <a:solidFill>
                  <a:srgbClr val="FFFFFF"/>
                </a:solidFill>
                <a:latin typeface="Open Sans"/>
                <a:ea typeface="Open Sans"/>
                <a:cs typeface="Open Sans"/>
                <a:sym typeface="Open Sans"/>
              </a:rPr>
              <a:t> externe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interne care </a:t>
            </a:r>
            <a:r>
              <a:rPr lang="en-US" sz="2000" err="1">
                <a:solidFill>
                  <a:srgbClr val="FFFFFF"/>
                </a:solidFill>
                <a:latin typeface="Open Sans"/>
                <a:ea typeface="Open Sans"/>
                <a:cs typeface="Open Sans"/>
                <a:sym typeface="Open Sans"/>
              </a:rPr>
              <a:t>ajunse</a:t>
            </a:r>
            <a:r>
              <a:rPr lang="en-US" sz="2000">
                <a:solidFill>
                  <a:srgbClr val="FFFFFF"/>
                </a:solidFill>
                <a:latin typeface="Open Sans"/>
                <a:ea typeface="Open Sans"/>
                <a:cs typeface="Open Sans"/>
                <a:sym typeface="Open Sans"/>
              </a:rPr>
              <a:t> in </a:t>
            </a:r>
            <a:r>
              <a:rPr lang="en-US" sz="2000" err="1">
                <a:solidFill>
                  <a:srgbClr val="FFFFFF"/>
                </a:solidFill>
                <a:latin typeface="Open Sans"/>
                <a:ea typeface="Open Sans"/>
                <a:cs typeface="Open Sans"/>
                <a:sym typeface="Open Sans"/>
              </a:rPr>
              <a:t>centrul</a:t>
            </a:r>
            <a:r>
              <a:rPr lang="en-US" sz="2000">
                <a:solidFill>
                  <a:srgbClr val="FFFFFF"/>
                </a:solidFill>
                <a:latin typeface="Open Sans"/>
                <a:ea typeface="Open Sans"/>
                <a:cs typeface="Open Sans"/>
                <a:sym typeface="Open Sans"/>
              </a:rPr>
              <a:t> decisional, </a:t>
            </a:r>
            <a:r>
              <a:rPr lang="en-US" sz="2000" err="1">
                <a:solidFill>
                  <a:srgbClr val="FFFFFF"/>
                </a:solidFill>
                <a:latin typeface="Open Sans"/>
                <a:ea typeface="Open Sans"/>
                <a:cs typeface="Open Sans"/>
                <a:sym typeface="Open Sans"/>
              </a:rPr>
              <a:t>duc</a:t>
            </a:r>
            <a:r>
              <a:rPr lang="en-US" sz="2000">
                <a:solidFill>
                  <a:srgbClr val="FFFFFF"/>
                </a:solidFill>
                <a:latin typeface="Open Sans"/>
                <a:ea typeface="Open Sans"/>
                <a:cs typeface="Open Sans"/>
                <a:sym typeface="Open Sans"/>
              </a:rPr>
              <a:t> la </a:t>
            </a:r>
            <a:r>
              <a:rPr lang="en-US" sz="2000" err="1">
                <a:solidFill>
                  <a:srgbClr val="FFFFFF"/>
                </a:solidFill>
                <a:latin typeface="Open Sans"/>
                <a:ea typeface="Open Sans"/>
                <a:cs typeface="Open Sans"/>
                <a:sym typeface="Open Sans"/>
              </a:rPr>
              <a:t>generarea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unei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decizii</a:t>
            </a:r>
            <a:r>
              <a:rPr lang="en-US" sz="2000">
                <a:solidFill>
                  <a:srgbClr val="FFFFFF"/>
                </a:solidFill>
                <a:latin typeface="Open Sans"/>
                <a:ea typeface="Open Sans"/>
                <a:cs typeface="Open Sans"/>
                <a:sym typeface="Open Sans"/>
              </a:rPr>
              <a:t>.</a:t>
            </a:r>
          </a:p>
        </p:txBody>
      </p:sp>
      <p:grpSp>
        <p:nvGrpSpPr>
          <p:cNvPr id="35" name="Group 35"/>
          <p:cNvGrpSpPr/>
          <p:nvPr/>
        </p:nvGrpSpPr>
        <p:grpSpPr>
          <a:xfrm>
            <a:off x="15800202" y="1705195"/>
            <a:ext cx="1888429" cy="1622868"/>
            <a:chOff x="0" y="0"/>
            <a:chExt cx="812800" cy="698500"/>
          </a:xfrm>
        </p:grpSpPr>
        <p:sp>
          <p:nvSpPr>
            <p:cNvPr id="36" name="Freeform 3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001BD1">
                    <a:alpha val="58000"/>
                  </a:srgbClr>
                </a:gs>
                <a:gs pos="100000">
                  <a:srgbClr val="0085FF">
                    <a:alpha val="0"/>
                  </a:srgbClr>
                </a:gs>
              </a:gsLst>
              <a:lin ang="0"/>
            </a:gradFill>
          </p:spPr>
        </p:sp>
        <p:sp>
          <p:nvSpPr>
            <p:cNvPr id="37" name="TextBox 37"/>
            <p:cNvSpPr txBox="1"/>
            <p:nvPr/>
          </p:nvSpPr>
          <p:spPr>
            <a:xfrm>
              <a:off x="114300" y="-38100"/>
              <a:ext cx="584200" cy="736600"/>
            </a:xfrm>
            <a:prstGeom prst="rect">
              <a:avLst/>
            </a:prstGeom>
          </p:spPr>
          <p:txBody>
            <a:bodyPr lIns="50800" tIns="50800" rIns="50800" bIns="50800" rtlCol="0" anchor="ctr"/>
            <a:lstStyle/>
            <a:p>
              <a:pPr marL="0" lvl="0" indent="0" algn="ctr">
                <a:lnSpc>
                  <a:spcPts val="2659"/>
                </a:lnSpc>
              </a:pPr>
              <a:endParaRPr/>
            </a:p>
          </p:txBody>
        </p:sp>
      </p:grpSp>
      <p:grpSp>
        <p:nvGrpSpPr>
          <p:cNvPr id="38" name="Group 38"/>
          <p:cNvGrpSpPr/>
          <p:nvPr/>
        </p:nvGrpSpPr>
        <p:grpSpPr>
          <a:xfrm>
            <a:off x="15800202" y="6958936"/>
            <a:ext cx="1888429" cy="1622868"/>
            <a:chOff x="0" y="0"/>
            <a:chExt cx="812800" cy="698500"/>
          </a:xfrm>
        </p:grpSpPr>
        <p:sp>
          <p:nvSpPr>
            <p:cNvPr id="39" name="Freeform 3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001BD1">
                    <a:alpha val="58000"/>
                  </a:srgbClr>
                </a:gs>
                <a:gs pos="100000">
                  <a:srgbClr val="0085FF">
                    <a:alpha val="0"/>
                  </a:srgbClr>
                </a:gs>
              </a:gsLst>
              <a:lin ang="0"/>
            </a:gradFill>
          </p:spPr>
        </p:sp>
        <p:sp>
          <p:nvSpPr>
            <p:cNvPr id="40" name="TextBox 40"/>
            <p:cNvSpPr txBox="1"/>
            <p:nvPr/>
          </p:nvSpPr>
          <p:spPr>
            <a:xfrm>
              <a:off x="114300" y="-38100"/>
              <a:ext cx="584200" cy="7366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8002075" y="0"/>
            <a:ext cx="10232592" cy="10287000"/>
            <a:chOff x="0" y="0"/>
            <a:chExt cx="606376" cy="609600"/>
          </a:xfrm>
        </p:grpSpPr>
        <p:sp>
          <p:nvSpPr>
            <p:cNvPr id="7" name="Freeform 7"/>
            <p:cNvSpPr/>
            <p:nvPr/>
          </p:nvSpPr>
          <p:spPr>
            <a:xfrm>
              <a:off x="0" y="0"/>
              <a:ext cx="606376" cy="609600"/>
            </a:xfrm>
            <a:custGeom>
              <a:avLst/>
              <a:gdLst/>
              <a:ahLst/>
              <a:cxnLst/>
              <a:rect l="l" t="t" r="r" b="b"/>
              <a:pathLst>
                <a:path w="606376" h="609600">
                  <a:moveTo>
                    <a:pt x="403176" y="0"/>
                  </a:moveTo>
                  <a:lnTo>
                    <a:pt x="0" y="0"/>
                  </a:lnTo>
                  <a:lnTo>
                    <a:pt x="203200" y="609600"/>
                  </a:lnTo>
                  <a:lnTo>
                    <a:pt x="606376" y="609600"/>
                  </a:lnTo>
                  <a:lnTo>
                    <a:pt x="403176" y="0"/>
                  </a:lnTo>
                  <a:close/>
                </a:path>
              </a:pathLst>
            </a:custGeom>
            <a:blipFill>
              <a:blip r:embed="rId4"/>
              <a:stretch>
                <a:fillRect l="-265" r="-265"/>
              </a:stretch>
            </a:blipFill>
          </p:spPr>
        </p:sp>
      </p:grpSp>
      <p:grpSp>
        <p:nvGrpSpPr>
          <p:cNvPr id="8" name="Group 8"/>
          <p:cNvGrpSpPr/>
          <p:nvPr/>
        </p:nvGrpSpPr>
        <p:grpSpPr>
          <a:xfrm>
            <a:off x="17688631" y="7520059"/>
            <a:ext cx="599369" cy="1738241"/>
            <a:chOff x="0" y="0"/>
            <a:chExt cx="157859" cy="457808"/>
          </a:xfrm>
        </p:grpSpPr>
        <p:sp>
          <p:nvSpPr>
            <p:cNvPr id="9" name="Freeform 9"/>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10" name="TextBox 10"/>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2078360" y="2502323"/>
            <a:ext cx="1854690" cy="124256"/>
            <a:chOff x="0" y="0"/>
            <a:chExt cx="488478" cy="32726"/>
          </a:xfrm>
        </p:grpSpPr>
        <p:sp>
          <p:nvSpPr>
            <p:cNvPr id="12" name="Freeform 12"/>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3" name="TextBox 13"/>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7772400" y="5633649"/>
            <a:ext cx="3679191" cy="4634301"/>
            <a:chOff x="0" y="0"/>
            <a:chExt cx="483964" cy="609600"/>
          </a:xfrm>
        </p:grpSpPr>
        <p:sp>
          <p:nvSpPr>
            <p:cNvPr id="24" name="Freeform 24"/>
            <p:cNvSpPr/>
            <p:nvPr/>
          </p:nvSpPr>
          <p:spPr>
            <a:xfrm>
              <a:off x="0" y="0"/>
              <a:ext cx="483964" cy="609600"/>
            </a:xfrm>
            <a:custGeom>
              <a:avLst/>
              <a:gdLst/>
              <a:ahLst/>
              <a:cxnLst/>
              <a:rect l="l" t="t" r="r" b="b"/>
              <a:pathLst>
                <a:path w="483964" h="609600">
                  <a:moveTo>
                    <a:pt x="280764" y="0"/>
                  </a:moveTo>
                  <a:lnTo>
                    <a:pt x="0" y="0"/>
                  </a:lnTo>
                  <a:lnTo>
                    <a:pt x="203200" y="609600"/>
                  </a:lnTo>
                  <a:lnTo>
                    <a:pt x="483964" y="609600"/>
                  </a:lnTo>
                  <a:lnTo>
                    <a:pt x="280764" y="0"/>
                  </a:lnTo>
                  <a:close/>
                </a:path>
              </a:pathLst>
            </a:custGeom>
            <a:gradFill rotWithShape="1">
              <a:gsLst>
                <a:gs pos="0">
                  <a:srgbClr val="001BD1">
                    <a:alpha val="58000"/>
                  </a:srgbClr>
                </a:gs>
                <a:gs pos="100000">
                  <a:srgbClr val="0085FF">
                    <a:alpha val="0"/>
                  </a:srgbClr>
                </a:gs>
              </a:gsLst>
              <a:lin ang="0"/>
            </a:gradFill>
          </p:spPr>
        </p:sp>
        <p:sp>
          <p:nvSpPr>
            <p:cNvPr id="25" name="TextBox 25"/>
            <p:cNvSpPr txBox="1"/>
            <p:nvPr/>
          </p:nvSpPr>
          <p:spPr>
            <a:xfrm>
              <a:off x="101600" y="-38100"/>
              <a:ext cx="280764" cy="647700"/>
            </a:xfrm>
            <a:prstGeom prst="rect">
              <a:avLst/>
            </a:prstGeom>
          </p:spPr>
          <p:txBody>
            <a:bodyPr lIns="50800" tIns="50800" rIns="50800" bIns="50800" rtlCol="0" anchor="ctr"/>
            <a:lstStyle/>
            <a:p>
              <a:pPr marL="0" lvl="0" indent="0" algn="ctr">
                <a:lnSpc>
                  <a:spcPts val="2659"/>
                </a:lnSpc>
              </a:pPr>
              <a:endParaRPr/>
            </a:p>
          </p:txBody>
        </p:sp>
      </p:grpSp>
      <p:sp>
        <p:nvSpPr>
          <p:cNvPr id="26" name="TextBox 2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8/16</a:t>
            </a:r>
          </a:p>
        </p:txBody>
      </p:sp>
      <p:sp>
        <p:nvSpPr>
          <p:cNvPr id="27" name="TextBox 27"/>
          <p:cNvSpPr txBox="1"/>
          <p:nvPr/>
        </p:nvSpPr>
        <p:spPr>
          <a:xfrm>
            <a:off x="2078359" y="1522048"/>
            <a:ext cx="8208641" cy="1231106"/>
          </a:xfrm>
          <a:prstGeom prst="rect">
            <a:avLst/>
          </a:prstGeom>
        </p:spPr>
        <p:txBody>
          <a:bodyPr wrap="square" lIns="0" tIns="0" rIns="0" bIns="0" rtlCol="0" anchor="t">
            <a:spAutoFit/>
          </a:bodyPr>
          <a:lstStyle/>
          <a:p>
            <a:pPr marL="0" lvl="0" indent="0" algn="l">
              <a:spcBef>
                <a:spcPct val="0"/>
              </a:spcBef>
            </a:pPr>
            <a:r>
              <a:rPr lang="en-US" sz="4000" err="1">
                <a:solidFill>
                  <a:srgbClr val="FFFFFF"/>
                </a:solidFill>
                <a:latin typeface="Pattanakarn"/>
                <a:ea typeface="Pattanakarn"/>
                <a:cs typeface="Pattanakarn"/>
                <a:sym typeface="Pattanakarn"/>
              </a:rPr>
              <a:t>Sistemul</a:t>
            </a:r>
            <a:r>
              <a:rPr lang="en-US" sz="4000">
                <a:solidFill>
                  <a:srgbClr val="FFFFFF"/>
                </a:solidFill>
                <a:latin typeface="Pattanakarn"/>
                <a:ea typeface="Pattanakarn"/>
                <a:cs typeface="Pattanakarn"/>
                <a:sym typeface="Pattanakarn"/>
              </a:rPr>
              <a:t> de </a:t>
            </a:r>
            <a:r>
              <a:rPr lang="en-US" sz="4000" err="1">
                <a:solidFill>
                  <a:srgbClr val="FFFFFF"/>
                </a:solidFill>
                <a:latin typeface="Pattanakarn"/>
                <a:ea typeface="Pattanakarn"/>
                <a:cs typeface="Pattanakarn"/>
                <a:sym typeface="Pattanakarn"/>
              </a:rPr>
              <a:t>locomotie</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si</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provocarile</a:t>
            </a:r>
            <a:r>
              <a:rPr lang="en-US" sz="4000">
                <a:solidFill>
                  <a:srgbClr val="FFFFFF"/>
                </a:solidFill>
                <a:latin typeface="Pattanakarn"/>
                <a:ea typeface="Pattanakarn"/>
                <a:cs typeface="Pattanakarn"/>
                <a:sym typeface="Pattanakarn"/>
              </a:rPr>
              <a:t> </a:t>
            </a:r>
            <a:r>
              <a:rPr lang="en-US" sz="4000" err="1">
                <a:solidFill>
                  <a:srgbClr val="FFFFFF"/>
                </a:solidFill>
                <a:latin typeface="Pattanakarn"/>
                <a:ea typeface="Pattanakarn"/>
                <a:cs typeface="Pattanakarn"/>
                <a:sym typeface="Pattanakarn"/>
              </a:rPr>
              <a:t>acestuia</a:t>
            </a:r>
            <a:endParaRPr lang="en-US" sz="4000">
              <a:solidFill>
                <a:srgbClr val="FFFFFF"/>
              </a:solidFill>
              <a:latin typeface="Pattanakarn"/>
              <a:ea typeface="Pattanakarn"/>
              <a:cs typeface="Pattanakarn"/>
              <a:sym typeface="Pattanakarn"/>
            </a:endParaRPr>
          </a:p>
        </p:txBody>
      </p:sp>
      <p:sp>
        <p:nvSpPr>
          <p:cNvPr id="28" name="TextBox 28"/>
          <p:cNvSpPr txBox="1"/>
          <p:nvPr/>
        </p:nvSpPr>
        <p:spPr>
          <a:xfrm>
            <a:off x="2102941" y="3007867"/>
            <a:ext cx="13100844" cy="1359346"/>
          </a:xfrm>
          <a:prstGeom prst="rect">
            <a:avLst/>
          </a:prstGeom>
        </p:spPr>
        <p:txBody>
          <a:bodyPr wrap="square" lIns="0" tIns="0" rIns="0" bIns="0" rtlCol="0" anchor="t">
            <a:spAutoFit/>
          </a:bodyPr>
          <a:lstStyle/>
          <a:p>
            <a:pPr marL="0" lvl="0" indent="0" algn="l">
              <a:lnSpc>
                <a:spcPts val="1680"/>
              </a:lnSpc>
              <a:spcBef>
                <a:spcPct val="0"/>
              </a:spcBef>
            </a:pPr>
            <a:r>
              <a:rPr lang="en-US" sz="2000">
                <a:solidFill>
                  <a:srgbClr val="FFFFFF"/>
                </a:solidFill>
                <a:latin typeface="Open Sans"/>
                <a:ea typeface="Open Sans"/>
                <a:cs typeface="Open Sans"/>
                <a:sym typeface="Open Sans"/>
              </a:rPr>
              <a:t>Am </a:t>
            </a:r>
            <a:r>
              <a:rPr lang="en-US" sz="2000" err="1">
                <a:solidFill>
                  <a:srgbClr val="FFFFFF"/>
                </a:solidFill>
                <a:latin typeface="Open Sans"/>
                <a:ea typeface="Open Sans"/>
                <a:cs typeface="Open Sans"/>
                <a:sym typeface="Open Sans"/>
              </a:rPr>
              <a:t>intentionat</a:t>
            </a:r>
            <a:r>
              <a:rPr lang="en-US" sz="2000">
                <a:solidFill>
                  <a:srgbClr val="FFFFFF"/>
                </a:solidFill>
                <a:latin typeface="Open Sans"/>
                <a:ea typeface="Open Sans"/>
                <a:cs typeface="Open Sans"/>
                <a:sym typeface="Open Sans"/>
              </a:rPr>
              <a:t> initial </a:t>
            </a:r>
            <a:r>
              <a:rPr lang="en-US" sz="2000" err="1">
                <a:solidFill>
                  <a:srgbClr val="FFFFFF"/>
                </a:solidFill>
                <a:latin typeface="Open Sans"/>
                <a:ea typeface="Open Sans"/>
                <a:cs typeface="Open Sans"/>
                <a:sym typeface="Open Sans"/>
              </a:rPr>
              <a:t>sa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creez</a:t>
            </a:r>
            <a:r>
              <a:rPr lang="en-US" sz="2000">
                <a:solidFill>
                  <a:srgbClr val="FFFFFF"/>
                </a:solidFill>
                <a:latin typeface="Open Sans"/>
                <a:ea typeface="Open Sans"/>
                <a:cs typeface="Open Sans"/>
                <a:sym typeface="Open Sans"/>
              </a:rPr>
              <a:t> un system de </a:t>
            </a:r>
            <a:r>
              <a:rPr lang="en-US" sz="2000" err="1">
                <a:solidFill>
                  <a:srgbClr val="FFFFFF"/>
                </a:solidFill>
                <a:latin typeface="Open Sans"/>
                <a:ea typeface="Open Sans"/>
                <a:cs typeface="Open Sans"/>
                <a:sym typeface="Open Sans"/>
              </a:rPr>
              <a:t>locomotie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inspirat</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cele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reale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biologice</a:t>
            </a:r>
            <a:r>
              <a:rPr lang="en-US" sz="2000">
                <a:solidFill>
                  <a:srgbClr val="FFFFFF"/>
                </a:solidFill>
                <a:latin typeface="Open Sans"/>
                <a:ea typeface="Open Sans"/>
                <a:cs typeface="Open Sans"/>
                <a:sym typeface="Open Sans"/>
              </a:rPr>
              <a:t>, ale </a:t>
            </a:r>
            <a:r>
              <a:rPr lang="en-US" sz="2000" err="1">
                <a:solidFill>
                  <a:srgbClr val="FFFFFF"/>
                </a:solidFill>
                <a:latin typeface="Open Sans"/>
                <a:ea typeface="Open Sans"/>
                <a:cs typeface="Open Sans"/>
                <a:sym typeface="Open Sans"/>
              </a:rPr>
              <a:t>animalelor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apode</a:t>
            </a:r>
            <a:r>
              <a:rPr lang="en-US" sz="2000">
                <a:solidFill>
                  <a:srgbClr val="FFFFFF"/>
                </a:solidFill>
                <a:latin typeface="Open Sans"/>
                <a:ea typeface="Open Sans"/>
                <a:cs typeface="Open Sans"/>
                <a:sym typeface="Open Sans"/>
              </a:rPr>
              <a:t>.</a:t>
            </a:r>
          </a:p>
          <a:p>
            <a:pPr marL="0" lvl="0" indent="0" algn="l">
              <a:lnSpc>
                <a:spcPts val="1680"/>
              </a:lnSpc>
              <a:spcBef>
                <a:spcPct val="0"/>
              </a:spcBef>
            </a:pPr>
            <a:endParaRPr lang="en-US" sz="2000">
              <a:solidFill>
                <a:srgbClr val="FFFFFF"/>
              </a:solidFill>
              <a:latin typeface="Open Sans"/>
              <a:ea typeface="Open Sans"/>
              <a:cs typeface="Open Sans"/>
              <a:sym typeface="Open Sans"/>
            </a:endParaRPr>
          </a:p>
          <a:p>
            <a:pPr marL="0" lvl="0" indent="0" algn="l">
              <a:spcBef>
                <a:spcPct val="0"/>
              </a:spcBef>
            </a:pPr>
            <a:r>
              <a:rPr lang="en-US" sz="2000">
                <a:solidFill>
                  <a:srgbClr val="FFFFFF"/>
                </a:solidFill>
                <a:latin typeface="Open Sans"/>
                <a:ea typeface="Open Sans"/>
                <a:cs typeface="Open Sans"/>
                <a:sym typeface="Open Sans"/>
              </a:rPr>
              <a:t>De </a:t>
            </a:r>
            <a:r>
              <a:rPr lang="en-US" sz="2000" err="1">
                <a:solidFill>
                  <a:srgbClr val="FFFFFF"/>
                </a:solidFill>
                <a:latin typeface="Open Sans"/>
                <a:ea typeface="Open Sans"/>
                <a:cs typeface="Open Sans"/>
                <a:sym typeface="Open Sans"/>
              </a:rPr>
              <a:t>exemplu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viermele</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pamant</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rama</a:t>
            </a:r>
            <a:r>
              <a:rPr lang="en-US" sz="2000">
                <a:solidFill>
                  <a:srgbClr val="FFFFFF"/>
                </a:solidFill>
                <a:latin typeface="Open Sans"/>
                <a:ea typeface="Open Sans"/>
                <a:cs typeface="Open Sans"/>
                <a:sym typeface="Open Sans"/>
              </a:rPr>
              <a:t> ), se </a:t>
            </a:r>
            <a:r>
              <a:rPr lang="en-US" sz="2000" err="1">
                <a:solidFill>
                  <a:srgbClr val="FFFFFF"/>
                </a:solidFill>
                <a:latin typeface="Open Sans"/>
                <a:ea typeface="Open Sans"/>
                <a:cs typeface="Open Sans"/>
                <a:sym typeface="Open Sans"/>
              </a:rPr>
              <a:t>foloseste</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contractii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relaxari</a:t>
            </a:r>
            <a:r>
              <a:rPr lang="en-US" sz="2000">
                <a:solidFill>
                  <a:srgbClr val="FFFFFF"/>
                </a:solidFill>
                <a:latin typeface="Open Sans"/>
                <a:ea typeface="Open Sans"/>
                <a:cs typeface="Open Sans"/>
                <a:sym typeface="Open Sans"/>
              </a:rPr>
              <a:t> ale </a:t>
            </a:r>
            <a:r>
              <a:rPr lang="en-US" sz="2000" err="1">
                <a:solidFill>
                  <a:srgbClr val="FFFFFF"/>
                </a:solidFill>
                <a:latin typeface="Open Sans"/>
                <a:ea typeface="Open Sans"/>
                <a:cs typeface="Open Sans"/>
                <a:sym typeface="Open Sans"/>
              </a:rPr>
              <a:t>segmentelor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corpului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sau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moale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pentru</a:t>
            </a:r>
            <a:r>
              <a:rPr lang="en-US" sz="2000">
                <a:solidFill>
                  <a:srgbClr val="FFFFFF"/>
                </a:solidFill>
                <a:latin typeface="Open Sans"/>
                <a:ea typeface="Open Sans"/>
                <a:cs typeface="Open Sans"/>
                <a:sym typeface="Open Sans"/>
              </a:rPr>
              <a:t> a se </a:t>
            </a:r>
            <a:r>
              <a:rPr lang="en-US" sz="2000" err="1">
                <a:solidFill>
                  <a:srgbClr val="FFFFFF"/>
                </a:solidFill>
                <a:latin typeface="Open Sans"/>
                <a:ea typeface="Open Sans"/>
                <a:cs typeface="Open Sans"/>
                <a:sym typeface="Open Sans"/>
              </a:rPr>
              <a:t>deplasa</a:t>
            </a:r>
            <a:r>
              <a:rPr lang="en-US" sz="2000">
                <a:solidFill>
                  <a:srgbClr val="FFFFFF"/>
                </a:solidFill>
                <a:latin typeface="Open Sans"/>
                <a:ea typeface="Open Sans"/>
                <a:cs typeface="Open Sans"/>
                <a:sym typeface="Open Sans"/>
              </a:rPr>
              <a:t>. In </a:t>
            </a:r>
            <a:r>
              <a:rPr lang="en-US" sz="2000" err="1">
                <a:solidFill>
                  <a:srgbClr val="FFFFFF"/>
                </a:solidFill>
                <a:latin typeface="Open Sans"/>
                <a:ea typeface="Open Sans"/>
                <a:cs typeface="Open Sans"/>
                <a:sym typeface="Open Sans"/>
              </a:rPr>
              <a:t>timp</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serpii</a:t>
            </a:r>
            <a:r>
              <a:rPr lang="en-US" sz="2000">
                <a:solidFill>
                  <a:srgbClr val="FFFFFF"/>
                </a:solidFill>
                <a:latin typeface="Open Sans"/>
                <a:ea typeface="Open Sans"/>
                <a:cs typeface="Open Sans"/>
                <a:sym typeface="Open Sans"/>
              </a:rPr>
              <a:t>, se </a:t>
            </a:r>
            <a:r>
              <a:rPr lang="en-US" sz="2000" err="1">
                <a:solidFill>
                  <a:srgbClr val="FFFFFF"/>
                </a:solidFill>
                <a:latin typeface="Open Sans"/>
                <a:ea typeface="Open Sans"/>
                <a:cs typeface="Open Sans"/>
                <a:sym typeface="Open Sans"/>
              </a:rPr>
              <a:t>folosesc</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muschi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puternici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solzi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specializati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pentru</a:t>
            </a:r>
            <a:r>
              <a:rPr lang="en-US" sz="2000">
                <a:solidFill>
                  <a:srgbClr val="FFFFFF"/>
                </a:solidFill>
                <a:latin typeface="Open Sans"/>
                <a:ea typeface="Open Sans"/>
                <a:cs typeface="Open Sans"/>
                <a:sym typeface="Open Sans"/>
              </a:rPr>
              <a:t> a-</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genera </a:t>
            </a:r>
            <a:r>
              <a:rPr lang="en-US" sz="2000" err="1">
                <a:solidFill>
                  <a:srgbClr val="FFFFFF"/>
                </a:solidFill>
                <a:latin typeface="Open Sans"/>
                <a:ea typeface="Open Sans"/>
                <a:cs typeface="Open Sans"/>
                <a:sym typeface="Open Sans"/>
              </a:rPr>
              <a:t>miscarea</a:t>
            </a:r>
            <a:r>
              <a:rPr lang="en-US" sz="2000">
                <a:solidFill>
                  <a:srgbClr val="FFFFFF"/>
                </a:solidFill>
                <a:latin typeface="Open Sans"/>
                <a:ea typeface="Open Sans"/>
                <a:cs typeface="Open Sans"/>
                <a:sym typeface="Open Sans"/>
              </a:rPr>
              <a:t> in </a:t>
            </a:r>
            <a:r>
              <a:rPr lang="en-US" sz="2000" err="1">
                <a:solidFill>
                  <a:srgbClr val="FFFFFF"/>
                </a:solidFill>
                <a:latin typeface="Open Sans"/>
                <a:ea typeface="Open Sans"/>
                <a:cs typeface="Open Sans"/>
                <a:sym typeface="Open Sans"/>
              </a:rPr>
              <a:t>urma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mecanici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foarte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complexe</a:t>
            </a:r>
            <a:r>
              <a:rPr lang="en-US" sz="2000">
                <a:solidFill>
                  <a:srgbClr val="FFFFFF"/>
                </a:solidFill>
                <a:latin typeface="Open Sans"/>
                <a:ea typeface="Open Sans"/>
                <a:cs typeface="Open Sans"/>
                <a:sym typeface="Open Sans"/>
              </a:rPr>
              <a:t>.</a:t>
            </a:r>
          </a:p>
        </p:txBody>
      </p:sp>
      <p:sp>
        <p:nvSpPr>
          <p:cNvPr id="30" name="TextBox 30"/>
          <p:cNvSpPr txBox="1"/>
          <p:nvPr/>
        </p:nvSpPr>
        <p:spPr>
          <a:xfrm>
            <a:off x="2078359" y="6684175"/>
            <a:ext cx="13466440" cy="1974900"/>
          </a:xfrm>
          <a:prstGeom prst="rect">
            <a:avLst/>
          </a:prstGeom>
        </p:spPr>
        <p:txBody>
          <a:bodyPr wrap="square" lIns="0" tIns="0" rIns="0" bIns="0" rtlCol="0" anchor="t">
            <a:spAutoFit/>
          </a:bodyPr>
          <a:lstStyle/>
          <a:p>
            <a:pPr marL="0" lvl="0" indent="0" algn="l">
              <a:lnSpc>
                <a:spcPts val="1680"/>
              </a:lnSpc>
              <a:spcBef>
                <a:spcPct val="0"/>
              </a:spcBef>
            </a:pPr>
            <a:r>
              <a:rPr lang="en-US" sz="2000" err="1">
                <a:solidFill>
                  <a:srgbClr val="FFFFFF"/>
                </a:solidFill>
                <a:latin typeface="Open Sans"/>
                <a:ea typeface="Open Sans"/>
                <a:cs typeface="Open Sans"/>
                <a:sym typeface="Open Sans"/>
              </a:rPr>
              <a:t>Curand</a:t>
            </a:r>
            <a:r>
              <a:rPr lang="en-US" sz="2000">
                <a:solidFill>
                  <a:srgbClr val="FFFFFF"/>
                </a:solidFill>
                <a:latin typeface="Open Sans"/>
                <a:ea typeface="Open Sans"/>
                <a:cs typeface="Open Sans"/>
                <a:sym typeface="Open Sans"/>
              </a:rPr>
              <a:t> am </a:t>
            </a:r>
            <a:r>
              <a:rPr lang="en-US" sz="2000" err="1">
                <a:solidFill>
                  <a:srgbClr val="FFFFFF"/>
                </a:solidFill>
                <a:latin typeface="Open Sans"/>
                <a:ea typeface="Open Sans"/>
                <a:cs typeface="Open Sans"/>
                <a:sym typeface="Open Sans"/>
              </a:rPr>
              <a:t>inceput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sa</a:t>
            </a:r>
            <a:r>
              <a:rPr lang="en-US" sz="2000">
                <a:solidFill>
                  <a:srgbClr val="FFFFFF"/>
                </a:solidFill>
                <a:latin typeface="Open Sans"/>
                <a:ea typeface="Open Sans"/>
                <a:cs typeface="Open Sans"/>
                <a:sym typeface="Open Sans"/>
              </a:rPr>
              <a:t> ma </a:t>
            </a:r>
            <a:r>
              <a:rPr lang="en-US" sz="2000" err="1">
                <a:solidFill>
                  <a:srgbClr val="FFFFFF"/>
                </a:solidFill>
                <a:latin typeface="Open Sans"/>
                <a:ea typeface="Open Sans"/>
                <a:cs typeface="Open Sans"/>
                <a:sym typeface="Open Sans"/>
              </a:rPr>
              <a:t>lovesc</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limitarile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engineului</a:t>
            </a:r>
            <a:r>
              <a:rPr lang="en-US" sz="2000">
                <a:solidFill>
                  <a:srgbClr val="FFFFFF"/>
                </a:solidFill>
                <a:latin typeface="Open Sans"/>
                <a:ea typeface="Open Sans"/>
                <a:cs typeface="Open Sans"/>
                <a:sym typeface="Open Sans"/>
              </a:rPr>
              <a:t> Unity in </a:t>
            </a:r>
            <a:r>
              <a:rPr lang="en-US" sz="2000" err="1">
                <a:solidFill>
                  <a:srgbClr val="FFFFFF"/>
                </a:solidFill>
                <a:latin typeface="Open Sans"/>
                <a:ea typeface="Open Sans"/>
                <a:cs typeface="Open Sans"/>
                <a:sym typeface="Open Sans"/>
              </a:rPr>
              <a:t>acest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sens.</a:t>
            </a:r>
            <a:r>
              <a:rPr lang="en-US" sz="2000">
                <a:solidFill>
                  <a:srgbClr val="FFFFFF"/>
                </a:solidFill>
                <a:latin typeface="Open Sans"/>
                <a:ea typeface="Open Sans"/>
                <a:cs typeface="Open Sans"/>
                <a:sym typeface="Open Sans"/>
              </a:rPr>
              <a:t> </a:t>
            </a:r>
          </a:p>
          <a:p>
            <a:pPr marL="0" lvl="0" indent="0" algn="l">
              <a:lnSpc>
                <a:spcPts val="1680"/>
              </a:lnSpc>
              <a:spcBef>
                <a:spcPct val="0"/>
              </a:spcBef>
            </a:pPr>
            <a:endParaRPr lang="en-US" sz="2000">
              <a:solidFill>
                <a:srgbClr val="FFFFFF"/>
              </a:solidFill>
              <a:latin typeface="Open Sans"/>
              <a:ea typeface="Open Sans"/>
              <a:cs typeface="Open Sans"/>
              <a:sym typeface="Open Sans"/>
            </a:endParaRPr>
          </a:p>
          <a:p>
            <a:pPr marL="0" lvl="0" indent="0" algn="l">
              <a:spcBef>
                <a:spcPct val="0"/>
              </a:spcBef>
            </a:pPr>
            <a:r>
              <a:rPr lang="en-US" sz="2000" err="1">
                <a:solidFill>
                  <a:srgbClr val="FFFFFF"/>
                </a:solidFill>
                <a:latin typeface="Open Sans"/>
                <a:ea typeface="Open Sans"/>
                <a:cs typeface="Open Sans"/>
                <a:sym typeface="Open Sans"/>
              </a:rPr>
              <a:t>Corpul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viermelui</a:t>
            </a:r>
            <a:r>
              <a:rPr lang="en-US" sz="2000">
                <a:solidFill>
                  <a:srgbClr val="FFFFFF"/>
                </a:solidFill>
                <a:latin typeface="Open Sans"/>
                <a:ea typeface="Open Sans"/>
                <a:cs typeface="Open Sans"/>
                <a:sym typeface="Open Sans"/>
              </a:rPr>
              <a:t> l-am </a:t>
            </a:r>
            <a:r>
              <a:rPr lang="en-US" sz="2000" err="1">
                <a:solidFill>
                  <a:srgbClr val="FFFFFF"/>
                </a:solidFill>
                <a:latin typeface="Open Sans"/>
                <a:ea typeface="Open Sans"/>
                <a:cs typeface="Open Sans"/>
                <a:sym typeface="Open Sans"/>
              </a:rPr>
              <a:t>generat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folosind</a:t>
            </a:r>
            <a:r>
              <a:rPr lang="en-US" sz="2000">
                <a:solidFill>
                  <a:srgbClr val="FFFFFF"/>
                </a:solidFill>
                <a:latin typeface="Open Sans"/>
                <a:ea typeface="Open Sans"/>
                <a:cs typeface="Open Sans"/>
                <a:sym typeface="Open Sans"/>
              </a:rPr>
              <a:t> un script </a:t>
            </a:r>
            <a:r>
              <a:rPr lang="en-US" sz="2000" err="1">
                <a:solidFill>
                  <a:srgbClr val="FFFFFF"/>
                </a:solidFill>
                <a:latin typeface="Open Sans"/>
                <a:ea typeface="Open Sans"/>
                <a:cs typeface="Open Sans"/>
                <a:sym typeface="Open Sans"/>
              </a:rPr>
              <a:t>WormGenerator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rulat</a:t>
            </a:r>
            <a:r>
              <a:rPr lang="en-US" sz="2000">
                <a:solidFill>
                  <a:srgbClr val="FFFFFF"/>
                </a:solidFill>
                <a:latin typeface="Open Sans"/>
                <a:ea typeface="Open Sans"/>
                <a:cs typeface="Open Sans"/>
                <a:sym typeface="Open Sans"/>
              </a:rPr>
              <a:t> la </a:t>
            </a:r>
            <a:r>
              <a:rPr lang="en-US" sz="2000" err="1">
                <a:solidFill>
                  <a:srgbClr val="FFFFFF"/>
                </a:solidFill>
                <a:latin typeface="Open Sans"/>
                <a:ea typeface="Open Sans"/>
                <a:cs typeface="Open Sans"/>
                <a:sym typeface="Open Sans"/>
              </a:rPr>
              <a:t>inceputul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simularii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construit</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cilindrii</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servesc</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drept</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segmente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Insa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segmentele</a:t>
            </a:r>
            <a:r>
              <a:rPr lang="en-US" sz="2000">
                <a:solidFill>
                  <a:srgbClr val="FFFFFF"/>
                </a:solidFill>
                <a:latin typeface="Open Sans"/>
                <a:ea typeface="Open Sans"/>
                <a:cs typeface="Open Sans"/>
                <a:sym typeface="Open Sans"/>
              </a:rPr>
              <a:t> in Unity, nu au </a:t>
            </a:r>
            <a:r>
              <a:rPr lang="en-US" sz="2000" err="1">
                <a:solidFill>
                  <a:srgbClr val="FFFFFF"/>
                </a:solidFill>
                <a:latin typeface="Open Sans"/>
                <a:ea typeface="Open Sans"/>
                <a:cs typeface="Open Sans"/>
                <a:sym typeface="Open Sans"/>
              </a:rPr>
              <a:t>flexibilitate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si</a:t>
            </a:r>
            <a:r>
              <a:rPr lang="en-US" sz="2000">
                <a:solidFill>
                  <a:srgbClr val="FFFFFF"/>
                </a:solidFill>
                <a:latin typeface="Open Sans"/>
                <a:ea typeface="Open Sans"/>
                <a:cs typeface="Open Sans"/>
                <a:sym typeface="Open Sans"/>
              </a:rPr>
              <a:t> nu </a:t>
            </a:r>
            <a:r>
              <a:rPr lang="en-US" sz="2000" err="1">
                <a:solidFill>
                  <a:srgbClr val="FFFFFF"/>
                </a:solidFill>
                <a:latin typeface="Open Sans"/>
                <a:ea typeface="Open Sans"/>
                <a:cs typeface="Open Sans"/>
                <a:sym typeface="Open Sans"/>
              </a:rPr>
              <a:t>suporta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fizici</a:t>
            </a:r>
            <a:r>
              <a:rPr lang="en-US" sz="2000">
                <a:solidFill>
                  <a:srgbClr val="FFFFFF"/>
                </a:solidFill>
                <a:latin typeface="Open Sans"/>
                <a:ea typeface="Open Sans"/>
                <a:cs typeface="Open Sans"/>
                <a:sym typeface="Open Sans"/>
              </a:rPr>
              <a:t> precum </a:t>
            </a:r>
            <a:r>
              <a:rPr lang="en-US" sz="2000" err="1">
                <a:solidFill>
                  <a:srgbClr val="FFFFFF"/>
                </a:solidFill>
                <a:latin typeface="Open Sans"/>
                <a:ea typeface="Open Sans"/>
                <a:cs typeface="Open Sans"/>
                <a:sym typeface="Open Sans"/>
              </a:rPr>
              <a:t>cele</a:t>
            </a:r>
            <a:r>
              <a:rPr lang="en-US" sz="2000">
                <a:solidFill>
                  <a:srgbClr val="FFFFFF"/>
                </a:solidFill>
                <a:latin typeface="Open Sans"/>
                <a:ea typeface="Open Sans"/>
                <a:cs typeface="Open Sans"/>
                <a:sym typeface="Open Sans"/>
              </a:rPr>
              <a:t> din </a:t>
            </a:r>
            <a:r>
              <a:rPr lang="en-US" sz="2000" err="1">
                <a:solidFill>
                  <a:srgbClr val="FFFFFF"/>
                </a:solidFill>
                <a:latin typeface="Open Sans"/>
                <a:ea typeface="Open Sans"/>
                <a:cs typeface="Open Sans"/>
                <a:sym typeface="Open Sans"/>
              </a:rPr>
              <a:t>corpul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unui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vierme</a:t>
            </a:r>
            <a:r>
              <a:rPr lang="en-US" sz="2000">
                <a:solidFill>
                  <a:srgbClr val="FFFFFF"/>
                </a:solidFill>
                <a:latin typeface="Open Sans"/>
                <a:ea typeface="Open Sans"/>
                <a:cs typeface="Open Sans"/>
                <a:sym typeface="Open Sans"/>
              </a:rPr>
              <a:t> real. </a:t>
            </a:r>
            <a:r>
              <a:rPr lang="en-US" sz="2000" err="1">
                <a:solidFill>
                  <a:srgbClr val="FFFFFF"/>
                </a:solidFill>
                <a:latin typeface="Open Sans"/>
                <a:ea typeface="Open Sans"/>
                <a:cs typeface="Open Sans"/>
                <a:sym typeface="Open Sans"/>
              </a:rPr>
              <a:t>Asadar</a:t>
            </a:r>
            <a:r>
              <a:rPr lang="en-US" sz="2000">
                <a:solidFill>
                  <a:srgbClr val="FFFFFF"/>
                </a:solidFill>
                <a:latin typeface="Open Sans"/>
                <a:ea typeface="Open Sans"/>
                <a:cs typeface="Open Sans"/>
                <a:sym typeface="Open Sans"/>
              </a:rPr>
              <a:t> am </a:t>
            </a:r>
            <a:r>
              <a:rPr lang="en-US" sz="2000" err="1">
                <a:solidFill>
                  <a:srgbClr val="FFFFFF"/>
                </a:solidFill>
                <a:latin typeface="Open Sans"/>
                <a:ea typeface="Open Sans"/>
                <a:cs typeface="Open Sans"/>
                <a:sym typeface="Open Sans"/>
              </a:rPr>
              <a:t>pornit</a:t>
            </a:r>
            <a:r>
              <a:rPr lang="en-US" sz="2000">
                <a:solidFill>
                  <a:srgbClr val="FFFFFF"/>
                </a:solidFill>
                <a:latin typeface="Open Sans"/>
                <a:ea typeface="Open Sans"/>
                <a:cs typeface="Open Sans"/>
                <a:sym typeface="Open Sans"/>
              </a:rPr>
              <a:t> din start cu </a:t>
            </a:r>
            <a:r>
              <a:rPr lang="en-US" sz="2000" err="1">
                <a:solidFill>
                  <a:srgbClr val="FFFFFF"/>
                </a:solidFill>
                <a:latin typeface="Open Sans"/>
                <a:ea typeface="Open Sans"/>
                <a:cs typeface="Open Sans"/>
                <a:sym typeface="Open Sans"/>
              </a:rPr>
              <a:t>intentia</a:t>
            </a:r>
            <a:r>
              <a:rPr lang="en-US" sz="2000">
                <a:solidFill>
                  <a:srgbClr val="FFFFFF"/>
                </a:solidFill>
                <a:latin typeface="Open Sans"/>
                <a:ea typeface="Open Sans"/>
                <a:cs typeface="Open Sans"/>
                <a:sym typeface="Open Sans"/>
              </a:rPr>
              <a:t> de a </a:t>
            </a:r>
            <a:r>
              <a:rPr lang="en-US" sz="2000" err="1">
                <a:solidFill>
                  <a:srgbClr val="FFFFFF"/>
                </a:solidFill>
                <a:latin typeface="Open Sans"/>
                <a:ea typeface="Open Sans"/>
                <a:cs typeface="Open Sans"/>
                <a:sym typeface="Open Sans"/>
              </a:rPr>
              <a:t>crea</a:t>
            </a:r>
            <a:r>
              <a:rPr lang="en-US" sz="2000">
                <a:solidFill>
                  <a:srgbClr val="FFFFFF"/>
                </a:solidFill>
                <a:latin typeface="Open Sans"/>
                <a:ea typeface="Open Sans"/>
                <a:cs typeface="Open Sans"/>
                <a:sym typeface="Open Sans"/>
              </a:rPr>
              <a:t> o </a:t>
            </a:r>
            <a:r>
              <a:rPr lang="en-US" sz="2000" err="1">
                <a:solidFill>
                  <a:srgbClr val="FFFFFF"/>
                </a:solidFill>
                <a:latin typeface="Open Sans"/>
                <a:ea typeface="Open Sans"/>
                <a:cs typeface="Open Sans"/>
                <a:sym typeface="Open Sans"/>
              </a:rPr>
              <a:t>locomotie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bazata</a:t>
            </a:r>
            <a:r>
              <a:rPr lang="en-US" sz="2000">
                <a:solidFill>
                  <a:srgbClr val="FFFFFF"/>
                </a:solidFill>
                <a:latin typeface="Open Sans"/>
                <a:ea typeface="Open Sans"/>
                <a:cs typeface="Open Sans"/>
                <a:sym typeface="Open Sans"/>
              </a:rPr>
              <a:t> pe </a:t>
            </a:r>
            <a:r>
              <a:rPr lang="en-US" sz="2000" err="1">
                <a:solidFill>
                  <a:srgbClr val="FFFFFF"/>
                </a:solidFill>
                <a:latin typeface="Open Sans"/>
                <a:ea typeface="Open Sans"/>
                <a:cs typeface="Open Sans"/>
                <a:sym typeface="Open Sans"/>
              </a:rPr>
              <a:t>motoare</a:t>
            </a:r>
            <a:r>
              <a:rPr lang="en-US" sz="2000">
                <a:solidFill>
                  <a:srgbClr val="FFFFFF"/>
                </a:solidFill>
                <a:latin typeface="Open Sans"/>
                <a:ea typeface="Open Sans"/>
                <a:cs typeface="Open Sans"/>
                <a:sym typeface="Open Sans"/>
              </a:rPr>
              <a:t>                  ( </a:t>
            </a:r>
            <a:r>
              <a:rPr lang="en-US" sz="2000" err="1">
                <a:solidFill>
                  <a:srgbClr val="FFFFFF"/>
                </a:solidFill>
                <a:latin typeface="Open Sans"/>
                <a:ea typeface="Open Sans"/>
                <a:cs typeface="Open Sans"/>
                <a:sym typeface="Open Sans"/>
              </a:rPr>
              <a:t>WormMotor</a:t>
            </a:r>
            <a:r>
              <a:rPr lang="en-US" sz="2000">
                <a:solidFill>
                  <a:srgbClr val="FFFFFF"/>
                </a:solidFill>
                <a:latin typeface="Open Sans"/>
                <a:ea typeface="Open Sans"/>
                <a:cs typeface="Open Sans"/>
                <a:sym typeface="Open Sans"/>
              </a:rPr>
              <a:t> ), care </a:t>
            </a:r>
            <a:r>
              <a:rPr lang="en-US" sz="2000" err="1">
                <a:solidFill>
                  <a:srgbClr val="FFFFFF"/>
                </a:solidFill>
                <a:latin typeface="Open Sans"/>
                <a:ea typeface="Open Sans"/>
                <a:cs typeface="Open Sans"/>
                <a:sym typeface="Open Sans"/>
              </a:rPr>
              <a:t>functioneaza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asemenea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unor</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muschi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fiecare</a:t>
            </a:r>
            <a:r>
              <a:rPr lang="en-US" sz="2000">
                <a:solidFill>
                  <a:srgbClr val="FFFFFF"/>
                </a:solidFill>
                <a:latin typeface="Open Sans"/>
                <a:ea typeface="Open Sans"/>
                <a:cs typeface="Open Sans"/>
                <a:sym typeface="Open Sans"/>
              </a:rPr>
              <a:t> segment </a:t>
            </a:r>
            <a:r>
              <a:rPr lang="en-US" sz="2000" err="1">
                <a:solidFill>
                  <a:srgbClr val="FFFFFF"/>
                </a:solidFill>
                <a:latin typeface="Open Sans"/>
                <a:ea typeface="Open Sans"/>
                <a:cs typeface="Open Sans"/>
                <a:sym typeface="Open Sans"/>
              </a:rPr>
              <a:t>avand</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muschiul</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sau</a:t>
            </a:r>
            <a:r>
              <a:rPr lang="en-US" sz="2000">
                <a:solidFill>
                  <a:srgbClr val="FFFFFF"/>
                </a:solidFill>
                <a:latin typeface="Open Sans"/>
                <a:ea typeface="Open Sans"/>
                <a:cs typeface="Open Sans"/>
                <a:sym typeface="Open Sans"/>
              </a:rPr>
              <a:t> care </a:t>
            </a:r>
            <a:r>
              <a:rPr lang="en-US" sz="2000" err="1">
                <a:solidFill>
                  <a:srgbClr val="FFFFFF"/>
                </a:solidFill>
                <a:latin typeface="Open Sans"/>
                <a:ea typeface="Open Sans"/>
                <a:cs typeface="Open Sans"/>
                <a:sym typeface="Open Sans"/>
              </a:rPr>
              <a:t>isi</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aplica</a:t>
            </a:r>
            <a:r>
              <a:rPr lang="en-US" sz="2000">
                <a:solidFill>
                  <a:srgbClr val="FFFFFF"/>
                </a:solidFill>
                <a:latin typeface="Open Sans"/>
                <a:ea typeface="Open Sans"/>
                <a:cs typeface="Open Sans"/>
                <a:sym typeface="Open Sans"/>
              </a:rPr>
              <a:t> propria </a:t>
            </a:r>
            <a:r>
              <a:rPr lang="en-US" sz="2000" err="1">
                <a:solidFill>
                  <a:srgbClr val="FFFFFF"/>
                </a:solidFill>
                <a:latin typeface="Open Sans"/>
                <a:ea typeface="Open Sans"/>
                <a:cs typeface="Open Sans"/>
                <a:sym typeface="Open Sans"/>
              </a:rPr>
              <a:t>forta</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pentru</a:t>
            </a:r>
            <a:r>
              <a:rPr lang="en-US" sz="2000">
                <a:solidFill>
                  <a:srgbClr val="FFFFFF"/>
                </a:solidFill>
                <a:latin typeface="Open Sans"/>
                <a:ea typeface="Open Sans"/>
                <a:cs typeface="Open Sans"/>
                <a:sym typeface="Open Sans"/>
              </a:rPr>
              <a:t> a genera o </a:t>
            </a:r>
            <a:r>
              <a:rPr lang="en-US" sz="2000" err="1">
                <a:solidFill>
                  <a:srgbClr val="FFFFFF"/>
                </a:solidFill>
                <a:latin typeface="Open Sans"/>
                <a:ea typeface="Open Sans"/>
                <a:cs typeface="Open Sans"/>
                <a:sym typeface="Open Sans"/>
              </a:rPr>
              <a:t>unda</a:t>
            </a:r>
            <a:r>
              <a:rPr lang="en-US" sz="2000">
                <a:solidFill>
                  <a:srgbClr val="FFFFFF"/>
                </a:solidFill>
                <a:latin typeface="Open Sans"/>
                <a:ea typeface="Open Sans"/>
                <a:cs typeface="Open Sans"/>
                <a:sym typeface="Open Sans"/>
              </a:rPr>
              <a:t> de </a:t>
            </a:r>
            <a:r>
              <a:rPr lang="en-US" sz="2000" err="1">
                <a:solidFill>
                  <a:srgbClr val="FFFFFF"/>
                </a:solidFill>
                <a:latin typeface="Open Sans"/>
                <a:ea typeface="Open Sans"/>
                <a:cs typeface="Open Sans"/>
                <a:sym typeface="Open Sans"/>
              </a:rPr>
              <a:t>deplasare</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pentru</a:t>
            </a:r>
            <a:r>
              <a:rPr lang="en-US" sz="2000">
                <a:solidFill>
                  <a:srgbClr val="FFFFFF"/>
                </a:solidFill>
                <a:latin typeface="Open Sans"/>
                <a:ea typeface="Open Sans"/>
                <a:cs typeface="Open Sans"/>
                <a:sym typeface="Open Sans"/>
              </a:rPr>
              <a:t> </a:t>
            </a:r>
            <a:r>
              <a:rPr lang="en-US" sz="2000" err="1">
                <a:solidFill>
                  <a:srgbClr val="FFFFFF"/>
                </a:solidFill>
                <a:latin typeface="Open Sans"/>
                <a:ea typeface="Open Sans"/>
                <a:cs typeface="Open Sans"/>
                <a:sym typeface="Open Sans"/>
              </a:rPr>
              <a:t>intregul</a:t>
            </a:r>
            <a:r>
              <a:rPr lang="en-US" sz="2000">
                <a:solidFill>
                  <a:srgbClr val="FFFFFF"/>
                </a:solidFill>
                <a:latin typeface="Open Sans"/>
                <a:ea typeface="Open Sans"/>
                <a:cs typeface="Open Sans"/>
                <a:sym typeface="Open Sans"/>
              </a:rPr>
              <a:t> corp.</a:t>
            </a:r>
          </a:p>
        </p:txBody>
      </p:sp>
      <p:grpSp>
        <p:nvGrpSpPr>
          <p:cNvPr id="34" name="Group 34"/>
          <p:cNvGrpSpPr/>
          <p:nvPr/>
        </p:nvGrpSpPr>
        <p:grpSpPr>
          <a:xfrm>
            <a:off x="14604077" y="-266700"/>
            <a:ext cx="3265479" cy="4962047"/>
            <a:chOff x="101600" y="-38100"/>
            <a:chExt cx="429544" cy="652712"/>
          </a:xfrm>
        </p:grpSpPr>
        <p:sp>
          <p:nvSpPr>
            <p:cNvPr id="35" name="Freeform 35"/>
            <p:cNvSpPr/>
            <p:nvPr/>
          </p:nvSpPr>
          <p:spPr>
            <a:xfrm>
              <a:off x="124744" y="5012"/>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001BD1">
                    <a:alpha val="58000"/>
                  </a:srgbClr>
                </a:gs>
                <a:gs pos="100000">
                  <a:srgbClr val="0085FF">
                    <a:alpha val="0"/>
                  </a:srgbClr>
                </a:gs>
              </a:gsLst>
              <a:lin ang="0"/>
            </a:gradFill>
          </p:spPr>
        </p:sp>
        <p:sp>
          <p:nvSpPr>
            <p:cNvPr id="36" name="TextBox 36"/>
            <p:cNvSpPr txBox="1"/>
            <p:nvPr/>
          </p:nvSpPr>
          <p:spPr>
            <a:xfrm>
              <a:off x="101600" y="-38100"/>
              <a:ext cx="203200" cy="6477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5601146" y="2770522"/>
            <a:ext cx="1854690" cy="124256"/>
            <a:chOff x="0" y="0"/>
            <a:chExt cx="488478" cy="32726"/>
          </a:xfrm>
        </p:grpSpPr>
        <p:sp>
          <p:nvSpPr>
            <p:cNvPr id="16" name="Freeform 16"/>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7" name="TextBox 17"/>
            <p:cNvSpPr txBox="1"/>
            <p:nvPr/>
          </p:nvSpPr>
          <p:spPr>
            <a:xfrm>
              <a:off x="0" y="-38100"/>
              <a:ext cx="488478" cy="70826"/>
            </a:xfrm>
            <a:prstGeom prst="rect">
              <a:avLst/>
            </a:prstGeom>
          </p:spPr>
          <p:txBody>
            <a:bodyPr lIns="50800" tIns="50800" rIns="50800" bIns="50800" rtlCol="0" anchor="ctr"/>
            <a:lstStyle/>
            <a:p>
              <a:pPr marL="0" lvl="0" indent="0" algn="r">
                <a:lnSpc>
                  <a:spcPts val="2659"/>
                </a:lnSpc>
                <a:spcBef>
                  <a:spcPct val="0"/>
                </a:spcBef>
              </a:pPr>
              <a:endParaRPr/>
            </a:p>
          </p:txBody>
        </p:sp>
      </p:grpSp>
      <p:grpSp>
        <p:nvGrpSpPr>
          <p:cNvPr id="18" name="Group 18"/>
          <p:cNvGrpSpPr/>
          <p:nvPr/>
        </p:nvGrpSpPr>
        <p:grpSpPr>
          <a:xfrm>
            <a:off x="5892861" y="4539795"/>
            <a:ext cx="1502223" cy="1502223"/>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139700" y="101600"/>
              <a:ext cx="533400" cy="571500"/>
            </a:xfrm>
            <a:prstGeom prst="rect">
              <a:avLst/>
            </a:prstGeom>
          </p:spPr>
          <p:txBody>
            <a:bodyPr lIns="50800" tIns="50800" rIns="50800" bIns="50800" rtlCol="0" anchor="ctr"/>
            <a:lstStyle/>
            <a:p>
              <a:pPr marL="0" lvl="0" indent="0" algn="ctr">
                <a:lnSpc>
                  <a:spcPts val="2659"/>
                </a:lnSpc>
              </a:pPr>
              <a:endParaRPr/>
            </a:p>
          </p:txBody>
        </p:sp>
      </p:grpSp>
      <p:sp>
        <p:nvSpPr>
          <p:cNvPr id="21" name="TextBox 21"/>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9/16</a:t>
            </a:r>
          </a:p>
        </p:txBody>
      </p:sp>
      <p:sp>
        <p:nvSpPr>
          <p:cNvPr id="22" name="TextBox 22"/>
          <p:cNvSpPr txBox="1"/>
          <p:nvPr/>
        </p:nvSpPr>
        <p:spPr>
          <a:xfrm>
            <a:off x="2622922" y="1490228"/>
            <a:ext cx="8271613" cy="1107098"/>
          </a:xfrm>
          <a:prstGeom prst="rect">
            <a:avLst/>
          </a:prstGeom>
        </p:spPr>
        <p:txBody>
          <a:bodyPr lIns="0" tIns="0" rIns="0" bIns="0" rtlCol="0" anchor="t">
            <a:spAutoFit/>
          </a:bodyPr>
          <a:lstStyle/>
          <a:p>
            <a:pPr marL="0" lvl="0" indent="0" algn="ctr">
              <a:spcBef>
                <a:spcPct val="0"/>
              </a:spcBef>
            </a:pPr>
            <a:r>
              <a:rPr lang="en-US" sz="3597" err="1">
                <a:solidFill>
                  <a:srgbClr val="FFFFFF"/>
                </a:solidFill>
                <a:latin typeface="Pattanakarn"/>
                <a:ea typeface="Pattanakarn"/>
                <a:cs typeface="Pattanakarn"/>
                <a:sym typeface="Pattanakarn"/>
              </a:rPr>
              <a:t>Locomotie</a:t>
            </a:r>
            <a:r>
              <a:rPr lang="en-US" sz="3597">
                <a:solidFill>
                  <a:srgbClr val="FFFFFF"/>
                </a:solidFill>
                <a:latin typeface="Pattanakarn"/>
                <a:ea typeface="Pattanakarn"/>
                <a:cs typeface="Pattanakarn"/>
                <a:sym typeface="Pattanakarn"/>
              </a:rPr>
              <a:t> “root motion versus procedural secondary motion”</a:t>
            </a:r>
          </a:p>
        </p:txBody>
      </p:sp>
      <p:grpSp>
        <p:nvGrpSpPr>
          <p:cNvPr id="23" name="Group 23"/>
          <p:cNvGrpSpPr/>
          <p:nvPr/>
        </p:nvGrpSpPr>
        <p:grpSpPr>
          <a:xfrm>
            <a:off x="13961306" y="4678138"/>
            <a:ext cx="1502223" cy="1502223"/>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gradFill rotWithShape="1">
              <a:gsLst>
                <a:gs pos="0">
                  <a:srgbClr val="0085FF">
                    <a:alpha val="0"/>
                  </a:srgbClr>
                </a:gs>
                <a:gs pos="100000">
                  <a:srgbClr val="001BD1">
                    <a:alpha val="58000"/>
                  </a:srgbClr>
                </a:gs>
              </a:gsLst>
              <a:lin ang="0"/>
            </a:gradFill>
          </p:spPr>
        </p:sp>
        <p:sp>
          <p:nvSpPr>
            <p:cNvPr id="25" name="TextBox 25"/>
            <p:cNvSpPr txBox="1"/>
            <p:nvPr/>
          </p:nvSpPr>
          <p:spPr>
            <a:xfrm>
              <a:off x="139700" y="101600"/>
              <a:ext cx="533400" cy="571500"/>
            </a:xfrm>
            <a:prstGeom prst="rect">
              <a:avLst/>
            </a:prstGeom>
          </p:spPr>
          <p:txBody>
            <a:bodyPr lIns="50800" tIns="50800" rIns="50800" bIns="50800" rtlCol="0" anchor="ctr"/>
            <a:lstStyle/>
            <a:p>
              <a:pPr marL="0" lvl="0" indent="0" algn="ctr">
                <a:lnSpc>
                  <a:spcPts val="2659"/>
                </a:lnSpc>
              </a:pPr>
              <a:endParaRPr/>
            </a:p>
          </p:txBody>
        </p:sp>
      </p:grpSp>
      <p:sp>
        <p:nvSpPr>
          <p:cNvPr id="31" name="TextBox 30">
            <a:extLst>
              <a:ext uri="{FF2B5EF4-FFF2-40B4-BE49-F238E27FC236}">
                <a16:creationId xmlns:a16="http://schemas.microsoft.com/office/drawing/2014/main" id="{3AB54659-3AB0-9976-40C9-B0DAD57D7A80}"/>
              </a:ext>
            </a:extLst>
          </p:cNvPr>
          <p:cNvSpPr txBox="1"/>
          <p:nvPr/>
        </p:nvSpPr>
        <p:spPr>
          <a:xfrm>
            <a:off x="1538236" y="3534159"/>
            <a:ext cx="10714139" cy="1323439"/>
          </a:xfrm>
          <a:prstGeom prst="rect">
            <a:avLst/>
          </a:prstGeom>
          <a:noFill/>
        </p:spPr>
        <p:txBody>
          <a:bodyPr wrap="square" rtlCol="0">
            <a:spAutoFit/>
          </a:bodyPr>
          <a:lstStyle/>
          <a:p>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Locomotia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initiala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folosea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fizica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precum se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poate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observa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imaginea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din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dreapta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insa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aceasta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s-a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dovedit</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inconsistenta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cele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din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urma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am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aflat</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ca 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industria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gamingului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se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foloseste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des “ root motion versus procedural secondary motion”, pe care am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implementat</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-o.</a:t>
            </a:r>
          </a:p>
        </p:txBody>
      </p:sp>
      <p:sp>
        <p:nvSpPr>
          <p:cNvPr id="32" name="TextBox 31">
            <a:extLst>
              <a:ext uri="{FF2B5EF4-FFF2-40B4-BE49-F238E27FC236}">
                <a16:creationId xmlns:a16="http://schemas.microsoft.com/office/drawing/2014/main" id="{3EE1CBF9-5145-6692-7110-B7030BC7138D}"/>
              </a:ext>
            </a:extLst>
          </p:cNvPr>
          <p:cNvSpPr txBox="1"/>
          <p:nvPr/>
        </p:nvSpPr>
        <p:spPr>
          <a:xfrm>
            <a:off x="1526934" y="5840896"/>
            <a:ext cx="10566933" cy="2862322"/>
          </a:xfrm>
          <a:prstGeom prst="rect">
            <a:avLst/>
          </a:prstGeom>
          <a:noFill/>
        </p:spPr>
        <p:txBody>
          <a:bodyPr wrap="square" rtlCol="0">
            <a:spAutoFit/>
          </a:bodyPr>
          <a:lstStyle/>
          <a:p>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Noua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locomotie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functioneaza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astfel</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p>
          <a:p>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Este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impartita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doua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straturi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independente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miscarea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radacina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 root motion )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miscarea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secundara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procedurala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O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singura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transformare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de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baza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controlata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direct de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iesirea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sistemului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nervos</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artificial )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defineste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traiesctoria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reala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agentului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prin</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mediu</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prin</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translatie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cinematica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fara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implicarea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fortelor</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fizica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Segmentele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corpului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sunt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urmaritori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cinematici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fiecare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segment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esantioneaza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traseul</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parcurs</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recent de cap la o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distanta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fixa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urma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acestuia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producand</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exact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traiectoria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viermelui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in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timp</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o mica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deplasarea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perpendiculara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sub forma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unei</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unde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sinusoidale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este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suprapusa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exclusive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pentru</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a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crea</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effect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fizual</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de </a:t>
            </a:r>
            <a:r>
              <a:rPr lang="en-US" sz="2000" err="1">
                <a:solidFill>
                  <a:schemeClr val="bg1"/>
                </a:solidFill>
                <a:latin typeface="Open Sans" panose="020B0606030504020204" pitchFamily="34" charset="0"/>
                <a:ea typeface="Open Sans" panose="020B0606030504020204" pitchFamily="34" charset="0"/>
                <a:cs typeface="Open Sans" panose="020B0606030504020204" pitchFamily="34" charset="0"/>
              </a:rPr>
              <a:t>ondulare</a:t>
            </a:r>
            <a:r>
              <a:rPr lang="en-US" sz="2000">
                <a:solidFill>
                  <a:schemeClr val="bg1"/>
                </a:solidFill>
                <a:latin typeface="Open Sans" panose="020B0606030504020204" pitchFamily="34" charset="0"/>
                <a:ea typeface="Open Sans" panose="020B0606030504020204" pitchFamily="34" charset="0"/>
                <a:cs typeface="Open Sans" panose="020B0606030504020204" pitchFamily="34" charset="0"/>
              </a:rPr>
              <a:t> cosmetic.</a:t>
            </a:r>
          </a:p>
        </p:txBody>
      </p:sp>
      <p:pic>
        <p:nvPicPr>
          <p:cNvPr id="9" name="Picture 8">
            <a:extLst>
              <a:ext uri="{FF2B5EF4-FFF2-40B4-BE49-F238E27FC236}">
                <a16:creationId xmlns:a16="http://schemas.microsoft.com/office/drawing/2014/main" id="{1940D4EA-D84B-4837-CF4D-BDE6A5B1C6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50498" y="3639948"/>
            <a:ext cx="4439378" cy="35786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1165316" y="1807499"/>
            <a:ext cx="6431287" cy="5895116"/>
            <a:chOff x="0" y="0"/>
            <a:chExt cx="665044" cy="609600"/>
          </a:xfrm>
        </p:grpSpPr>
        <p:sp>
          <p:nvSpPr>
            <p:cNvPr id="13" name="Freeform 13"/>
            <p:cNvSpPr/>
            <p:nvPr/>
          </p:nvSpPr>
          <p:spPr>
            <a:xfrm>
              <a:off x="0" y="0"/>
              <a:ext cx="665044" cy="609600"/>
            </a:xfrm>
            <a:custGeom>
              <a:avLst/>
              <a:gdLst/>
              <a:ahLst/>
              <a:cxnLst/>
              <a:rect l="l" t="t" r="r" b="b"/>
              <a:pathLst>
                <a:path w="665044" h="609600">
                  <a:moveTo>
                    <a:pt x="461844" y="0"/>
                  </a:moveTo>
                  <a:lnTo>
                    <a:pt x="0" y="0"/>
                  </a:lnTo>
                  <a:lnTo>
                    <a:pt x="203200" y="609600"/>
                  </a:lnTo>
                  <a:lnTo>
                    <a:pt x="665044" y="609600"/>
                  </a:lnTo>
                  <a:lnTo>
                    <a:pt x="461844" y="0"/>
                  </a:lnTo>
                  <a:close/>
                </a:path>
              </a:pathLst>
            </a:custGeom>
            <a:gradFill rotWithShape="1">
              <a:gsLst>
                <a:gs pos="0">
                  <a:srgbClr val="001BD1">
                    <a:alpha val="58000"/>
                  </a:srgbClr>
                </a:gs>
                <a:gs pos="100000">
                  <a:srgbClr val="0085FF">
                    <a:alpha val="0"/>
                  </a:srgbClr>
                </a:gs>
              </a:gsLst>
              <a:lin ang="0"/>
            </a:gradFill>
          </p:spPr>
        </p:sp>
        <p:sp>
          <p:nvSpPr>
            <p:cNvPr id="14" name="TextBox 14"/>
            <p:cNvSpPr txBox="1"/>
            <p:nvPr/>
          </p:nvSpPr>
          <p:spPr>
            <a:xfrm>
              <a:off x="101600" y="-38100"/>
              <a:ext cx="461844" cy="647700"/>
            </a:xfrm>
            <a:prstGeom prst="rect">
              <a:avLst/>
            </a:prstGeom>
          </p:spPr>
          <p:txBody>
            <a:bodyPr lIns="50800" tIns="50800" rIns="50800" bIns="50800" rtlCol="0" anchor="ctr"/>
            <a:lstStyle/>
            <a:p>
              <a:pPr marL="0" lvl="0" indent="0" algn="ctr">
                <a:lnSpc>
                  <a:spcPts val="2659"/>
                </a:lnSpc>
              </a:pPr>
              <a:endParaRPr/>
            </a:p>
          </p:txBody>
        </p:sp>
      </p:grpSp>
      <p:grpSp>
        <p:nvGrpSpPr>
          <p:cNvPr id="19" name="Group 19"/>
          <p:cNvGrpSpPr/>
          <p:nvPr/>
        </p:nvGrpSpPr>
        <p:grpSpPr>
          <a:xfrm>
            <a:off x="12524916" y="2768461"/>
            <a:ext cx="1854690" cy="124256"/>
            <a:chOff x="0" y="0"/>
            <a:chExt cx="488478" cy="32726"/>
          </a:xfrm>
        </p:grpSpPr>
        <p:sp>
          <p:nvSpPr>
            <p:cNvPr id="20" name="Freeform 20"/>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1" name="TextBox 21"/>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2" name="TextBox 22"/>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10/16</a:t>
            </a:r>
          </a:p>
        </p:txBody>
      </p:sp>
      <p:sp>
        <p:nvSpPr>
          <p:cNvPr id="23" name="TextBox 23"/>
          <p:cNvSpPr txBox="1"/>
          <p:nvPr/>
        </p:nvSpPr>
        <p:spPr>
          <a:xfrm>
            <a:off x="11293014" y="2171967"/>
            <a:ext cx="4863151" cy="577081"/>
          </a:xfrm>
          <a:prstGeom prst="rect">
            <a:avLst/>
          </a:prstGeom>
        </p:spPr>
        <p:txBody>
          <a:bodyPr wrap="square" lIns="0" tIns="0" rIns="0" bIns="0" rtlCol="0" anchor="t">
            <a:spAutoFit/>
          </a:bodyPr>
          <a:lstStyle/>
          <a:p>
            <a:pPr marL="0" lvl="0" indent="0" algn="l">
              <a:lnSpc>
                <a:spcPts val="4429"/>
              </a:lnSpc>
              <a:spcBef>
                <a:spcPct val="0"/>
              </a:spcBef>
            </a:pPr>
            <a:r>
              <a:rPr lang="en-US" sz="4000" err="1">
                <a:solidFill>
                  <a:srgbClr val="FFFFFF"/>
                </a:solidFill>
                <a:latin typeface="Pattanakarn"/>
                <a:ea typeface="Pattanakarn"/>
                <a:cs typeface="Pattanakarn"/>
                <a:sym typeface="Pattanakarn"/>
              </a:rPr>
              <a:t>Sistemul</a:t>
            </a:r>
            <a:r>
              <a:rPr lang="en-US" sz="4000">
                <a:solidFill>
                  <a:srgbClr val="FFFFFF"/>
                </a:solidFill>
                <a:latin typeface="Pattanakarn"/>
                <a:ea typeface="Pattanakarn"/>
                <a:cs typeface="Pattanakarn"/>
                <a:sym typeface="Pattanakarn"/>
              </a:rPr>
              <a:t> de </a:t>
            </a:r>
            <a:r>
              <a:rPr lang="en-US" sz="4000" err="1">
                <a:solidFill>
                  <a:srgbClr val="FFFFFF"/>
                </a:solidFill>
                <a:latin typeface="Pattanakarn"/>
                <a:ea typeface="Pattanakarn"/>
                <a:cs typeface="Pattanakarn"/>
                <a:sym typeface="Pattanakarn"/>
              </a:rPr>
              <a:t>foame</a:t>
            </a:r>
            <a:endParaRPr lang="en-US" sz="4000">
              <a:solidFill>
                <a:srgbClr val="FFFFFF"/>
              </a:solidFill>
              <a:latin typeface="Pattanakarn"/>
              <a:ea typeface="Pattanakarn"/>
              <a:cs typeface="Pattanakarn"/>
              <a:sym typeface="Pattanakarn"/>
            </a:endParaRPr>
          </a:p>
        </p:txBody>
      </p:sp>
      <p:sp>
        <p:nvSpPr>
          <p:cNvPr id="27" name="TextBox 27"/>
          <p:cNvSpPr txBox="1"/>
          <p:nvPr/>
        </p:nvSpPr>
        <p:spPr>
          <a:xfrm>
            <a:off x="9906000" y="3395035"/>
            <a:ext cx="7782631" cy="923330"/>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Foamea este modelata ca o singura variabila de stare interna continua, care creste automat in timp, reprezentand impulsul fiziologic de baza al agentului.</a:t>
            </a:r>
          </a:p>
        </p:txBody>
      </p:sp>
      <p:sp>
        <p:nvSpPr>
          <p:cNvPr id="32" name="TextBox 32"/>
          <p:cNvSpPr txBox="1"/>
          <p:nvPr/>
        </p:nvSpPr>
        <p:spPr>
          <a:xfrm>
            <a:off x="9906000" y="5642696"/>
            <a:ext cx="7591440" cy="3385542"/>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Din aceasta singura valoare apar trei moduri comportamentale : - Normal, Flamand ( care creste viteza de miscare si mentine activa cautarea de hrana ) , si Satul ( Saturated ), un mod scurt de odihna la viteza redusa, in care agentul intra imediat dupa hranire. Mancatul reduce direct foamea, iar modul satul se termina odata ce aceasta creste din nou peste un prag stabilit, moment in care cautarea normala de hrana se reia automat. Daca foamea atinge maximul fara a fi satisfacuta, agentul moare, transformand-o pe aceasta, dintr-un indicator pasiv, intr-o constrangere reala de supravietuire care ofera comportamentului agentului un obiectiv concret.</a:t>
            </a:r>
          </a:p>
        </p:txBody>
      </p:sp>
      <p:grpSp>
        <p:nvGrpSpPr>
          <p:cNvPr id="52" name="Group 24"/>
          <p:cNvGrpSpPr/>
          <p:nvPr/>
        </p:nvGrpSpPr>
        <p:grpSpPr>
          <a:xfrm>
            <a:off x="8986255" y="3517824"/>
            <a:ext cx="677751" cy="677751"/>
            <a:chOff x="0" y="0"/>
            <a:chExt cx="812800" cy="812800"/>
          </a:xfrm>
        </p:grpSpPr>
        <p:sp>
          <p:nvSpPr>
            <p:cNvPr id="53" name="Freeform 2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54" name="TextBox 26"/>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34" name="Group 29">
            <a:extLst>
              <a:ext uri="{FF2B5EF4-FFF2-40B4-BE49-F238E27FC236}">
                <a16:creationId xmlns:a16="http://schemas.microsoft.com/office/drawing/2014/main" id="{856F1075-A22B-F0CF-E0D8-8AC39FDBA79A}"/>
              </a:ext>
            </a:extLst>
          </p:cNvPr>
          <p:cNvGrpSpPr/>
          <p:nvPr/>
        </p:nvGrpSpPr>
        <p:grpSpPr>
          <a:xfrm>
            <a:off x="8986255" y="6256347"/>
            <a:ext cx="677751" cy="677751"/>
            <a:chOff x="0" y="0"/>
            <a:chExt cx="812800" cy="812800"/>
          </a:xfrm>
        </p:grpSpPr>
        <p:sp>
          <p:nvSpPr>
            <p:cNvPr id="35" name="Freeform 30">
              <a:extLst>
                <a:ext uri="{FF2B5EF4-FFF2-40B4-BE49-F238E27FC236}">
                  <a16:creationId xmlns:a16="http://schemas.microsoft.com/office/drawing/2014/main" id="{DBB6BA1A-F659-F517-3CC0-11E8FEBE25C1}"/>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36" name="TextBox 31">
              <a:extLst>
                <a:ext uri="{FF2B5EF4-FFF2-40B4-BE49-F238E27FC236}">
                  <a16:creationId xmlns:a16="http://schemas.microsoft.com/office/drawing/2014/main" id="{17908AA1-E740-4A22-CFEB-9488B5B9C86B}"/>
                </a:ext>
              </a:extLst>
            </p:cNvPr>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28" name="Group 12">
            <a:extLst>
              <a:ext uri="{FF2B5EF4-FFF2-40B4-BE49-F238E27FC236}">
                <a16:creationId xmlns:a16="http://schemas.microsoft.com/office/drawing/2014/main" id="{E032C3A5-5B68-86B5-86C2-F70B62830DD5}"/>
              </a:ext>
            </a:extLst>
          </p:cNvPr>
          <p:cNvGrpSpPr/>
          <p:nvPr/>
        </p:nvGrpSpPr>
        <p:grpSpPr>
          <a:xfrm flipV="1">
            <a:off x="1135746" y="3201486"/>
            <a:ext cx="6431287" cy="5895116"/>
            <a:chOff x="0" y="0"/>
            <a:chExt cx="665044" cy="609600"/>
          </a:xfrm>
        </p:grpSpPr>
        <p:sp>
          <p:nvSpPr>
            <p:cNvPr id="29" name="Freeform 13">
              <a:extLst>
                <a:ext uri="{FF2B5EF4-FFF2-40B4-BE49-F238E27FC236}">
                  <a16:creationId xmlns:a16="http://schemas.microsoft.com/office/drawing/2014/main" id="{AFA0343B-5832-13AD-CC86-BFEF6444ED84}"/>
                </a:ext>
              </a:extLst>
            </p:cNvPr>
            <p:cNvSpPr/>
            <p:nvPr/>
          </p:nvSpPr>
          <p:spPr>
            <a:xfrm>
              <a:off x="0" y="0"/>
              <a:ext cx="665044" cy="609600"/>
            </a:xfrm>
            <a:custGeom>
              <a:avLst/>
              <a:gdLst/>
              <a:ahLst/>
              <a:cxnLst/>
              <a:rect l="l" t="t" r="r" b="b"/>
              <a:pathLst>
                <a:path w="665044" h="609600">
                  <a:moveTo>
                    <a:pt x="461844" y="0"/>
                  </a:moveTo>
                  <a:lnTo>
                    <a:pt x="0" y="0"/>
                  </a:lnTo>
                  <a:lnTo>
                    <a:pt x="203200" y="609600"/>
                  </a:lnTo>
                  <a:lnTo>
                    <a:pt x="665044" y="609600"/>
                  </a:lnTo>
                  <a:lnTo>
                    <a:pt x="461844" y="0"/>
                  </a:lnTo>
                  <a:close/>
                </a:path>
              </a:pathLst>
            </a:custGeom>
            <a:gradFill rotWithShape="1">
              <a:gsLst>
                <a:gs pos="0">
                  <a:srgbClr val="001BD1">
                    <a:alpha val="58000"/>
                  </a:srgbClr>
                </a:gs>
                <a:gs pos="100000">
                  <a:srgbClr val="0085FF">
                    <a:alpha val="0"/>
                  </a:srgbClr>
                </a:gs>
              </a:gsLst>
              <a:lin ang="0"/>
            </a:gradFill>
          </p:spPr>
        </p:sp>
        <p:sp>
          <p:nvSpPr>
            <p:cNvPr id="30" name="TextBox 14">
              <a:extLst>
                <a:ext uri="{FF2B5EF4-FFF2-40B4-BE49-F238E27FC236}">
                  <a16:creationId xmlns:a16="http://schemas.microsoft.com/office/drawing/2014/main" id="{9CD5F2D8-8AC6-6387-28FA-6D42895E8A74}"/>
                </a:ext>
              </a:extLst>
            </p:cNvPr>
            <p:cNvSpPr txBox="1"/>
            <p:nvPr/>
          </p:nvSpPr>
          <p:spPr>
            <a:xfrm>
              <a:off x="101600" y="-38100"/>
              <a:ext cx="461844" cy="647700"/>
            </a:xfrm>
            <a:prstGeom prst="rect">
              <a:avLst/>
            </a:prstGeom>
          </p:spPr>
          <p:txBody>
            <a:bodyPr lIns="50800" tIns="50800" rIns="50800" bIns="50800" rtlCol="0" anchor="ctr"/>
            <a:lstStyle/>
            <a:p>
              <a:pPr marL="0" lvl="0" indent="0" algn="ctr">
                <a:lnSpc>
                  <a:spcPts val="2659"/>
                </a:lnSpc>
              </a:pPr>
              <a:endParaRPr/>
            </a:p>
          </p:txBody>
        </p:sp>
      </p:grpSp>
      <p:pic>
        <p:nvPicPr>
          <p:cNvPr id="10" name="Picture 9">
            <a:extLst>
              <a:ext uri="{FF2B5EF4-FFF2-40B4-BE49-F238E27FC236}">
                <a16:creationId xmlns:a16="http://schemas.microsoft.com/office/drawing/2014/main" id="{63071984-4440-7CDC-D759-78C876A758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813" y="3478112"/>
            <a:ext cx="5619252" cy="38991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11402417" y="21720"/>
            <a:ext cx="5856883" cy="5033259"/>
            <a:chOff x="0" y="0"/>
            <a:chExt cx="812800" cy="698500"/>
          </a:xfrm>
        </p:grpSpPr>
        <p:sp>
          <p:nvSpPr>
            <p:cNvPr id="10" name="Freeform 1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3"/>
              <a:stretch>
                <a:fillRect l="-3129" r="-3129"/>
              </a:stretch>
            </a:blipFill>
          </p:spPr>
        </p:sp>
      </p:grpSp>
      <p:grpSp>
        <p:nvGrpSpPr>
          <p:cNvPr id="11" name="Group 11"/>
          <p:cNvGrpSpPr/>
          <p:nvPr/>
        </p:nvGrpSpPr>
        <p:grpSpPr>
          <a:xfrm>
            <a:off x="11402417" y="5253741"/>
            <a:ext cx="5856883" cy="5033259"/>
            <a:chOff x="0" y="0"/>
            <a:chExt cx="812800" cy="698500"/>
          </a:xfrm>
        </p:grpSpPr>
        <p:sp>
          <p:nvSpPr>
            <p:cNvPr id="12" name="Freeform 1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4"/>
              <a:stretch>
                <a:fillRect l="-3129" r="-3129"/>
              </a:stretch>
            </a:blipFill>
          </p:spPr>
        </p:sp>
      </p:grpSp>
      <p:grpSp>
        <p:nvGrpSpPr>
          <p:cNvPr id="13" name="Group 13"/>
          <p:cNvGrpSpPr/>
          <p:nvPr/>
        </p:nvGrpSpPr>
        <p:grpSpPr>
          <a:xfrm>
            <a:off x="5612018" y="0"/>
            <a:ext cx="5856883" cy="5033259"/>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5"/>
              <a:stretch>
                <a:fillRect l="-3129" r="-3129"/>
              </a:stretch>
            </a:blipFill>
          </p:spPr>
        </p:sp>
      </p:grpSp>
      <p:grpSp>
        <p:nvGrpSpPr>
          <p:cNvPr id="15" name="Group 15"/>
          <p:cNvGrpSpPr/>
          <p:nvPr/>
        </p:nvGrpSpPr>
        <p:grpSpPr>
          <a:xfrm>
            <a:off x="1934840" y="2917257"/>
            <a:ext cx="1854690" cy="124256"/>
            <a:chOff x="0" y="0"/>
            <a:chExt cx="488478" cy="32726"/>
          </a:xfrm>
        </p:grpSpPr>
        <p:sp>
          <p:nvSpPr>
            <p:cNvPr id="16" name="Freeform 16"/>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7" name="TextBox 17"/>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934840" y="4016442"/>
            <a:ext cx="273855" cy="273855"/>
            <a:chOff x="0" y="0"/>
            <a:chExt cx="72126" cy="72126"/>
          </a:xfrm>
        </p:grpSpPr>
        <p:sp>
          <p:nvSpPr>
            <p:cNvPr id="19" name="Freeform 19"/>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1934840" y="5710285"/>
            <a:ext cx="273855" cy="273855"/>
            <a:chOff x="0" y="0"/>
            <a:chExt cx="72126" cy="72126"/>
          </a:xfrm>
        </p:grpSpPr>
        <p:sp>
          <p:nvSpPr>
            <p:cNvPr id="22" name="Freeform 22"/>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3" name="TextBox 23"/>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4" name="Group 24"/>
          <p:cNvGrpSpPr/>
          <p:nvPr/>
        </p:nvGrpSpPr>
        <p:grpSpPr>
          <a:xfrm>
            <a:off x="1934840" y="8252251"/>
            <a:ext cx="273855" cy="273855"/>
            <a:chOff x="0" y="0"/>
            <a:chExt cx="72126" cy="72126"/>
          </a:xfrm>
        </p:grpSpPr>
        <p:sp>
          <p:nvSpPr>
            <p:cNvPr id="25" name="Freeform 25"/>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6" name="TextBox 26"/>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sp>
        <p:nvSpPr>
          <p:cNvPr id="30" name="TextBox 30"/>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11/16</a:t>
            </a:r>
          </a:p>
        </p:txBody>
      </p:sp>
      <p:sp>
        <p:nvSpPr>
          <p:cNvPr id="31" name="TextBox 31"/>
          <p:cNvSpPr txBox="1"/>
          <p:nvPr/>
        </p:nvSpPr>
        <p:spPr>
          <a:xfrm>
            <a:off x="1934840" y="2008180"/>
            <a:ext cx="4456741" cy="589905"/>
          </a:xfrm>
          <a:prstGeom prst="rect">
            <a:avLst/>
          </a:prstGeom>
        </p:spPr>
        <p:txBody>
          <a:bodyPr lIns="0" tIns="0" rIns="0" bIns="0" rtlCol="0" anchor="t">
            <a:spAutoFit/>
          </a:bodyPr>
          <a:lstStyle/>
          <a:p>
            <a:pPr marL="0" lvl="0" indent="0" algn="l">
              <a:lnSpc>
                <a:spcPts val="4640"/>
              </a:lnSpc>
              <a:spcBef>
                <a:spcPct val="0"/>
              </a:spcBef>
            </a:pPr>
            <a:r>
              <a:rPr lang="en-US" sz="3600">
                <a:solidFill>
                  <a:srgbClr val="FFFFFF"/>
                </a:solidFill>
                <a:latin typeface="Pattanakarn"/>
                <a:ea typeface="Pattanakarn"/>
                <a:cs typeface="Pattanakarn"/>
                <a:sym typeface="Pattanakarn"/>
              </a:rPr>
              <a:t>Semnalele chimice</a:t>
            </a:r>
          </a:p>
        </p:txBody>
      </p:sp>
      <p:sp>
        <p:nvSpPr>
          <p:cNvPr id="32" name="TextBox 32"/>
          <p:cNvSpPr txBox="1"/>
          <p:nvPr/>
        </p:nvSpPr>
        <p:spPr>
          <a:xfrm>
            <a:off x="2458464" y="3997392"/>
            <a:ext cx="8780183" cy="1231106"/>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Semnalele chimice reprezinta canalul senzorial unificator din spatele a trei comportamente diferite in BioSimAI, toate bazate pe acelasi mechanism : o sursa emite un camp de concentratie, iar  agentul percepe gradient in acel camp, nu evenimente discrete. </a:t>
            </a:r>
          </a:p>
        </p:txBody>
      </p:sp>
      <p:sp>
        <p:nvSpPr>
          <p:cNvPr id="33" name="TextBox 33"/>
          <p:cNvSpPr txBox="1"/>
          <p:nvPr/>
        </p:nvSpPr>
        <p:spPr>
          <a:xfrm>
            <a:off x="2458464" y="5691235"/>
            <a:ext cx="10454125" cy="2154436"/>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Fiecare sursa de hrana emite un miros modelat ca un camp de concentratie radial, perceput de agent pe partea stanga si dreapta, permitandu-i sa isi orienteze miscarea spre partea cu gradient mai puternic.</a:t>
            </a:r>
          </a:p>
          <a:p>
            <a:pPr marL="0" lvl="0" indent="0" algn="l">
              <a:spcBef>
                <a:spcPct val="0"/>
              </a:spcBef>
            </a:pPr>
            <a:r>
              <a:rPr lang="en-US" sz="2000">
                <a:solidFill>
                  <a:srgbClr val="FFFFFF"/>
                </a:solidFill>
                <a:latin typeface="Open Sans"/>
                <a:ea typeface="Open Sans"/>
                <a:cs typeface="Open Sans"/>
                <a:sym typeface="Open Sans"/>
              </a:rPr>
              <a:t>Traseu chimic auto depus – viermele depune continuu un marker chimic de-a lungul propriului traseu si va percepe concentratiile acestuia din apropiere. Evitarea conelor cu concentratie mare din propriul traseu favorizeza explorarea unor zone noi, iar mediul insusi devine o forma de memorie, fara ca agentul sa retina vreo harta interna.</a:t>
            </a:r>
          </a:p>
        </p:txBody>
      </p:sp>
      <p:sp>
        <p:nvSpPr>
          <p:cNvPr id="34" name="TextBox 34"/>
          <p:cNvSpPr txBox="1"/>
          <p:nvPr/>
        </p:nvSpPr>
        <p:spPr>
          <a:xfrm>
            <a:off x="2432414" y="8080255"/>
            <a:ext cx="9835786" cy="1231106"/>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Unele surse de hrana vor avea o semnatura chimica diferita, Astfel, stratul de decizie al agentului va trebui sa invete, ce semnaturi prezic un rezultat bun, si care un rezultat rau, un process apropiat de invatarea chemo senzoriala reala din organisme simple.</a:t>
            </a:r>
          </a:p>
        </p:txBody>
      </p:sp>
      <p:grpSp>
        <p:nvGrpSpPr>
          <p:cNvPr id="35" name="Group 35"/>
          <p:cNvGrpSpPr/>
          <p:nvPr/>
        </p:nvGrpSpPr>
        <p:grpSpPr>
          <a:xfrm>
            <a:off x="15800202" y="1705195"/>
            <a:ext cx="1888429" cy="1622868"/>
            <a:chOff x="0" y="0"/>
            <a:chExt cx="812800" cy="698500"/>
          </a:xfrm>
        </p:grpSpPr>
        <p:sp>
          <p:nvSpPr>
            <p:cNvPr id="36" name="Freeform 3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001BD1">
                    <a:alpha val="58000"/>
                  </a:srgbClr>
                </a:gs>
                <a:gs pos="100000">
                  <a:srgbClr val="0085FF">
                    <a:alpha val="0"/>
                  </a:srgbClr>
                </a:gs>
              </a:gsLst>
              <a:lin ang="0"/>
            </a:gradFill>
          </p:spPr>
        </p:sp>
        <p:sp>
          <p:nvSpPr>
            <p:cNvPr id="37" name="TextBox 37"/>
            <p:cNvSpPr txBox="1"/>
            <p:nvPr/>
          </p:nvSpPr>
          <p:spPr>
            <a:xfrm>
              <a:off x="114300" y="-38100"/>
              <a:ext cx="584200" cy="736600"/>
            </a:xfrm>
            <a:prstGeom prst="rect">
              <a:avLst/>
            </a:prstGeom>
          </p:spPr>
          <p:txBody>
            <a:bodyPr lIns="50800" tIns="50800" rIns="50800" bIns="50800" rtlCol="0" anchor="ctr"/>
            <a:lstStyle/>
            <a:p>
              <a:pPr marL="0" lvl="0" indent="0" algn="ctr">
                <a:lnSpc>
                  <a:spcPts val="2659"/>
                </a:lnSpc>
              </a:pPr>
              <a:endParaRPr/>
            </a:p>
          </p:txBody>
        </p:sp>
      </p:grpSp>
      <p:grpSp>
        <p:nvGrpSpPr>
          <p:cNvPr id="38" name="Group 38"/>
          <p:cNvGrpSpPr/>
          <p:nvPr/>
        </p:nvGrpSpPr>
        <p:grpSpPr>
          <a:xfrm>
            <a:off x="15800202" y="6958936"/>
            <a:ext cx="1888429" cy="1622868"/>
            <a:chOff x="0" y="0"/>
            <a:chExt cx="812800" cy="698500"/>
          </a:xfrm>
        </p:grpSpPr>
        <p:sp>
          <p:nvSpPr>
            <p:cNvPr id="39" name="Freeform 3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001BD1">
                    <a:alpha val="58000"/>
                  </a:srgbClr>
                </a:gs>
                <a:gs pos="100000">
                  <a:srgbClr val="0085FF">
                    <a:alpha val="0"/>
                  </a:srgbClr>
                </a:gs>
              </a:gsLst>
              <a:lin ang="0"/>
            </a:gradFill>
          </p:spPr>
        </p:sp>
        <p:sp>
          <p:nvSpPr>
            <p:cNvPr id="40" name="TextBox 40"/>
            <p:cNvSpPr txBox="1"/>
            <p:nvPr/>
          </p:nvSpPr>
          <p:spPr>
            <a:xfrm>
              <a:off x="114300" y="-38100"/>
              <a:ext cx="584200" cy="7366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7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solidFill>
                <a:schemeClr val="accent5"/>
              </a:solidFill>
            </a:endParaRPr>
          </a:p>
        </p:txBody>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9" name="Group 19"/>
          <p:cNvGrpSpPr/>
          <p:nvPr/>
        </p:nvGrpSpPr>
        <p:grpSpPr>
          <a:xfrm>
            <a:off x="8537139" y="1323000"/>
            <a:ext cx="1854690" cy="124256"/>
            <a:chOff x="0" y="0"/>
            <a:chExt cx="488478" cy="32726"/>
          </a:xfrm>
        </p:grpSpPr>
        <p:sp>
          <p:nvSpPr>
            <p:cNvPr id="20" name="Freeform 20"/>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1" name="TextBox 21"/>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2" name="TextBox 22"/>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12/16</a:t>
            </a:r>
          </a:p>
        </p:txBody>
      </p:sp>
      <p:sp>
        <p:nvSpPr>
          <p:cNvPr id="23" name="TextBox 23"/>
          <p:cNvSpPr txBox="1"/>
          <p:nvPr/>
        </p:nvSpPr>
        <p:spPr>
          <a:xfrm>
            <a:off x="7142036" y="827050"/>
            <a:ext cx="5029200" cy="820738"/>
          </a:xfrm>
          <a:prstGeom prst="rect">
            <a:avLst/>
          </a:prstGeom>
        </p:spPr>
        <p:txBody>
          <a:bodyPr wrap="square" lIns="0" tIns="0" rIns="0" bIns="0" rtlCol="0" anchor="t">
            <a:spAutoFit/>
          </a:bodyPr>
          <a:lstStyle/>
          <a:p>
            <a:pPr marL="0" lvl="0" indent="0" algn="l">
              <a:lnSpc>
                <a:spcPts val="3163"/>
              </a:lnSpc>
              <a:spcBef>
                <a:spcPct val="0"/>
              </a:spcBef>
            </a:pPr>
            <a:r>
              <a:rPr lang="en-US" sz="3600" err="1">
                <a:solidFill>
                  <a:srgbClr val="FFFFFF"/>
                </a:solidFill>
                <a:latin typeface="Pattanakarn"/>
                <a:ea typeface="Pattanakarn"/>
                <a:cs typeface="Pattanakarn"/>
                <a:sym typeface="Pattanakarn"/>
              </a:rPr>
              <a:t>Sistemul</a:t>
            </a:r>
            <a:r>
              <a:rPr lang="en-US" sz="3600">
                <a:solidFill>
                  <a:srgbClr val="FFFFFF"/>
                </a:solidFill>
                <a:latin typeface="Pattanakarn"/>
                <a:ea typeface="Pattanakarn"/>
                <a:cs typeface="Pattanakarn"/>
                <a:sym typeface="Pattanakarn"/>
              </a:rPr>
              <a:t> de </a:t>
            </a:r>
            <a:r>
              <a:rPr lang="en-US" sz="3600" err="1">
                <a:solidFill>
                  <a:srgbClr val="FFFFFF"/>
                </a:solidFill>
                <a:latin typeface="Pattanakarn"/>
                <a:ea typeface="Pattanakarn"/>
                <a:cs typeface="Pattanakarn"/>
                <a:sym typeface="Pattanakarn"/>
              </a:rPr>
              <a:t>decizie</a:t>
            </a:r>
            <a:endParaRPr lang="en-US" sz="3600">
              <a:solidFill>
                <a:srgbClr val="FFFFFF"/>
              </a:solidFill>
              <a:latin typeface="Pattanakarn"/>
              <a:ea typeface="Pattanakarn"/>
              <a:cs typeface="Pattanakarn"/>
              <a:sym typeface="Pattanakarn"/>
            </a:endParaRPr>
          </a:p>
          <a:p>
            <a:pPr marL="0" lvl="0" indent="0" algn="l">
              <a:lnSpc>
                <a:spcPts val="3163"/>
              </a:lnSpc>
              <a:spcBef>
                <a:spcPct val="0"/>
              </a:spcBef>
            </a:pPr>
            <a:endParaRPr lang="en-US" sz="2259">
              <a:solidFill>
                <a:srgbClr val="FFFFFF"/>
              </a:solidFill>
              <a:latin typeface="Pattanakarn"/>
              <a:ea typeface="Pattanakarn"/>
              <a:cs typeface="Pattanakarn"/>
              <a:sym typeface="Pattanakarn"/>
            </a:endParaRPr>
          </a:p>
        </p:txBody>
      </p:sp>
      <p:sp>
        <p:nvSpPr>
          <p:cNvPr id="27" name="TextBox 27"/>
          <p:cNvSpPr txBox="1"/>
          <p:nvPr/>
        </p:nvSpPr>
        <p:spPr>
          <a:xfrm>
            <a:off x="4444474" y="4118958"/>
            <a:ext cx="4092665" cy="241669"/>
          </a:xfrm>
          <a:prstGeom prst="rect">
            <a:avLst/>
          </a:prstGeom>
        </p:spPr>
        <p:txBody>
          <a:bodyPr wrap="square" lIns="0" tIns="0" rIns="0" bIns="0" rtlCol="0" anchor="t">
            <a:spAutoFit/>
          </a:bodyPr>
          <a:lstStyle/>
          <a:p>
            <a:pPr marL="0" lvl="0" indent="0" algn="l">
              <a:lnSpc>
                <a:spcPts val="1680"/>
              </a:lnSpc>
              <a:spcBef>
                <a:spcPct val="0"/>
              </a:spcBef>
            </a:pPr>
            <a:r>
              <a:rPr lang="en-US" sz="2200" b="1">
                <a:solidFill>
                  <a:schemeClr val="accent5"/>
                </a:solidFill>
                <a:latin typeface="Aptos" panose="020B0004020202020204" pitchFamily="34" charset="0"/>
                <a:ea typeface="Open Sans"/>
                <a:cs typeface="Open Sans"/>
                <a:sym typeface="Open Sans"/>
              </a:rPr>
              <a:t>Option A : Supervised Learning</a:t>
            </a:r>
            <a:endParaRPr lang="en-US" sz="2200" b="1">
              <a:solidFill>
                <a:schemeClr val="accent1"/>
              </a:solidFill>
              <a:latin typeface="Aptos" panose="020B0004020202020204" pitchFamily="34" charset="0"/>
              <a:ea typeface="Open Sans"/>
              <a:cs typeface="Open Sans"/>
              <a:sym typeface="Open Sans"/>
            </a:endParaRPr>
          </a:p>
        </p:txBody>
      </p:sp>
      <p:sp>
        <p:nvSpPr>
          <p:cNvPr id="32" name="TextBox 32"/>
          <p:cNvSpPr txBox="1"/>
          <p:nvPr/>
        </p:nvSpPr>
        <p:spPr>
          <a:xfrm>
            <a:off x="12198925" y="4108369"/>
            <a:ext cx="5489706" cy="238079"/>
          </a:xfrm>
          <a:prstGeom prst="rect">
            <a:avLst/>
          </a:prstGeom>
        </p:spPr>
        <p:txBody>
          <a:bodyPr wrap="square" lIns="0" tIns="0" rIns="0" bIns="0" rtlCol="0" anchor="t">
            <a:spAutoFit/>
          </a:bodyPr>
          <a:lstStyle/>
          <a:p>
            <a:pPr marL="0" lvl="0" indent="0" algn="l">
              <a:lnSpc>
                <a:spcPts val="1680"/>
              </a:lnSpc>
              <a:spcBef>
                <a:spcPct val="0"/>
              </a:spcBef>
            </a:pPr>
            <a:r>
              <a:rPr lang="en-US" sz="2100" b="1">
                <a:solidFill>
                  <a:schemeClr val="accent5"/>
                </a:solidFill>
                <a:latin typeface="Aptos" panose="020B0004020202020204" pitchFamily="34" charset="0"/>
                <a:ea typeface="Open Sans"/>
                <a:cs typeface="Open Sans"/>
                <a:sym typeface="Open Sans"/>
              </a:rPr>
              <a:t>Option B : </a:t>
            </a:r>
            <a:r>
              <a:rPr lang="en-US" sz="2100" b="1" err="1">
                <a:solidFill>
                  <a:schemeClr val="accent5"/>
                </a:solidFill>
                <a:latin typeface="Aptos" panose="020B0004020202020204" pitchFamily="34" charset="0"/>
                <a:ea typeface="Open Sans"/>
                <a:cs typeface="Open Sans"/>
                <a:sym typeface="Open Sans"/>
              </a:rPr>
              <a:t>Neuroevolution</a:t>
            </a:r>
            <a:r>
              <a:rPr lang="en-US" sz="2100" b="1">
                <a:solidFill>
                  <a:schemeClr val="accent5"/>
                </a:solidFill>
                <a:latin typeface="Aptos" panose="020B0004020202020204" pitchFamily="34" charset="0"/>
                <a:ea typeface="Open Sans"/>
                <a:cs typeface="Open Sans"/>
                <a:sym typeface="Open Sans"/>
              </a:rPr>
              <a:t> / genetic algorithm</a:t>
            </a:r>
            <a:endParaRPr lang="en-US" sz="2100" b="1">
              <a:solidFill>
                <a:srgbClr val="FFFFFF"/>
              </a:solidFill>
              <a:latin typeface="Aptos" panose="020B0004020202020204" pitchFamily="34" charset="0"/>
              <a:ea typeface="Open Sans"/>
              <a:cs typeface="Open Sans"/>
              <a:sym typeface="Open Sans"/>
            </a:endParaRPr>
          </a:p>
        </p:txBody>
      </p:sp>
      <p:sp>
        <p:nvSpPr>
          <p:cNvPr id="35" name="TextBox 34">
            <a:extLst>
              <a:ext uri="{FF2B5EF4-FFF2-40B4-BE49-F238E27FC236}">
                <a16:creationId xmlns:a16="http://schemas.microsoft.com/office/drawing/2014/main" id="{AF831F25-FAAE-0A77-5652-1136D2807AD2}"/>
              </a:ext>
            </a:extLst>
          </p:cNvPr>
          <p:cNvSpPr txBox="1"/>
          <p:nvPr/>
        </p:nvSpPr>
        <p:spPr>
          <a:xfrm>
            <a:off x="3674936" y="1643757"/>
            <a:ext cx="12243677" cy="553998"/>
          </a:xfrm>
          <a:prstGeom prst="rect">
            <a:avLst/>
          </a:prstGeom>
          <a:noFill/>
        </p:spPr>
        <p:txBody>
          <a:bodyPr wrap="square" rtlCol="0">
            <a:spAutoFit/>
          </a:bodyPr>
          <a:lstStyle/>
          <a:p>
            <a:r>
              <a:rPr lang="en-US" sz="3000" err="1">
                <a:solidFill>
                  <a:schemeClr val="bg1"/>
                </a:solidFill>
                <a:latin typeface="Pattanakarn" panose="020B0604020202020204" charset="-34"/>
                <a:cs typeface="Pattanakarn" panose="020B0604020202020204" charset="-34"/>
              </a:rPr>
              <a:t>Implementarea</a:t>
            </a:r>
            <a:r>
              <a:rPr lang="en-US" sz="3000">
                <a:solidFill>
                  <a:schemeClr val="bg1"/>
                </a:solidFill>
                <a:latin typeface="Pattanakarn" panose="020B0604020202020204" charset="-34"/>
                <a:cs typeface="Pattanakarn" panose="020B0604020202020204" charset="-34"/>
              </a:rPr>
              <a:t> </a:t>
            </a:r>
            <a:r>
              <a:rPr lang="en-US" sz="3000" err="1">
                <a:solidFill>
                  <a:schemeClr val="bg1"/>
                </a:solidFill>
                <a:latin typeface="Pattanakarn" panose="020B0604020202020204" charset="-34"/>
                <a:cs typeface="Pattanakarn" panose="020B0604020202020204" charset="-34"/>
              </a:rPr>
              <a:t>retelei</a:t>
            </a:r>
            <a:r>
              <a:rPr lang="en-US" sz="3000">
                <a:solidFill>
                  <a:schemeClr val="bg1"/>
                </a:solidFill>
                <a:latin typeface="Pattanakarn" panose="020B0604020202020204" charset="-34"/>
                <a:cs typeface="Pattanakarn" panose="020B0604020202020204" charset="-34"/>
              </a:rPr>
              <a:t> </a:t>
            </a:r>
            <a:r>
              <a:rPr lang="en-US" sz="3000" err="1">
                <a:solidFill>
                  <a:schemeClr val="bg1"/>
                </a:solidFill>
                <a:latin typeface="Pattanakarn" panose="020B0604020202020204" charset="-34"/>
                <a:cs typeface="Pattanakarn" panose="020B0604020202020204" charset="-34"/>
              </a:rPr>
              <a:t>neuronale</a:t>
            </a:r>
            <a:r>
              <a:rPr lang="en-US" sz="3000">
                <a:solidFill>
                  <a:schemeClr val="bg1"/>
                </a:solidFill>
                <a:latin typeface="Pattanakarn" panose="020B0604020202020204" charset="-34"/>
                <a:cs typeface="Pattanakarn" panose="020B0604020202020204" charset="-34"/>
              </a:rPr>
              <a:t>, </a:t>
            </a:r>
            <a:r>
              <a:rPr lang="en-US" sz="3000" err="1">
                <a:solidFill>
                  <a:schemeClr val="bg1"/>
                </a:solidFill>
                <a:latin typeface="Pattanakarn" panose="020B0604020202020204" charset="-34"/>
                <a:cs typeface="Pattanakarn" panose="020B0604020202020204" charset="-34"/>
              </a:rPr>
              <a:t>si</a:t>
            </a:r>
            <a:r>
              <a:rPr lang="en-US" sz="3000">
                <a:solidFill>
                  <a:schemeClr val="bg1"/>
                </a:solidFill>
                <a:latin typeface="Pattanakarn" panose="020B0604020202020204" charset="-34"/>
                <a:cs typeface="Pattanakarn" panose="020B0604020202020204" charset="-34"/>
              </a:rPr>
              <a:t> </a:t>
            </a:r>
            <a:r>
              <a:rPr lang="en-US" sz="3000" err="1">
                <a:solidFill>
                  <a:schemeClr val="bg1"/>
                </a:solidFill>
                <a:latin typeface="Pattanakarn" panose="020B0604020202020204" charset="-34"/>
                <a:cs typeface="Pattanakarn" panose="020B0604020202020204" charset="-34"/>
              </a:rPr>
              <a:t>optiuni</a:t>
            </a:r>
            <a:r>
              <a:rPr lang="en-US" sz="3000">
                <a:solidFill>
                  <a:schemeClr val="bg1"/>
                </a:solidFill>
                <a:latin typeface="Pattanakarn" panose="020B0604020202020204" charset="-34"/>
                <a:cs typeface="Pattanakarn" panose="020B0604020202020204" charset="-34"/>
              </a:rPr>
              <a:t> de </a:t>
            </a:r>
            <a:r>
              <a:rPr lang="en-US" sz="3000" err="1">
                <a:solidFill>
                  <a:schemeClr val="bg1"/>
                </a:solidFill>
                <a:latin typeface="Pattanakarn" panose="020B0604020202020204" charset="-34"/>
                <a:cs typeface="Pattanakarn" panose="020B0604020202020204" charset="-34"/>
              </a:rPr>
              <a:t>retea</a:t>
            </a:r>
            <a:r>
              <a:rPr lang="en-US" sz="3000">
                <a:solidFill>
                  <a:schemeClr val="bg1"/>
                </a:solidFill>
                <a:latin typeface="Pattanakarn" panose="020B0604020202020204" charset="-34"/>
                <a:cs typeface="Pattanakarn" panose="020B0604020202020204" charset="-34"/>
              </a:rPr>
              <a:t> </a:t>
            </a:r>
            <a:r>
              <a:rPr lang="en-US" sz="3000" err="1">
                <a:solidFill>
                  <a:schemeClr val="bg1"/>
                </a:solidFill>
                <a:latin typeface="Pattanakarn" panose="020B0604020202020204" charset="-34"/>
                <a:cs typeface="Pattanakarn" panose="020B0604020202020204" charset="-34"/>
              </a:rPr>
              <a:t>neuronala</a:t>
            </a:r>
            <a:endParaRPr lang="en-US" sz="3000">
              <a:solidFill>
                <a:schemeClr val="bg1"/>
              </a:solidFill>
              <a:latin typeface="Pattanakarn" panose="020B0604020202020204" charset="-34"/>
              <a:cs typeface="Pattanakarn" panose="020B0604020202020204" charset="-34"/>
            </a:endParaRPr>
          </a:p>
        </p:txBody>
      </p:sp>
      <p:grpSp>
        <p:nvGrpSpPr>
          <p:cNvPr id="36" name="Group 9">
            <a:extLst>
              <a:ext uri="{FF2B5EF4-FFF2-40B4-BE49-F238E27FC236}">
                <a16:creationId xmlns:a16="http://schemas.microsoft.com/office/drawing/2014/main" id="{409FEEF7-42EB-EEE2-8240-3803330D4FF2}"/>
              </a:ext>
            </a:extLst>
          </p:cNvPr>
          <p:cNvGrpSpPr/>
          <p:nvPr/>
        </p:nvGrpSpPr>
        <p:grpSpPr>
          <a:xfrm>
            <a:off x="1996411" y="4011525"/>
            <a:ext cx="2025340" cy="2059603"/>
            <a:chOff x="428079" y="-221093"/>
            <a:chExt cx="895934" cy="911091"/>
          </a:xfrm>
        </p:grpSpPr>
        <p:sp>
          <p:nvSpPr>
            <p:cNvPr id="43" name="Freeform 10">
              <a:extLst>
                <a:ext uri="{FF2B5EF4-FFF2-40B4-BE49-F238E27FC236}">
                  <a16:creationId xmlns:a16="http://schemas.microsoft.com/office/drawing/2014/main" id="{46ABC4DB-8C7F-E51D-C144-2836512DA397}"/>
                </a:ext>
              </a:extLst>
            </p:cNvPr>
            <p:cNvSpPr/>
            <p:nvPr/>
          </p:nvSpPr>
          <p:spPr>
            <a:xfrm>
              <a:off x="428079" y="-221093"/>
              <a:ext cx="895934" cy="911091"/>
            </a:xfrm>
            <a:custGeom>
              <a:avLst/>
              <a:gdLst/>
              <a:ahLst/>
              <a:cxnLst/>
              <a:rect l="l" t="t" r="r" b="b"/>
              <a:pathLst>
                <a:path w="895934" h="911091">
                  <a:moveTo>
                    <a:pt x="0" y="0"/>
                  </a:moveTo>
                  <a:lnTo>
                    <a:pt x="895934" y="0"/>
                  </a:lnTo>
                  <a:lnTo>
                    <a:pt x="895934" y="911091"/>
                  </a:lnTo>
                  <a:lnTo>
                    <a:pt x="0" y="911091"/>
                  </a:lnTo>
                  <a:close/>
                </a:path>
              </a:pathLst>
            </a:custGeom>
            <a:blipFill>
              <a:blip r:embed="rId3"/>
              <a:stretch>
                <a:fillRect l="-845" r="-845"/>
              </a:stretch>
            </a:blipFill>
          </p:spPr>
        </p:sp>
      </p:grpSp>
      <p:grpSp>
        <p:nvGrpSpPr>
          <p:cNvPr id="44" name="Group 14">
            <a:extLst>
              <a:ext uri="{FF2B5EF4-FFF2-40B4-BE49-F238E27FC236}">
                <a16:creationId xmlns:a16="http://schemas.microsoft.com/office/drawing/2014/main" id="{37A19459-DD11-3BAC-FFF4-D0F58603549D}"/>
              </a:ext>
            </a:extLst>
          </p:cNvPr>
          <p:cNvGrpSpPr/>
          <p:nvPr/>
        </p:nvGrpSpPr>
        <p:grpSpPr>
          <a:xfrm>
            <a:off x="9750861" y="7058116"/>
            <a:ext cx="2025340" cy="2059603"/>
            <a:chOff x="446380" y="-138102"/>
            <a:chExt cx="895934" cy="911091"/>
          </a:xfrm>
        </p:grpSpPr>
        <p:sp>
          <p:nvSpPr>
            <p:cNvPr id="45" name="Freeform 15">
              <a:extLst>
                <a:ext uri="{FF2B5EF4-FFF2-40B4-BE49-F238E27FC236}">
                  <a16:creationId xmlns:a16="http://schemas.microsoft.com/office/drawing/2014/main" id="{26B88268-85AF-1352-50F0-4C8754AB2EF6}"/>
                </a:ext>
              </a:extLst>
            </p:cNvPr>
            <p:cNvSpPr/>
            <p:nvPr/>
          </p:nvSpPr>
          <p:spPr>
            <a:xfrm>
              <a:off x="446380" y="-138102"/>
              <a:ext cx="895934" cy="911091"/>
            </a:xfrm>
            <a:custGeom>
              <a:avLst/>
              <a:gdLst/>
              <a:ahLst/>
              <a:cxnLst/>
              <a:rect l="l" t="t" r="r" b="b"/>
              <a:pathLst>
                <a:path w="895934" h="911091">
                  <a:moveTo>
                    <a:pt x="0" y="0"/>
                  </a:moveTo>
                  <a:lnTo>
                    <a:pt x="895934" y="0"/>
                  </a:lnTo>
                  <a:lnTo>
                    <a:pt x="895934" y="911091"/>
                  </a:lnTo>
                  <a:lnTo>
                    <a:pt x="0" y="911091"/>
                  </a:lnTo>
                  <a:close/>
                </a:path>
              </a:pathLst>
            </a:custGeom>
            <a:blipFill>
              <a:blip r:embed="rId4"/>
              <a:stretch>
                <a:fillRect l="-845" r="-845"/>
              </a:stretch>
            </a:blipFill>
          </p:spPr>
        </p:sp>
      </p:grpSp>
      <p:grpSp>
        <p:nvGrpSpPr>
          <p:cNvPr id="46" name="Group 19">
            <a:extLst>
              <a:ext uri="{FF2B5EF4-FFF2-40B4-BE49-F238E27FC236}">
                <a16:creationId xmlns:a16="http://schemas.microsoft.com/office/drawing/2014/main" id="{395B9FA5-7648-9441-4938-28FFA96E1335}"/>
              </a:ext>
            </a:extLst>
          </p:cNvPr>
          <p:cNvGrpSpPr/>
          <p:nvPr/>
        </p:nvGrpSpPr>
        <p:grpSpPr>
          <a:xfrm>
            <a:off x="9750861" y="4011525"/>
            <a:ext cx="2025340" cy="2059603"/>
            <a:chOff x="0" y="0"/>
            <a:chExt cx="895934" cy="911091"/>
          </a:xfrm>
        </p:grpSpPr>
        <p:sp>
          <p:nvSpPr>
            <p:cNvPr id="47" name="Freeform 20">
              <a:extLst>
                <a:ext uri="{FF2B5EF4-FFF2-40B4-BE49-F238E27FC236}">
                  <a16:creationId xmlns:a16="http://schemas.microsoft.com/office/drawing/2014/main" id="{1716114E-E440-0E44-BF1F-FE09149DDF64}"/>
                </a:ext>
              </a:extLst>
            </p:cNvPr>
            <p:cNvSpPr/>
            <p:nvPr/>
          </p:nvSpPr>
          <p:spPr>
            <a:xfrm>
              <a:off x="0" y="0"/>
              <a:ext cx="895934" cy="911091"/>
            </a:xfrm>
            <a:custGeom>
              <a:avLst/>
              <a:gdLst/>
              <a:ahLst/>
              <a:cxnLst/>
              <a:rect l="l" t="t" r="r" b="b"/>
              <a:pathLst>
                <a:path w="895934" h="911091">
                  <a:moveTo>
                    <a:pt x="0" y="0"/>
                  </a:moveTo>
                  <a:lnTo>
                    <a:pt x="895934" y="0"/>
                  </a:lnTo>
                  <a:lnTo>
                    <a:pt x="895934" y="911091"/>
                  </a:lnTo>
                  <a:lnTo>
                    <a:pt x="0" y="911091"/>
                  </a:lnTo>
                  <a:close/>
                </a:path>
              </a:pathLst>
            </a:custGeom>
            <a:blipFill>
              <a:blip r:embed="rId5"/>
              <a:stretch>
                <a:fillRect l="-845" r="-845"/>
              </a:stretch>
            </a:blipFill>
          </p:spPr>
        </p:sp>
      </p:grpSp>
      <p:grpSp>
        <p:nvGrpSpPr>
          <p:cNvPr id="48" name="Group 24">
            <a:extLst>
              <a:ext uri="{FF2B5EF4-FFF2-40B4-BE49-F238E27FC236}">
                <a16:creationId xmlns:a16="http://schemas.microsoft.com/office/drawing/2014/main" id="{C946F4AA-902E-98FA-E6A8-744F3E35F39A}"/>
              </a:ext>
            </a:extLst>
          </p:cNvPr>
          <p:cNvGrpSpPr/>
          <p:nvPr/>
        </p:nvGrpSpPr>
        <p:grpSpPr>
          <a:xfrm>
            <a:off x="1996411" y="7058117"/>
            <a:ext cx="2025340" cy="2059603"/>
            <a:chOff x="0" y="0"/>
            <a:chExt cx="895934" cy="911091"/>
          </a:xfrm>
        </p:grpSpPr>
        <p:sp>
          <p:nvSpPr>
            <p:cNvPr id="49" name="Freeform 25">
              <a:extLst>
                <a:ext uri="{FF2B5EF4-FFF2-40B4-BE49-F238E27FC236}">
                  <a16:creationId xmlns:a16="http://schemas.microsoft.com/office/drawing/2014/main" id="{B32B23C2-5276-2522-A1E4-4F758FD119B5}"/>
                </a:ext>
              </a:extLst>
            </p:cNvPr>
            <p:cNvSpPr/>
            <p:nvPr/>
          </p:nvSpPr>
          <p:spPr>
            <a:xfrm>
              <a:off x="0" y="0"/>
              <a:ext cx="895934" cy="911091"/>
            </a:xfrm>
            <a:custGeom>
              <a:avLst/>
              <a:gdLst/>
              <a:ahLst/>
              <a:cxnLst/>
              <a:rect l="l" t="t" r="r" b="b"/>
              <a:pathLst>
                <a:path w="895934" h="911091">
                  <a:moveTo>
                    <a:pt x="0" y="0"/>
                  </a:moveTo>
                  <a:lnTo>
                    <a:pt x="895934" y="0"/>
                  </a:lnTo>
                  <a:lnTo>
                    <a:pt x="895934" y="911091"/>
                  </a:lnTo>
                  <a:lnTo>
                    <a:pt x="0" y="911091"/>
                  </a:lnTo>
                  <a:close/>
                </a:path>
              </a:pathLst>
            </a:custGeom>
            <a:blipFill>
              <a:blip r:embed="rId6"/>
              <a:stretch>
                <a:fillRect l="-845" r="-845"/>
              </a:stretch>
            </a:blipFill>
          </p:spPr>
        </p:sp>
      </p:grpSp>
      <p:sp>
        <p:nvSpPr>
          <p:cNvPr id="50" name="TextBox 49">
            <a:extLst>
              <a:ext uri="{FF2B5EF4-FFF2-40B4-BE49-F238E27FC236}">
                <a16:creationId xmlns:a16="http://schemas.microsoft.com/office/drawing/2014/main" id="{03D94E8D-E28C-8CD6-E1D1-9681AFB2A0AC}"/>
              </a:ext>
            </a:extLst>
          </p:cNvPr>
          <p:cNvSpPr txBox="1"/>
          <p:nvPr/>
        </p:nvSpPr>
        <p:spPr>
          <a:xfrm>
            <a:off x="3674936" y="2321442"/>
            <a:ext cx="11963399" cy="923330"/>
          </a:xfrm>
          <a:prstGeom prst="rect">
            <a:avLst/>
          </a:prstGeom>
          <a:noFill/>
        </p:spPr>
        <p:txBody>
          <a:bodyPr wrap="square" rtlCol="0">
            <a:spAutoFit/>
          </a:bodyPr>
          <a:lstStyle/>
          <a:p>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Reteaua</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neuronala</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este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centrul</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decisional al agentului, in WormBrain.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Acolo</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se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centralizeaza</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toate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informatiile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de la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sistemele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de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perceptie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si</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de la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sistemele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interne, se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iau</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deciziile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care sunt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transmise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locomotiei</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a:t>
            </a:r>
          </a:p>
          <a:p>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Cateva</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optiuni</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de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retea</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neuronala</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care sunt </a:t>
            </a:r>
            <a:r>
              <a:rPr lang="en-US" err="1">
                <a:solidFill>
                  <a:schemeClr val="bg1"/>
                </a:solidFill>
                <a:latin typeface="Open Sans" panose="020B0606030504020204" pitchFamily="34" charset="0"/>
                <a:ea typeface="Open Sans" panose="020B0606030504020204" pitchFamily="34" charset="0"/>
                <a:cs typeface="Open Sans" panose="020B0606030504020204" pitchFamily="34" charset="0"/>
              </a:rPr>
              <a:t>compatibile</a:t>
            </a: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 :</a:t>
            </a:r>
          </a:p>
        </p:txBody>
      </p:sp>
      <p:sp>
        <p:nvSpPr>
          <p:cNvPr id="51" name="TextBox 50">
            <a:extLst>
              <a:ext uri="{FF2B5EF4-FFF2-40B4-BE49-F238E27FC236}">
                <a16:creationId xmlns:a16="http://schemas.microsoft.com/office/drawing/2014/main" id="{67995723-E06E-7CAF-B215-C7016B8F71F6}"/>
              </a:ext>
            </a:extLst>
          </p:cNvPr>
          <p:cNvSpPr txBox="1"/>
          <p:nvPr/>
        </p:nvSpPr>
        <p:spPr>
          <a:xfrm>
            <a:off x="12171236" y="7058117"/>
            <a:ext cx="5334075" cy="415498"/>
          </a:xfrm>
          <a:prstGeom prst="rect">
            <a:avLst/>
          </a:prstGeom>
          <a:noFill/>
        </p:spPr>
        <p:txBody>
          <a:bodyPr wrap="square" rtlCol="0">
            <a:spAutoFit/>
          </a:bodyPr>
          <a:lstStyle/>
          <a:p>
            <a:r>
              <a:rPr lang="en-US" sz="2100" b="1">
                <a:solidFill>
                  <a:schemeClr val="accent5"/>
                </a:solidFill>
                <a:latin typeface="Aptos" panose="020B0004020202020204" pitchFamily="34" charset="0"/>
              </a:rPr>
              <a:t>Option D : Hardcoded with fixed weights</a:t>
            </a:r>
          </a:p>
        </p:txBody>
      </p:sp>
      <p:sp>
        <p:nvSpPr>
          <p:cNvPr id="52" name="TextBox 51">
            <a:extLst>
              <a:ext uri="{FF2B5EF4-FFF2-40B4-BE49-F238E27FC236}">
                <a16:creationId xmlns:a16="http://schemas.microsoft.com/office/drawing/2014/main" id="{639AFD81-1815-279D-7BC6-557F40E0CBF7}"/>
              </a:ext>
            </a:extLst>
          </p:cNvPr>
          <p:cNvSpPr txBox="1"/>
          <p:nvPr/>
        </p:nvSpPr>
        <p:spPr>
          <a:xfrm>
            <a:off x="4374322" y="7058116"/>
            <a:ext cx="4727214" cy="430887"/>
          </a:xfrm>
          <a:prstGeom prst="rect">
            <a:avLst/>
          </a:prstGeom>
          <a:noFill/>
        </p:spPr>
        <p:txBody>
          <a:bodyPr wrap="square" rtlCol="0">
            <a:spAutoFit/>
          </a:bodyPr>
          <a:lstStyle/>
          <a:p>
            <a:r>
              <a:rPr lang="en-US" sz="2200" b="1">
                <a:solidFill>
                  <a:schemeClr val="accent5"/>
                </a:solidFill>
                <a:latin typeface="Aptos" panose="020B0004020202020204" pitchFamily="34" charset="0"/>
              </a:rPr>
              <a:t>Option C : Reinforcement Learning</a:t>
            </a:r>
          </a:p>
        </p:txBody>
      </p:sp>
      <p:sp>
        <p:nvSpPr>
          <p:cNvPr id="53" name="TextBox 52">
            <a:extLst>
              <a:ext uri="{FF2B5EF4-FFF2-40B4-BE49-F238E27FC236}">
                <a16:creationId xmlns:a16="http://schemas.microsoft.com/office/drawing/2014/main" id="{8231864A-4D45-D523-BCBB-CF4F85EB5A38}"/>
              </a:ext>
            </a:extLst>
          </p:cNvPr>
          <p:cNvSpPr txBox="1"/>
          <p:nvPr/>
        </p:nvSpPr>
        <p:spPr>
          <a:xfrm>
            <a:off x="4374322" y="4559296"/>
            <a:ext cx="4541078" cy="830997"/>
          </a:xfrm>
          <a:prstGeom prst="rect">
            <a:avLst/>
          </a:prstGeom>
          <a:noFill/>
        </p:spPr>
        <p:txBody>
          <a:bodyPr wrap="square" rtlCol="0">
            <a:spAutoFit/>
          </a:bodyPr>
          <a:lstStyle/>
          <a:p>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Se face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inregistrand</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comportamentul</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hard-coded al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agentului</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si</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antrenand</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reteaua</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sa</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il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imite</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Invatarea</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 se face din </a:t>
            </a:r>
            <a:r>
              <a:rPr lang="en-US" sz="1600" err="1">
                <a:solidFill>
                  <a:schemeClr val="bg1"/>
                </a:solidFill>
                <a:latin typeface="Open Sans" panose="020B0606030504020204" pitchFamily="34" charset="0"/>
                <a:ea typeface="Open Sans" panose="020B0606030504020204" pitchFamily="34" charset="0"/>
                <a:cs typeface="Open Sans" panose="020B0606030504020204" pitchFamily="34" charset="0"/>
              </a:rPr>
              <a:t>exemple</a:t>
            </a:r>
            <a:r>
              <a:rPr lang="en-US" sz="160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54" name="TextBox 53">
            <a:extLst>
              <a:ext uri="{FF2B5EF4-FFF2-40B4-BE49-F238E27FC236}">
                <a16:creationId xmlns:a16="http://schemas.microsoft.com/office/drawing/2014/main" id="{6C150915-773A-EE59-19E7-D2FC81D3E781}"/>
              </a:ext>
            </a:extLst>
          </p:cNvPr>
          <p:cNvSpPr txBox="1"/>
          <p:nvPr/>
        </p:nvSpPr>
        <p:spPr>
          <a:xfrm>
            <a:off x="12171235" y="4471381"/>
            <a:ext cx="5334075" cy="1754326"/>
          </a:xfrm>
          <a:prstGeom prst="rect">
            <a:avLst/>
          </a:prstGeom>
          <a:noFill/>
        </p:spPr>
        <p:txBody>
          <a:bodyPr wrap="square" rtlCol="0">
            <a:spAutoFit/>
          </a:bodyPr>
          <a:lstStyle/>
          <a:p>
            <a:r>
              <a:rPr lang="en-US">
                <a:solidFill>
                  <a:schemeClr val="bg1"/>
                </a:solidFill>
              </a:rPr>
              <a:t>Se face </a:t>
            </a:r>
            <a:r>
              <a:rPr lang="en-US" err="1">
                <a:solidFill>
                  <a:schemeClr val="bg1"/>
                </a:solidFill>
              </a:rPr>
              <a:t>generand</a:t>
            </a:r>
            <a:r>
              <a:rPr lang="en-US">
                <a:solidFill>
                  <a:schemeClr val="bg1"/>
                </a:solidFill>
              </a:rPr>
              <a:t> un </a:t>
            </a:r>
            <a:r>
              <a:rPr lang="en-US" err="1">
                <a:solidFill>
                  <a:schemeClr val="bg1"/>
                </a:solidFill>
              </a:rPr>
              <a:t>numar</a:t>
            </a:r>
            <a:r>
              <a:rPr lang="en-US">
                <a:solidFill>
                  <a:schemeClr val="bg1"/>
                </a:solidFill>
              </a:rPr>
              <a:t> de </a:t>
            </a:r>
            <a:r>
              <a:rPr lang="en-US" err="1">
                <a:solidFill>
                  <a:schemeClr val="bg1"/>
                </a:solidFill>
              </a:rPr>
              <a:t>agenti</a:t>
            </a:r>
            <a:r>
              <a:rPr lang="en-US">
                <a:solidFill>
                  <a:schemeClr val="bg1"/>
                </a:solidFill>
              </a:rPr>
              <a:t> </a:t>
            </a:r>
            <a:r>
              <a:rPr lang="en-US" err="1">
                <a:solidFill>
                  <a:schemeClr val="bg1"/>
                </a:solidFill>
              </a:rPr>
              <a:t>simultan</a:t>
            </a:r>
            <a:r>
              <a:rPr lang="en-US">
                <a:solidFill>
                  <a:schemeClr val="bg1"/>
                </a:solidFill>
              </a:rPr>
              <a:t>, </a:t>
            </a:r>
            <a:r>
              <a:rPr lang="en-US" err="1">
                <a:solidFill>
                  <a:schemeClr val="bg1"/>
                </a:solidFill>
              </a:rPr>
              <a:t>fiecare</a:t>
            </a:r>
            <a:r>
              <a:rPr lang="en-US">
                <a:solidFill>
                  <a:schemeClr val="bg1"/>
                </a:solidFill>
              </a:rPr>
              <a:t> cu </a:t>
            </a:r>
            <a:r>
              <a:rPr lang="en-US" err="1">
                <a:solidFill>
                  <a:schemeClr val="bg1"/>
                </a:solidFill>
              </a:rPr>
              <a:t>reteaua</a:t>
            </a:r>
            <a:r>
              <a:rPr lang="en-US">
                <a:solidFill>
                  <a:schemeClr val="bg1"/>
                </a:solidFill>
              </a:rPr>
              <a:t> </a:t>
            </a:r>
            <a:r>
              <a:rPr lang="en-US" err="1">
                <a:solidFill>
                  <a:schemeClr val="bg1"/>
                </a:solidFill>
              </a:rPr>
              <a:t>sa</a:t>
            </a:r>
            <a:r>
              <a:rPr lang="en-US">
                <a:solidFill>
                  <a:schemeClr val="bg1"/>
                </a:solidFill>
              </a:rPr>
              <a:t> </a:t>
            </a:r>
            <a:r>
              <a:rPr lang="en-US" err="1">
                <a:solidFill>
                  <a:schemeClr val="bg1"/>
                </a:solidFill>
              </a:rPr>
              <a:t>neuronala</a:t>
            </a:r>
            <a:r>
              <a:rPr lang="en-US">
                <a:solidFill>
                  <a:schemeClr val="bg1"/>
                </a:solidFill>
              </a:rPr>
              <a:t> </a:t>
            </a:r>
            <a:r>
              <a:rPr lang="en-US" err="1">
                <a:solidFill>
                  <a:schemeClr val="bg1"/>
                </a:solidFill>
              </a:rPr>
              <a:t>initiata</a:t>
            </a:r>
            <a:r>
              <a:rPr lang="en-US">
                <a:solidFill>
                  <a:schemeClr val="bg1"/>
                </a:solidFill>
              </a:rPr>
              <a:t> in mod random. </a:t>
            </a:r>
            <a:r>
              <a:rPr lang="en-US" err="1">
                <a:solidFill>
                  <a:schemeClr val="bg1"/>
                </a:solidFill>
              </a:rPr>
              <a:t>Acesti</a:t>
            </a:r>
            <a:r>
              <a:rPr lang="en-US">
                <a:solidFill>
                  <a:schemeClr val="bg1"/>
                </a:solidFill>
              </a:rPr>
              <a:t> </a:t>
            </a:r>
            <a:r>
              <a:rPr lang="en-US" err="1">
                <a:solidFill>
                  <a:schemeClr val="bg1"/>
                </a:solidFill>
              </a:rPr>
              <a:t>agenti</a:t>
            </a:r>
            <a:r>
              <a:rPr lang="en-US">
                <a:solidFill>
                  <a:schemeClr val="bg1"/>
                </a:solidFill>
              </a:rPr>
              <a:t> </a:t>
            </a:r>
            <a:r>
              <a:rPr lang="en-US" err="1">
                <a:solidFill>
                  <a:schemeClr val="bg1"/>
                </a:solidFill>
              </a:rPr>
              <a:t>primesc</a:t>
            </a:r>
            <a:r>
              <a:rPr lang="en-US">
                <a:solidFill>
                  <a:schemeClr val="bg1"/>
                </a:solidFill>
              </a:rPr>
              <a:t> o nota pe </a:t>
            </a:r>
            <a:r>
              <a:rPr lang="en-US" err="1">
                <a:solidFill>
                  <a:schemeClr val="bg1"/>
                </a:solidFill>
              </a:rPr>
              <a:t>baza</a:t>
            </a:r>
            <a:r>
              <a:rPr lang="en-US">
                <a:solidFill>
                  <a:schemeClr val="bg1"/>
                </a:solidFill>
              </a:rPr>
              <a:t>  </a:t>
            </a:r>
            <a:r>
              <a:rPr lang="en-US" err="1">
                <a:solidFill>
                  <a:schemeClr val="bg1"/>
                </a:solidFill>
              </a:rPr>
              <a:t>fitnessului</a:t>
            </a:r>
            <a:r>
              <a:rPr lang="en-US">
                <a:solidFill>
                  <a:schemeClr val="bg1"/>
                </a:solidFill>
              </a:rPr>
              <a:t> lor, </a:t>
            </a:r>
            <a:r>
              <a:rPr lang="en-US" err="1">
                <a:solidFill>
                  <a:schemeClr val="bg1"/>
                </a:solidFill>
              </a:rPr>
              <a:t>si</a:t>
            </a:r>
            <a:r>
              <a:rPr lang="en-US">
                <a:solidFill>
                  <a:schemeClr val="bg1"/>
                </a:solidFill>
              </a:rPr>
              <a:t> </a:t>
            </a:r>
            <a:r>
              <a:rPr lang="en-US" err="1">
                <a:solidFill>
                  <a:schemeClr val="bg1"/>
                </a:solidFill>
              </a:rPr>
              <a:t>cei</a:t>
            </a:r>
            <a:r>
              <a:rPr lang="en-US">
                <a:solidFill>
                  <a:schemeClr val="bg1"/>
                </a:solidFill>
              </a:rPr>
              <a:t> </a:t>
            </a:r>
            <a:r>
              <a:rPr lang="en-US" err="1">
                <a:solidFill>
                  <a:schemeClr val="bg1"/>
                </a:solidFill>
              </a:rPr>
              <a:t>mai</a:t>
            </a:r>
            <a:r>
              <a:rPr lang="en-US">
                <a:solidFill>
                  <a:schemeClr val="bg1"/>
                </a:solidFill>
              </a:rPr>
              <a:t> </a:t>
            </a:r>
            <a:r>
              <a:rPr lang="en-US" err="1">
                <a:solidFill>
                  <a:schemeClr val="bg1"/>
                </a:solidFill>
              </a:rPr>
              <a:t>buni</a:t>
            </a:r>
            <a:r>
              <a:rPr lang="en-US">
                <a:solidFill>
                  <a:schemeClr val="bg1"/>
                </a:solidFill>
              </a:rPr>
              <a:t> se </a:t>
            </a:r>
            <a:r>
              <a:rPr lang="en-US" err="1">
                <a:solidFill>
                  <a:schemeClr val="bg1"/>
                </a:solidFill>
              </a:rPr>
              <a:t>reproduc</a:t>
            </a:r>
            <a:r>
              <a:rPr lang="en-US">
                <a:solidFill>
                  <a:schemeClr val="bg1"/>
                </a:solidFill>
              </a:rPr>
              <a:t> </a:t>
            </a:r>
            <a:r>
              <a:rPr lang="en-US" err="1">
                <a:solidFill>
                  <a:schemeClr val="bg1"/>
                </a:solidFill>
              </a:rPr>
              <a:t>pentru</a:t>
            </a:r>
            <a:r>
              <a:rPr lang="en-US">
                <a:solidFill>
                  <a:schemeClr val="bg1"/>
                </a:solidFill>
              </a:rPr>
              <a:t> </a:t>
            </a:r>
            <a:r>
              <a:rPr lang="en-US" err="1">
                <a:solidFill>
                  <a:schemeClr val="bg1"/>
                </a:solidFill>
              </a:rPr>
              <a:t>urmatoarea</a:t>
            </a:r>
            <a:r>
              <a:rPr lang="en-US">
                <a:solidFill>
                  <a:schemeClr val="bg1"/>
                </a:solidFill>
              </a:rPr>
              <a:t> </a:t>
            </a:r>
            <a:r>
              <a:rPr lang="en-US" err="1">
                <a:solidFill>
                  <a:schemeClr val="bg1"/>
                </a:solidFill>
              </a:rPr>
              <a:t>generatie</a:t>
            </a:r>
            <a:r>
              <a:rPr lang="en-US">
                <a:solidFill>
                  <a:schemeClr val="bg1"/>
                </a:solidFill>
              </a:rPr>
              <a:t>, cu weights </a:t>
            </a:r>
            <a:r>
              <a:rPr lang="en-US" err="1">
                <a:solidFill>
                  <a:schemeClr val="bg1"/>
                </a:solidFill>
              </a:rPr>
              <a:t>usor</a:t>
            </a:r>
            <a:r>
              <a:rPr lang="en-US">
                <a:solidFill>
                  <a:schemeClr val="bg1"/>
                </a:solidFill>
              </a:rPr>
              <a:t> mutate. In </a:t>
            </a:r>
            <a:r>
              <a:rPr lang="en-US" err="1">
                <a:solidFill>
                  <a:schemeClr val="bg1"/>
                </a:solidFill>
              </a:rPr>
              <a:t>timp</a:t>
            </a:r>
            <a:r>
              <a:rPr lang="en-US">
                <a:solidFill>
                  <a:schemeClr val="bg1"/>
                </a:solidFill>
              </a:rPr>
              <a:t> </a:t>
            </a:r>
            <a:r>
              <a:rPr lang="en-US" err="1">
                <a:solidFill>
                  <a:schemeClr val="bg1"/>
                </a:solidFill>
              </a:rPr>
              <a:t>agentii</a:t>
            </a:r>
            <a:r>
              <a:rPr lang="en-US">
                <a:solidFill>
                  <a:schemeClr val="bg1"/>
                </a:solidFill>
              </a:rPr>
              <a:t> se </a:t>
            </a:r>
            <a:r>
              <a:rPr lang="en-US" err="1">
                <a:solidFill>
                  <a:schemeClr val="bg1"/>
                </a:solidFill>
              </a:rPr>
              <a:t>imbunatatesc</a:t>
            </a:r>
            <a:r>
              <a:rPr lang="en-US">
                <a:solidFill>
                  <a:schemeClr val="bg1"/>
                </a:solidFill>
              </a:rPr>
              <a:t> din </a:t>
            </a:r>
            <a:r>
              <a:rPr lang="en-US" err="1">
                <a:solidFill>
                  <a:schemeClr val="bg1"/>
                </a:solidFill>
              </a:rPr>
              <a:t>ce</a:t>
            </a:r>
            <a:r>
              <a:rPr lang="en-US">
                <a:solidFill>
                  <a:schemeClr val="bg1"/>
                </a:solidFill>
              </a:rPr>
              <a:t> in </a:t>
            </a:r>
            <a:r>
              <a:rPr lang="en-US" err="1">
                <a:solidFill>
                  <a:schemeClr val="bg1"/>
                </a:solidFill>
              </a:rPr>
              <a:t>ce</a:t>
            </a:r>
            <a:r>
              <a:rPr lang="en-US">
                <a:solidFill>
                  <a:schemeClr val="bg1"/>
                </a:solidFill>
              </a:rPr>
              <a:t> </a:t>
            </a:r>
            <a:r>
              <a:rPr lang="en-US" err="1">
                <a:solidFill>
                  <a:schemeClr val="bg1"/>
                </a:solidFill>
              </a:rPr>
              <a:t>mai</a:t>
            </a:r>
            <a:r>
              <a:rPr lang="en-US">
                <a:solidFill>
                  <a:schemeClr val="bg1"/>
                </a:solidFill>
              </a:rPr>
              <a:t> </a:t>
            </a:r>
            <a:r>
              <a:rPr lang="en-US" err="1">
                <a:solidFill>
                  <a:schemeClr val="bg1"/>
                </a:solidFill>
              </a:rPr>
              <a:t>mult</a:t>
            </a:r>
            <a:r>
              <a:rPr lang="en-US">
                <a:solidFill>
                  <a:schemeClr val="bg1"/>
                </a:solidFill>
              </a:rPr>
              <a:t>.</a:t>
            </a:r>
          </a:p>
        </p:txBody>
      </p:sp>
      <p:sp>
        <p:nvSpPr>
          <p:cNvPr id="55" name="TextBox 54">
            <a:extLst>
              <a:ext uri="{FF2B5EF4-FFF2-40B4-BE49-F238E27FC236}">
                <a16:creationId xmlns:a16="http://schemas.microsoft.com/office/drawing/2014/main" id="{6A776B26-46F6-1364-A8B9-BD3D107F13EB}"/>
              </a:ext>
            </a:extLst>
          </p:cNvPr>
          <p:cNvSpPr txBox="1"/>
          <p:nvPr/>
        </p:nvSpPr>
        <p:spPr>
          <a:xfrm>
            <a:off x="4374322" y="7642392"/>
            <a:ext cx="4470926" cy="646331"/>
          </a:xfrm>
          <a:prstGeom prst="rect">
            <a:avLst/>
          </a:prstGeom>
          <a:noFill/>
        </p:spPr>
        <p:txBody>
          <a:bodyPr wrap="square" rtlCol="0">
            <a:spAutoFit/>
          </a:bodyPr>
          <a:lstStyle/>
          <a:p>
            <a:r>
              <a:rPr lang="en-US" err="1">
                <a:solidFill>
                  <a:schemeClr val="bg1"/>
                </a:solidFill>
              </a:rPr>
              <a:t>Agentul</a:t>
            </a:r>
            <a:r>
              <a:rPr lang="en-US">
                <a:solidFill>
                  <a:schemeClr val="bg1"/>
                </a:solidFill>
              </a:rPr>
              <a:t> </a:t>
            </a:r>
            <a:r>
              <a:rPr lang="en-US" err="1">
                <a:solidFill>
                  <a:schemeClr val="bg1"/>
                </a:solidFill>
              </a:rPr>
              <a:t>primeste</a:t>
            </a:r>
            <a:r>
              <a:rPr lang="en-US">
                <a:solidFill>
                  <a:schemeClr val="bg1"/>
                </a:solidFill>
              </a:rPr>
              <a:t> recompense </a:t>
            </a:r>
            <a:r>
              <a:rPr lang="en-US" err="1">
                <a:solidFill>
                  <a:schemeClr val="bg1"/>
                </a:solidFill>
              </a:rPr>
              <a:t>pentru</a:t>
            </a:r>
            <a:r>
              <a:rPr lang="en-US">
                <a:solidFill>
                  <a:schemeClr val="bg1"/>
                </a:solidFill>
              </a:rPr>
              <a:t> </a:t>
            </a:r>
            <a:r>
              <a:rPr lang="en-US" err="1">
                <a:solidFill>
                  <a:schemeClr val="bg1"/>
                </a:solidFill>
              </a:rPr>
              <a:t>reusite</a:t>
            </a:r>
            <a:r>
              <a:rPr lang="en-US">
                <a:solidFill>
                  <a:schemeClr val="bg1"/>
                </a:solidFill>
              </a:rPr>
              <a:t>, </a:t>
            </a:r>
            <a:r>
              <a:rPr lang="en-US" err="1">
                <a:solidFill>
                  <a:schemeClr val="bg1"/>
                </a:solidFill>
              </a:rPr>
              <a:t>si</a:t>
            </a:r>
            <a:r>
              <a:rPr lang="en-US">
                <a:solidFill>
                  <a:schemeClr val="bg1"/>
                </a:solidFill>
              </a:rPr>
              <a:t> </a:t>
            </a:r>
            <a:r>
              <a:rPr lang="en-US" err="1">
                <a:solidFill>
                  <a:schemeClr val="bg1"/>
                </a:solidFill>
              </a:rPr>
              <a:t>invata</a:t>
            </a:r>
            <a:r>
              <a:rPr lang="en-US">
                <a:solidFill>
                  <a:schemeClr val="bg1"/>
                </a:solidFill>
              </a:rPr>
              <a:t> </a:t>
            </a:r>
            <a:r>
              <a:rPr lang="en-US" err="1">
                <a:solidFill>
                  <a:schemeClr val="bg1"/>
                </a:solidFill>
              </a:rPr>
              <a:t>astfel</a:t>
            </a:r>
            <a:r>
              <a:rPr lang="en-US">
                <a:solidFill>
                  <a:schemeClr val="bg1"/>
                </a:solidFill>
              </a:rPr>
              <a:t> </a:t>
            </a:r>
            <a:r>
              <a:rPr lang="en-US" err="1">
                <a:solidFill>
                  <a:schemeClr val="bg1"/>
                </a:solidFill>
              </a:rPr>
              <a:t>prin</a:t>
            </a:r>
            <a:r>
              <a:rPr lang="en-US">
                <a:solidFill>
                  <a:schemeClr val="bg1"/>
                </a:solidFill>
              </a:rPr>
              <a:t> trial and error.</a:t>
            </a:r>
          </a:p>
        </p:txBody>
      </p:sp>
      <p:sp>
        <p:nvSpPr>
          <p:cNvPr id="56" name="TextBox 55">
            <a:extLst>
              <a:ext uri="{FF2B5EF4-FFF2-40B4-BE49-F238E27FC236}">
                <a16:creationId xmlns:a16="http://schemas.microsoft.com/office/drawing/2014/main" id="{036D47AF-EF2B-815F-F38A-3C05DE6D6640}"/>
              </a:ext>
            </a:extLst>
          </p:cNvPr>
          <p:cNvSpPr txBox="1"/>
          <p:nvPr/>
        </p:nvSpPr>
        <p:spPr>
          <a:xfrm>
            <a:off x="12198925" y="7616877"/>
            <a:ext cx="5306386" cy="646331"/>
          </a:xfrm>
          <a:prstGeom prst="rect">
            <a:avLst/>
          </a:prstGeom>
          <a:noFill/>
        </p:spPr>
        <p:txBody>
          <a:bodyPr wrap="square" rtlCol="0">
            <a:spAutoFit/>
          </a:bodyPr>
          <a:lstStyle/>
          <a:p>
            <a:r>
              <a:rPr lang="en-US" err="1">
                <a:solidFill>
                  <a:schemeClr val="bg1"/>
                </a:solidFill>
              </a:rPr>
              <a:t>Weighturile</a:t>
            </a:r>
            <a:r>
              <a:rPr lang="en-US">
                <a:solidFill>
                  <a:schemeClr val="bg1"/>
                </a:solidFill>
              </a:rPr>
              <a:t> sunt </a:t>
            </a:r>
            <a:r>
              <a:rPr lang="en-US" err="1">
                <a:solidFill>
                  <a:schemeClr val="bg1"/>
                </a:solidFill>
              </a:rPr>
              <a:t>setate</a:t>
            </a:r>
            <a:r>
              <a:rPr lang="en-US">
                <a:solidFill>
                  <a:schemeClr val="bg1"/>
                </a:solidFill>
              </a:rPr>
              <a:t> manual </a:t>
            </a:r>
            <a:r>
              <a:rPr lang="en-US" err="1">
                <a:solidFill>
                  <a:schemeClr val="bg1"/>
                </a:solidFill>
              </a:rPr>
              <a:t>pentru</a:t>
            </a:r>
            <a:r>
              <a:rPr lang="en-US">
                <a:solidFill>
                  <a:schemeClr val="bg1"/>
                </a:solidFill>
              </a:rPr>
              <a:t> </a:t>
            </a:r>
            <a:r>
              <a:rPr lang="en-US" err="1">
                <a:solidFill>
                  <a:schemeClr val="bg1"/>
                </a:solidFill>
              </a:rPr>
              <a:t>cele</a:t>
            </a:r>
            <a:r>
              <a:rPr lang="en-US">
                <a:solidFill>
                  <a:schemeClr val="bg1"/>
                </a:solidFill>
              </a:rPr>
              <a:t> </a:t>
            </a:r>
            <a:r>
              <a:rPr lang="en-US" err="1">
                <a:solidFill>
                  <a:schemeClr val="bg1"/>
                </a:solidFill>
              </a:rPr>
              <a:t>mai</a:t>
            </a:r>
            <a:r>
              <a:rPr lang="en-US">
                <a:solidFill>
                  <a:schemeClr val="bg1"/>
                </a:solidFill>
              </a:rPr>
              <a:t> </a:t>
            </a:r>
            <a:r>
              <a:rPr lang="en-US" err="1">
                <a:solidFill>
                  <a:schemeClr val="bg1"/>
                </a:solidFill>
              </a:rPr>
              <a:t>bune</a:t>
            </a:r>
            <a:r>
              <a:rPr lang="en-US">
                <a:solidFill>
                  <a:schemeClr val="bg1"/>
                </a:solidFill>
              </a:rPr>
              <a:t> </a:t>
            </a:r>
            <a:r>
              <a:rPr lang="en-US" err="1">
                <a:solidFill>
                  <a:schemeClr val="bg1"/>
                </a:solidFill>
              </a:rPr>
              <a:t>rezultate</a:t>
            </a:r>
            <a:r>
              <a:rPr lang="en-US">
                <a:solidFill>
                  <a:schemeClr val="bg1"/>
                </a:solidFill>
              </a:rPr>
              <a:t>, similar cu </a:t>
            </a:r>
            <a:r>
              <a:rPr lang="en-US" err="1">
                <a:solidFill>
                  <a:schemeClr val="bg1"/>
                </a:solidFill>
              </a:rPr>
              <a:t>logica</a:t>
            </a:r>
            <a:r>
              <a:rPr lang="en-US">
                <a:solidFill>
                  <a:schemeClr val="bg1"/>
                </a:solidFill>
              </a:rPr>
              <a:t> if/else.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48" y="12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7341919" y="0"/>
            <a:ext cx="10232592" cy="10287000"/>
            <a:chOff x="0" y="0"/>
            <a:chExt cx="606376" cy="609600"/>
          </a:xfrm>
        </p:grpSpPr>
        <p:sp>
          <p:nvSpPr>
            <p:cNvPr id="7" name="Freeform 7"/>
            <p:cNvSpPr/>
            <p:nvPr/>
          </p:nvSpPr>
          <p:spPr>
            <a:xfrm>
              <a:off x="0" y="0"/>
              <a:ext cx="606376" cy="609600"/>
            </a:xfrm>
            <a:custGeom>
              <a:avLst/>
              <a:gdLst/>
              <a:ahLst/>
              <a:cxnLst/>
              <a:rect l="l" t="t" r="r" b="b"/>
              <a:pathLst>
                <a:path w="606376" h="609600">
                  <a:moveTo>
                    <a:pt x="403176" y="0"/>
                  </a:moveTo>
                  <a:lnTo>
                    <a:pt x="0" y="0"/>
                  </a:lnTo>
                  <a:lnTo>
                    <a:pt x="203200" y="609600"/>
                  </a:lnTo>
                  <a:lnTo>
                    <a:pt x="606376" y="609600"/>
                  </a:lnTo>
                  <a:lnTo>
                    <a:pt x="403176" y="0"/>
                  </a:lnTo>
                  <a:close/>
                </a:path>
              </a:pathLst>
            </a:custGeom>
            <a:blipFill>
              <a:blip r:embed="rId3"/>
              <a:stretch>
                <a:fillRect l="-265" r="-265"/>
              </a:stretch>
            </a:blipFill>
          </p:spPr>
        </p:sp>
      </p:grpSp>
      <p:grpSp>
        <p:nvGrpSpPr>
          <p:cNvPr id="8" name="Group 8"/>
          <p:cNvGrpSpPr/>
          <p:nvPr/>
        </p:nvGrpSpPr>
        <p:grpSpPr>
          <a:xfrm>
            <a:off x="17688631" y="7520059"/>
            <a:ext cx="599369" cy="1738241"/>
            <a:chOff x="0" y="0"/>
            <a:chExt cx="157859" cy="457808"/>
          </a:xfrm>
        </p:grpSpPr>
        <p:sp>
          <p:nvSpPr>
            <p:cNvPr id="9" name="Freeform 9"/>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10" name="TextBox 10"/>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2078360" y="3003418"/>
            <a:ext cx="1854690" cy="124256"/>
            <a:chOff x="0" y="0"/>
            <a:chExt cx="488478" cy="32726"/>
          </a:xfrm>
        </p:grpSpPr>
        <p:sp>
          <p:nvSpPr>
            <p:cNvPr id="12" name="Freeform 12"/>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3" name="TextBox 13"/>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1475793" y="3833742"/>
            <a:ext cx="677751" cy="677751"/>
            <a:chOff x="0" y="0"/>
            <a:chExt cx="812800" cy="812800"/>
          </a:xfrm>
        </p:grpSpPr>
        <p:sp>
          <p:nvSpPr>
            <p:cNvPr id="15" name="Freeform 1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16" name="TextBox 16"/>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17" name="Group 17"/>
          <p:cNvGrpSpPr/>
          <p:nvPr/>
        </p:nvGrpSpPr>
        <p:grpSpPr>
          <a:xfrm>
            <a:off x="1443296" y="5969318"/>
            <a:ext cx="677751" cy="677751"/>
            <a:chOff x="0" y="0"/>
            <a:chExt cx="812800" cy="812800"/>
          </a:xfrm>
        </p:grpSpPr>
        <p:sp>
          <p:nvSpPr>
            <p:cNvPr id="18" name="Freeform 1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001BD1">
                    <a:alpha val="58000"/>
                  </a:srgbClr>
                </a:gs>
                <a:gs pos="100000">
                  <a:srgbClr val="0085FF">
                    <a:alpha val="0"/>
                  </a:srgbClr>
                </a:gs>
              </a:gsLst>
              <a:lin ang="0"/>
            </a:gradFill>
          </p:spPr>
        </p:sp>
        <p:sp>
          <p:nvSpPr>
            <p:cNvPr id="19" name="TextBox 19"/>
            <p:cNvSpPr txBox="1"/>
            <p:nvPr/>
          </p:nvSpPr>
          <p:spPr>
            <a:xfrm>
              <a:off x="0" y="-47625"/>
              <a:ext cx="812800" cy="860425"/>
            </a:xfrm>
            <a:prstGeom prst="rect">
              <a:avLst/>
            </a:prstGeom>
          </p:spPr>
          <p:txBody>
            <a:bodyPr lIns="50800" tIns="50800" rIns="50800" bIns="50800" rtlCol="0" anchor="ctr"/>
            <a:lstStyle/>
            <a:p>
              <a:pPr marL="0" lvl="0" indent="0" algn="ctr">
                <a:lnSpc>
                  <a:spcPts val="2239"/>
                </a:lnSpc>
              </a:pPr>
              <a:endParaRPr/>
            </a:p>
          </p:txBody>
        </p:sp>
      </p:grpSp>
      <p:grpSp>
        <p:nvGrpSpPr>
          <p:cNvPr id="23" name="Group 23"/>
          <p:cNvGrpSpPr/>
          <p:nvPr/>
        </p:nvGrpSpPr>
        <p:grpSpPr>
          <a:xfrm>
            <a:off x="8017488" y="5652699"/>
            <a:ext cx="3679191" cy="4634301"/>
            <a:chOff x="0" y="0"/>
            <a:chExt cx="483964" cy="609600"/>
          </a:xfrm>
        </p:grpSpPr>
        <p:sp>
          <p:nvSpPr>
            <p:cNvPr id="24" name="Freeform 24"/>
            <p:cNvSpPr/>
            <p:nvPr/>
          </p:nvSpPr>
          <p:spPr>
            <a:xfrm>
              <a:off x="0" y="0"/>
              <a:ext cx="483964" cy="609600"/>
            </a:xfrm>
            <a:custGeom>
              <a:avLst/>
              <a:gdLst/>
              <a:ahLst/>
              <a:cxnLst/>
              <a:rect l="l" t="t" r="r" b="b"/>
              <a:pathLst>
                <a:path w="483964" h="609600">
                  <a:moveTo>
                    <a:pt x="280764" y="0"/>
                  </a:moveTo>
                  <a:lnTo>
                    <a:pt x="0" y="0"/>
                  </a:lnTo>
                  <a:lnTo>
                    <a:pt x="203200" y="609600"/>
                  </a:lnTo>
                  <a:lnTo>
                    <a:pt x="483964" y="609600"/>
                  </a:lnTo>
                  <a:lnTo>
                    <a:pt x="280764" y="0"/>
                  </a:lnTo>
                  <a:close/>
                </a:path>
              </a:pathLst>
            </a:custGeom>
            <a:gradFill rotWithShape="1">
              <a:gsLst>
                <a:gs pos="0">
                  <a:srgbClr val="001BD1">
                    <a:alpha val="58000"/>
                  </a:srgbClr>
                </a:gs>
                <a:gs pos="100000">
                  <a:srgbClr val="0085FF">
                    <a:alpha val="0"/>
                  </a:srgbClr>
                </a:gs>
              </a:gsLst>
              <a:lin ang="0"/>
            </a:gradFill>
          </p:spPr>
        </p:sp>
        <p:sp>
          <p:nvSpPr>
            <p:cNvPr id="25" name="TextBox 25"/>
            <p:cNvSpPr txBox="1"/>
            <p:nvPr/>
          </p:nvSpPr>
          <p:spPr>
            <a:xfrm>
              <a:off x="101600" y="-38100"/>
              <a:ext cx="280764" cy="647700"/>
            </a:xfrm>
            <a:prstGeom prst="rect">
              <a:avLst/>
            </a:prstGeom>
          </p:spPr>
          <p:txBody>
            <a:bodyPr lIns="50800" tIns="50800" rIns="50800" bIns="50800" rtlCol="0" anchor="ctr"/>
            <a:lstStyle/>
            <a:p>
              <a:pPr marL="0" lvl="0" indent="0" algn="ctr">
                <a:lnSpc>
                  <a:spcPts val="2659"/>
                </a:lnSpc>
              </a:pPr>
              <a:endParaRPr/>
            </a:p>
          </p:txBody>
        </p:sp>
      </p:grpSp>
      <p:sp>
        <p:nvSpPr>
          <p:cNvPr id="26" name="TextBox 2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13/16</a:t>
            </a:r>
          </a:p>
        </p:txBody>
      </p:sp>
      <p:sp>
        <p:nvSpPr>
          <p:cNvPr id="27" name="TextBox 27"/>
          <p:cNvSpPr txBox="1"/>
          <p:nvPr/>
        </p:nvSpPr>
        <p:spPr>
          <a:xfrm>
            <a:off x="1814669" y="2125558"/>
            <a:ext cx="7329331" cy="411651"/>
          </a:xfrm>
          <a:prstGeom prst="rect">
            <a:avLst/>
          </a:prstGeom>
        </p:spPr>
        <p:txBody>
          <a:bodyPr wrap="square" lIns="0" tIns="0" rIns="0" bIns="0" rtlCol="0" anchor="t">
            <a:spAutoFit/>
          </a:bodyPr>
          <a:lstStyle/>
          <a:p>
            <a:pPr marL="0" lvl="0" indent="0" algn="l">
              <a:lnSpc>
                <a:spcPts val="2952"/>
              </a:lnSpc>
              <a:spcBef>
                <a:spcPct val="0"/>
              </a:spcBef>
            </a:pPr>
            <a:r>
              <a:rPr lang="en-US" sz="3200">
                <a:solidFill>
                  <a:srgbClr val="FFFFFF"/>
                </a:solidFill>
                <a:latin typeface="Pattanakarn"/>
                <a:ea typeface="Pattanakarn"/>
                <a:cs typeface="Pattanakarn"/>
                <a:sym typeface="Pattanakarn"/>
              </a:rPr>
              <a:t>Demonstratie : navigatia prin labirint</a:t>
            </a:r>
          </a:p>
        </p:txBody>
      </p:sp>
      <p:sp>
        <p:nvSpPr>
          <p:cNvPr id="28" name="TextBox 28"/>
          <p:cNvSpPr txBox="1"/>
          <p:nvPr/>
        </p:nvSpPr>
        <p:spPr>
          <a:xfrm>
            <a:off x="2390227" y="3731743"/>
            <a:ext cx="6445113" cy="1846659"/>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Pentru a testa abilitatile agentului vierme, am pregatit o demonstratie care include un labirint cu ziduri peste care nu se poate trece, in care agentul trebuie sa supravietuiasca, sa gaseasca surse de hrana, si sa isi nevigheze calea in afara pericolului. Ghidat de simturile de perceptie, si de decizie. </a:t>
            </a:r>
          </a:p>
        </p:txBody>
      </p:sp>
      <p:sp>
        <p:nvSpPr>
          <p:cNvPr id="29" name="TextBox 29"/>
          <p:cNvSpPr txBox="1"/>
          <p:nvPr/>
        </p:nvSpPr>
        <p:spPr>
          <a:xfrm>
            <a:off x="1630659" y="4052268"/>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01</a:t>
            </a:r>
          </a:p>
        </p:txBody>
      </p:sp>
      <p:sp>
        <p:nvSpPr>
          <p:cNvPr id="30" name="TextBox 30"/>
          <p:cNvSpPr txBox="1"/>
          <p:nvPr/>
        </p:nvSpPr>
        <p:spPr>
          <a:xfrm>
            <a:off x="2388317" y="5929606"/>
            <a:ext cx="7582236" cy="3693319"/>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Agentul trebuie sa isi construiasca comportamentul de navigare exclusiv din citirile locale ale senzorilor de perete, moment cu moment. Pe langa evitarea coliziunilor, viermele este supus unei presiuni reale de supravietuire: foamea creste constant, iar gasirea hranei inainte de moarte devine obiectivul central al testului, pe langa parcurgerea labirintului, pentru care agentul va trebui sa ia in considerare semnalele chimice lasate, pentru a isi recunoaste proprii pasi. Acest scenariu este conceput intentionat simplu, pentru a demonstra ca un comportament de navigare coerent poate emerge dintr-o bucla stransa de perceptie, decizie si actiune, repetata continuu la fiecare pas al simularii.</a:t>
            </a:r>
          </a:p>
        </p:txBody>
      </p:sp>
      <p:sp>
        <p:nvSpPr>
          <p:cNvPr id="31" name="TextBox 31"/>
          <p:cNvSpPr txBox="1"/>
          <p:nvPr/>
        </p:nvSpPr>
        <p:spPr>
          <a:xfrm>
            <a:off x="1615446" y="6173628"/>
            <a:ext cx="496110" cy="297212"/>
          </a:xfrm>
          <a:prstGeom prst="rect">
            <a:avLst/>
          </a:prstGeom>
        </p:spPr>
        <p:txBody>
          <a:bodyPr lIns="0" tIns="0" rIns="0" bIns="0" rtlCol="0" anchor="t">
            <a:spAutoFit/>
          </a:bodyPr>
          <a:lstStyle/>
          <a:p>
            <a:pPr marL="0" lvl="0" indent="0" algn="ctr">
              <a:lnSpc>
                <a:spcPts val="2518"/>
              </a:lnSpc>
              <a:spcBef>
                <a:spcPct val="0"/>
              </a:spcBef>
            </a:pPr>
            <a:r>
              <a:rPr lang="en-US" sz="1798" b="1">
                <a:solidFill>
                  <a:srgbClr val="FFFFFF"/>
                </a:solidFill>
                <a:latin typeface="Open Sans Bold"/>
                <a:ea typeface="Open Sans Bold"/>
                <a:cs typeface="Open Sans Bold"/>
                <a:sym typeface="Open Sans Bold"/>
              </a:rPr>
              <a:t>02</a:t>
            </a:r>
          </a:p>
        </p:txBody>
      </p:sp>
      <p:grpSp>
        <p:nvGrpSpPr>
          <p:cNvPr id="34" name="Group 34"/>
          <p:cNvGrpSpPr/>
          <p:nvPr/>
        </p:nvGrpSpPr>
        <p:grpSpPr>
          <a:xfrm>
            <a:off x="14169766" y="0"/>
            <a:ext cx="3089534" cy="4634301"/>
            <a:chOff x="0" y="0"/>
            <a:chExt cx="406400" cy="609600"/>
          </a:xfrm>
        </p:grpSpPr>
        <p:sp>
          <p:nvSpPr>
            <p:cNvPr id="35" name="Freeform 35"/>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gradFill rotWithShape="1">
              <a:gsLst>
                <a:gs pos="0">
                  <a:srgbClr val="001BD1">
                    <a:alpha val="58000"/>
                  </a:srgbClr>
                </a:gs>
                <a:gs pos="100000">
                  <a:srgbClr val="0085FF">
                    <a:alpha val="0"/>
                  </a:srgbClr>
                </a:gs>
              </a:gsLst>
              <a:lin ang="0"/>
            </a:gradFill>
          </p:spPr>
        </p:sp>
        <p:sp>
          <p:nvSpPr>
            <p:cNvPr id="36" name="TextBox 36"/>
            <p:cNvSpPr txBox="1"/>
            <p:nvPr/>
          </p:nvSpPr>
          <p:spPr>
            <a:xfrm>
              <a:off x="101600" y="-38100"/>
              <a:ext cx="203200" cy="6477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14/16</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4095750" y="9042621"/>
            <a:ext cx="10172700" cy="320601"/>
          </a:xfrm>
          <a:prstGeom prst="rect">
            <a:avLst/>
          </a:prstGeom>
        </p:spPr>
        <p:txBody>
          <a:bodyPr wrap="square" lIns="0" tIns="0" rIns="0" bIns="0" rtlCol="0" anchor="t">
            <a:spAutoFit/>
          </a:bodyPr>
          <a:lstStyle/>
          <a:p>
            <a:pPr marL="0" lvl="0" indent="0" algn="ctr">
              <a:lnSpc>
                <a:spcPts val="2518"/>
              </a:lnSpc>
              <a:spcBef>
                <a:spcPct val="0"/>
              </a:spcBef>
            </a:pPr>
            <a:r>
              <a:rPr lang="en-US" sz="2200" b="1">
                <a:solidFill>
                  <a:srgbClr val="007DFF"/>
                </a:solidFill>
                <a:latin typeface="Open Sans Bold"/>
                <a:ea typeface="Open Sans Bold"/>
                <a:cs typeface="Open Sans Bold"/>
                <a:sym typeface="Open Sans Bold"/>
              </a:rPr>
              <a:t>Provocarea decisiva pentru agentul vierme este pe cale sa inceapa</a:t>
            </a:r>
          </a:p>
        </p:txBody>
      </p:sp>
      <p:grpSp>
        <p:nvGrpSpPr>
          <p:cNvPr id="22" name="Group 22"/>
          <p:cNvGrpSpPr/>
          <p:nvPr/>
        </p:nvGrpSpPr>
        <p:grpSpPr>
          <a:xfrm>
            <a:off x="8216655" y="2603652"/>
            <a:ext cx="1854690" cy="124256"/>
            <a:chOff x="0" y="0"/>
            <a:chExt cx="488478" cy="32726"/>
          </a:xfrm>
        </p:grpSpPr>
        <p:sp>
          <p:nvSpPr>
            <p:cNvPr id="23" name="Freeform 23"/>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4" name="TextBox 24"/>
            <p:cNvSpPr txBox="1"/>
            <p:nvPr/>
          </p:nvSpPr>
          <p:spPr>
            <a:xfrm>
              <a:off x="0" y="-38100"/>
              <a:ext cx="488478" cy="70826"/>
            </a:xfrm>
            <a:prstGeom prst="rect">
              <a:avLst/>
            </a:prstGeom>
          </p:spPr>
          <p:txBody>
            <a:bodyPr lIns="50800" tIns="50800" rIns="50800" bIns="50800" rtlCol="0" anchor="ctr"/>
            <a:lstStyle/>
            <a:p>
              <a:pPr marL="0" lvl="0" indent="0" algn="r">
                <a:lnSpc>
                  <a:spcPts val="2659"/>
                </a:lnSpc>
                <a:spcBef>
                  <a:spcPct val="0"/>
                </a:spcBef>
              </a:pPr>
              <a:endParaRPr/>
            </a:p>
          </p:txBody>
        </p:sp>
      </p:grpSp>
      <p:sp>
        <p:nvSpPr>
          <p:cNvPr id="25" name="TextBox 25"/>
          <p:cNvSpPr txBox="1"/>
          <p:nvPr/>
        </p:nvSpPr>
        <p:spPr>
          <a:xfrm>
            <a:off x="5366751" y="805424"/>
            <a:ext cx="7097807" cy="525785"/>
          </a:xfrm>
          <a:prstGeom prst="rect">
            <a:avLst/>
          </a:prstGeom>
        </p:spPr>
        <p:txBody>
          <a:bodyPr lIns="0" tIns="0" rIns="0" bIns="0" rtlCol="0" anchor="t">
            <a:spAutoFit/>
          </a:bodyPr>
          <a:lstStyle/>
          <a:p>
            <a:pPr marL="0" lvl="0" indent="0" algn="ctr">
              <a:lnSpc>
                <a:spcPts val="4086"/>
              </a:lnSpc>
              <a:spcBef>
                <a:spcPct val="0"/>
              </a:spcBef>
            </a:pPr>
            <a:r>
              <a:rPr lang="en-US" sz="3400">
                <a:solidFill>
                  <a:srgbClr val="FFFFFF"/>
                </a:solidFill>
                <a:latin typeface="Pattanakarn"/>
                <a:ea typeface="Pattanakarn"/>
                <a:cs typeface="Pattanakarn"/>
                <a:sym typeface="Pattanakarn"/>
              </a:rPr>
              <a:t>Labirintul</a:t>
            </a:r>
          </a:p>
        </p:txBody>
      </p:sp>
      <p:grpSp>
        <p:nvGrpSpPr>
          <p:cNvPr id="26" name="Group 26"/>
          <p:cNvGrpSpPr/>
          <p:nvPr/>
        </p:nvGrpSpPr>
        <p:grpSpPr>
          <a:xfrm>
            <a:off x="5366751" y="4511214"/>
            <a:ext cx="1117184" cy="1299996"/>
            <a:chOff x="0" y="0"/>
            <a:chExt cx="698500" cy="812800"/>
          </a:xfrm>
        </p:grpSpPr>
        <p:sp>
          <p:nvSpPr>
            <p:cNvPr id="27" name="Freeform 2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085FF">
                    <a:alpha val="0"/>
                  </a:srgbClr>
                </a:gs>
                <a:gs pos="100000">
                  <a:srgbClr val="001BD1">
                    <a:alpha val="58000"/>
                  </a:srgbClr>
                </a:gs>
              </a:gsLst>
              <a:lin ang="0"/>
            </a:gradFill>
          </p:spPr>
        </p:sp>
        <p:sp>
          <p:nvSpPr>
            <p:cNvPr id="28" name="TextBox 28"/>
            <p:cNvSpPr txBox="1"/>
            <p:nvPr/>
          </p:nvSpPr>
          <p:spPr>
            <a:xfrm>
              <a:off x="0" y="101600"/>
              <a:ext cx="698500" cy="571500"/>
            </a:xfrm>
            <a:prstGeom prst="rect">
              <a:avLst/>
            </a:prstGeom>
          </p:spPr>
          <p:txBody>
            <a:bodyPr lIns="50800" tIns="50800" rIns="50800" bIns="50800" rtlCol="0" anchor="ctr"/>
            <a:lstStyle/>
            <a:p>
              <a:pPr marL="0" lvl="0" indent="0" algn="ctr">
                <a:lnSpc>
                  <a:spcPts val="2659"/>
                </a:lnSpc>
              </a:pPr>
              <a:endParaRPr/>
            </a:p>
          </p:txBody>
        </p:sp>
      </p:grpSp>
      <p:grpSp>
        <p:nvGrpSpPr>
          <p:cNvPr id="29" name="Group 29"/>
          <p:cNvGrpSpPr/>
          <p:nvPr/>
        </p:nvGrpSpPr>
        <p:grpSpPr>
          <a:xfrm>
            <a:off x="10122752" y="4511214"/>
            <a:ext cx="1117184" cy="1299996"/>
            <a:chOff x="0" y="0"/>
            <a:chExt cx="698500" cy="812800"/>
          </a:xfrm>
        </p:grpSpPr>
        <p:sp>
          <p:nvSpPr>
            <p:cNvPr id="30" name="Freeform 3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085FF">
                    <a:alpha val="0"/>
                  </a:srgbClr>
                </a:gs>
                <a:gs pos="100000">
                  <a:srgbClr val="001BD1">
                    <a:alpha val="58000"/>
                  </a:srgbClr>
                </a:gs>
              </a:gsLst>
              <a:lin ang="0"/>
            </a:gradFill>
          </p:spPr>
        </p:sp>
        <p:sp>
          <p:nvSpPr>
            <p:cNvPr id="31" name="TextBox 31"/>
            <p:cNvSpPr txBox="1"/>
            <p:nvPr/>
          </p:nvSpPr>
          <p:spPr>
            <a:xfrm>
              <a:off x="0" y="101600"/>
              <a:ext cx="698500" cy="571500"/>
            </a:xfrm>
            <a:prstGeom prst="rect">
              <a:avLst/>
            </a:prstGeom>
          </p:spPr>
          <p:txBody>
            <a:bodyPr lIns="50800" tIns="50800" rIns="50800" bIns="50800" rtlCol="0" anchor="ctr"/>
            <a:lstStyle/>
            <a:p>
              <a:pPr marL="0" lvl="0" indent="0" algn="ctr">
                <a:lnSpc>
                  <a:spcPts val="2659"/>
                </a:lnSpc>
              </a:pPr>
              <a:endParaRPr/>
            </a:p>
          </p:txBody>
        </p:sp>
      </p:grpSp>
      <p:grpSp>
        <p:nvGrpSpPr>
          <p:cNvPr id="32" name="Group 32"/>
          <p:cNvGrpSpPr/>
          <p:nvPr/>
        </p:nvGrpSpPr>
        <p:grpSpPr>
          <a:xfrm>
            <a:off x="14878752" y="4511214"/>
            <a:ext cx="1117184" cy="1299996"/>
            <a:chOff x="0" y="0"/>
            <a:chExt cx="698500" cy="812800"/>
          </a:xfrm>
        </p:grpSpPr>
        <p:sp>
          <p:nvSpPr>
            <p:cNvPr id="33" name="Freeform 3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085FF">
                    <a:alpha val="0"/>
                  </a:srgbClr>
                </a:gs>
                <a:gs pos="100000">
                  <a:srgbClr val="001BD1">
                    <a:alpha val="58000"/>
                  </a:srgbClr>
                </a:gs>
              </a:gsLst>
              <a:lin ang="0"/>
            </a:gradFill>
          </p:spPr>
        </p:sp>
        <p:sp>
          <p:nvSpPr>
            <p:cNvPr id="34" name="TextBox 34"/>
            <p:cNvSpPr txBox="1"/>
            <p:nvPr/>
          </p:nvSpPr>
          <p:spPr>
            <a:xfrm>
              <a:off x="0" y="101600"/>
              <a:ext cx="698500" cy="571500"/>
            </a:xfrm>
            <a:prstGeom prst="rect">
              <a:avLst/>
            </a:prstGeom>
          </p:spPr>
          <p:txBody>
            <a:bodyPr lIns="50800" tIns="50800" rIns="50800" bIns="50800" rtlCol="0" anchor="ctr"/>
            <a:lstStyle/>
            <a:p>
              <a:pPr marL="0" lvl="0" indent="0" algn="ctr">
                <a:lnSpc>
                  <a:spcPts val="2659"/>
                </a:lnSpc>
              </a:pPr>
              <a:endParaRPr/>
            </a:p>
          </p:txBody>
        </p:sp>
      </p:grpSp>
      <p:pic>
        <p:nvPicPr>
          <p:cNvPr id="36" name="Picture 35">
            <a:extLst>
              <a:ext uri="{FF2B5EF4-FFF2-40B4-BE49-F238E27FC236}">
                <a16:creationId xmlns:a16="http://schemas.microsoft.com/office/drawing/2014/main" id="{9B5898D6-4209-1538-B3D6-3D64E3A43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1512784"/>
            <a:ext cx="14554200" cy="72472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p>
        </p:txBody>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EXTRA</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1657536" y="3091206"/>
            <a:ext cx="1854690" cy="124256"/>
            <a:chOff x="0" y="0"/>
            <a:chExt cx="488478" cy="32726"/>
          </a:xfrm>
        </p:grpSpPr>
        <p:sp>
          <p:nvSpPr>
            <p:cNvPr id="19" name="Freeform 19"/>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TextBox 21"/>
          <p:cNvSpPr txBox="1"/>
          <p:nvPr/>
        </p:nvSpPr>
        <p:spPr>
          <a:xfrm>
            <a:off x="5486400" y="550053"/>
            <a:ext cx="9164854" cy="585930"/>
          </a:xfrm>
          <a:prstGeom prst="rect">
            <a:avLst/>
          </a:prstGeom>
        </p:spPr>
        <p:txBody>
          <a:bodyPr wrap="square" lIns="0" tIns="0" rIns="0" bIns="0" rtlCol="0" anchor="t">
            <a:spAutoFit/>
          </a:bodyPr>
          <a:lstStyle/>
          <a:p>
            <a:pPr marL="0" lvl="0" indent="0" algn="l">
              <a:lnSpc>
                <a:spcPts val="5036"/>
              </a:lnSpc>
              <a:spcBef>
                <a:spcPct val="0"/>
              </a:spcBef>
            </a:pPr>
            <a:r>
              <a:rPr lang="en-US" sz="3597">
                <a:solidFill>
                  <a:srgbClr val="FFFFFF"/>
                </a:solidFill>
                <a:latin typeface="Pattanakarn"/>
                <a:ea typeface="Pattanakarn"/>
                <a:cs typeface="Pattanakarn"/>
                <a:sym typeface="Pattanakarn"/>
              </a:rPr>
              <a:t>Implementarea retelei reuronale ( I )</a:t>
            </a:r>
          </a:p>
        </p:txBody>
      </p:sp>
      <p:sp>
        <p:nvSpPr>
          <p:cNvPr id="29" name="TextBox 29"/>
          <p:cNvSpPr txBox="1"/>
          <p:nvPr/>
        </p:nvSpPr>
        <p:spPr>
          <a:xfrm>
            <a:off x="2590800" y="2515110"/>
            <a:ext cx="13335000" cy="2680221"/>
          </a:xfrm>
          <a:prstGeom prst="rect">
            <a:avLst/>
          </a:prstGeom>
        </p:spPr>
        <p:txBody>
          <a:bodyPr wrap="square" lIns="0" tIns="0" rIns="0" bIns="0" rtlCol="0" anchor="t">
            <a:spAutoFit/>
          </a:bodyPr>
          <a:lstStyle/>
          <a:p>
            <a:pPr marL="0" lvl="0" indent="0" algn="l">
              <a:spcBef>
                <a:spcPct val="0"/>
              </a:spcBef>
            </a:pPr>
            <a:r>
              <a:rPr lang="en-US" sz="2000">
                <a:solidFill>
                  <a:srgbClr val="FFFFFF"/>
                </a:solidFill>
                <a:latin typeface="Open Sans"/>
                <a:ea typeface="Open Sans"/>
                <a:cs typeface="Open Sans"/>
                <a:sym typeface="Open Sans"/>
              </a:rPr>
              <a:t>Informatii despre reteaua neuronala  : Tip – regresie</a:t>
            </a:r>
          </a:p>
          <a:p>
            <a:pPr marL="0" lvl="0" indent="0" algn="l">
              <a:spcBef>
                <a:spcPct val="0"/>
              </a:spcBef>
            </a:pPr>
            <a:r>
              <a:rPr lang="en-US" sz="2000">
                <a:solidFill>
                  <a:srgbClr val="FFFFFF"/>
                </a:solidFill>
                <a:latin typeface="Open Sans"/>
                <a:ea typeface="Open Sans"/>
                <a:cs typeface="Open Sans"/>
                <a:sym typeface="Open Sans"/>
              </a:rPr>
              <a:t>                                                                   : Loss function – MSE</a:t>
            </a:r>
          </a:p>
          <a:p>
            <a:pPr marL="0" lvl="0" indent="0" algn="l">
              <a:spcBef>
                <a:spcPct val="0"/>
              </a:spcBef>
            </a:pPr>
            <a:r>
              <a:rPr lang="en-US" sz="2000">
                <a:solidFill>
                  <a:srgbClr val="FFFFFF"/>
                </a:solidFill>
                <a:latin typeface="Open Sans"/>
                <a:ea typeface="Open Sans"/>
                <a:cs typeface="Open Sans"/>
                <a:sym typeface="Open Sans"/>
              </a:rPr>
              <a:t>                                                                   : Activation function (hidden and output layer )  - Tanh ( calculeaza o                                             valoare cuprinsa intre -1 si +1, potrivita pentru valori continue in cazul regresiilor )</a:t>
            </a:r>
          </a:p>
          <a:p>
            <a:pPr marL="0" lvl="0" indent="0" algn="l">
              <a:spcBef>
                <a:spcPct val="0"/>
              </a:spcBef>
            </a:pPr>
            <a:r>
              <a:rPr lang="en-US" sz="2000">
                <a:solidFill>
                  <a:srgbClr val="FFFFFF"/>
                </a:solidFill>
                <a:latin typeface="Open Sans"/>
                <a:ea typeface="Open Sans"/>
                <a:cs typeface="Open Sans"/>
                <a:sym typeface="Open Sans"/>
              </a:rPr>
              <a:t>                                                                   : Optimizer – Vanilla gradient descent ( eficient in cazul retelelor simple )</a:t>
            </a:r>
          </a:p>
          <a:p>
            <a:pPr marL="0" lvl="0" indent="0" algn="l">
              <a:spcBef>
                <a:spcPct val="0"/>
              </a:spcBef>
            </a:pPr>
            <a:r>
              <a:rPr lang="en-US" sz="2000">
                <a:solidFill>
                  <a:srgbClr val="FFFFFF"/>
                </a:solidFill>
                <a:latin typeface="Open Sans"/>
                <a:ea typeface="Open Sans"/>
                <a:cs typeface="Open Sans"/>
                <a:sym typeface="Open Sans"/>
              </a:rPr>
              <a:t>                                                                   : Learning rate – 0.05</a:t>
            </a:r>
          </a:p>
          <a:p>
            <a:pPr marL="0" lvl="0" indent="0" algn="l">
              <a:spcBef>
                <a:spcPct val="0"/>
              </a:spcBef>
            </a:pPr>
            <a:r>
              <a:rPr lang="en-US" sz="2000">
                <a:solidFill>
                  <a:srgbClr val="FFFFFF"/>
                </a:solidFill>
                <a:latin typeface="Open Sans"/>
                <a:ea typeface="Open Sans"/>
                <a:cs typeface="Open Sans"/>
                <a:sym typeface="Open Sans"/>
              </a:rPr>
              <a:t>                                                                   : Numar epoci - 3000      </a:t>
            </a:r>
          </a:p>
          <a:p>
            <a:pPr marL="0" lvl="0" indent="0" algn="l">
              <a:spcBef>
                <a:spcPct val="0"/>
              </a:spcBef>
            </a:pPr>
            <a:r>
              <a:rPr lang="en-US" sz="2000">
                <a:solidFill>
                  <a:srgbClr val="FFFFFF"/>
                </a:solidFill>
                <a:latin typeface="Open Sans"/>
                <a:ea typeface="Open Sans"/>
                <a:cs typeface="Open Sans"/>
                <a:sym typeface="Open Sans"/>
              </a:rPr>
              <a:t>                                                                   : Numar parametrii – 81 ( 7x8 + 8 + 8 + 1 )                                                            </a:t>
            </a:r>
          </a:p>
          <a:p>
            <a:pPr marL="0" lvl="0" indent="0" algn="l">
              <a:lnSpc>
                <a:spcPts val="1677"/>
              </a:lnSpc>
              <a:spcBef>
                <a:spcPct val="0"/>
              </a:spcBef>
            </a:pPr>
            <a:r>
              <a:rPr lang="en-US" sz="1600">
                <a:solidFill>
                  <a:srgbClr val="FFFFFF"/>
                </a:solidFill>
                <a:latin typeface="Open Sans"/>
                <a:ea typeface="Open Sans"/>
                <a:cs typeface="Open Sans"/>
                <a:sym typeface="Open Sans"/>
              </a:rPr>
              <a:t>                                                                    </a:t>
            </a:r>
          </a:p>
        </p:txBody>
      </p:sp>
      <p:sp>
        <p:nvSpPr>
          <p:cNvPr id="30" name="TextBox 30"/>
          <p:cNvSpPr txBox="1"/>
          <p:nvPr/>
        </p:nvSpPr>
        <p:spPr>
          <a:xfrm>
            <a:off x="2590800" y="1920683"/>
            <a:ext cx="13106399" cy="229743"/>
          </a:xfrm>
          <a:prstGeom prst="rect">
            <a:avLst/>
          </a:prstGeom>
        </p:spPr>
        <p:txBody>
          <a:bodyPr wrap="square" lIns="0" tIns="0" rIns="0" bIns="0" rtlCol="0" anchor="t">
            <a:spAutoFit/>
          </a:bodyPr>
          <a:lstStyle/>
          <a:p>
            <a:pPr marL="0" lvl="0" indent="0" algn="l">
              <a:lnSpc>
                <a:spcPts val="1680"/>
              </a:lnSpc>
              <a:spcBef>
                <a:spcPct val="0"/>
              </a:spcBef>
            </a:pPr>
            <a:r>
              <a:rPr lang="en-US" sz="2000">
                <a:solidFill>
                  <a:srgbClr val="FFFFFF"/>
                </a:solidFill>
                <a:latin typeface="Open Sans"/>
                <a:ea typeface="Open Sans"/>
                <a:cs typeface="Open Sans"/>
                <a:sym typeface="Open Sans"/>
              </a:rPr>
              <a:t>Am optat pentru tipul de invatare Supervised learning, datorita usurintei si timpului redus de implementare. </a:t>
            </a:r>
          </a:p>
        </p:txBody>
      </p:sp>
      <p:pic>
        <p:nvPicPr>
          <p:cNvPr id="11" name="Picture 10">
            <a:extLst>
              <a:ext uri="{FF2B5EF4-FFF2-40B4-BE49-F238E27FC236}">
                <a16:creationId xmlns:a16="http://schemas.microsoft.com/office/drawing/2014/main" id="{2D339565-E04D-EACB-B79B-C192393012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2590" y="5032214"/>
            <a:ext cx="9398210" cy="498808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p>
        </p:txBody>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EXTRA</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1657536" y="3091206"/>
            <a:ext cx="1854690" cy="124256"/>
            <a:chOff x="0" y="0"/>
            <a:chExt cx="488478" cy="32726"/>
          </a:xfrm>
        </p:grpSpPr>
        <p:sp>
          <p:nvSpPr>
            <p:cNvPr id="19" name="Freeform 19"/>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TextBox 21"/>
          <p:cNvSpPr txBox="1"/>
          <p:nvPr/>
        </p:nvSpPr>
        <p:spPr>
          <a:xfrm>
            <a:off x="5486400" y="571055"/>
            <a:ext cx="9164854" cy="585930"/>
          </a:xfrm>
          <a:prstGeom prst="rect">
            <a:avLst/>
          </a:prstGeom>
        </p:spPr>
        <p:txBody>
          <a:bodyPr wrap="square" lIns="0" tIns="0" rIns="0" bIns="0" rtlCol="0" anchor="t">
            <a:spAutoFit/>
          </a:bodyPr>
          <a:lstStyle/>
          <a:p>
            <a:pPr marL="0" lvl="0" indent="0" algn="l">
              <a:lnSpc>
                <a:spcPts val="5036"/>
              </a:lnSpc>
              <a:spcBef>
                <a:spcPct val="0"/>
              </a:spcBef>
            </a:pPr>
            <a:r>
              <a:rPr lang="en-US" sz="3597">
                <a:solidFill>
                  <a:srgbClr val="FFFFFF"/>
                </a:solidFill>
                <a:latin typeface="Pattanakarn"/>
                <a:ea typeface="Pattanakarn"/>
                <a:cs typeface="Pattanakarn"/>
                <a:sym typeface="Pattanakarn"/>
              </a:rPr>
              <a:t>Implementarea retelei reuronale ( II )</a:t>
            </a:r>
          </a:p>
        </p:txBody>
      </p:sp>
      <p:sp>
        <p:nvSpPr>
          <p:cNvPr id="30" name="TextBox 30"/>
          <p:cNvSpPr txBox="1"/>
          <p:nvPr/>
        </p:nvSpPr>
        <p:spPr>
          <a:xfrm>
            <a:off x="3178277" y="1633881"/>
            <a:ext cx="12801600" cy="1384995"/>
          </a:xfrm>
          <a:prstGeom prst="rect">
            <a:avLst/>
          </a:prstGeom>
        </p:spPr>
        <p:txBody>
          <a:bodyPr wrap="square" lIns="0" tIns="0" rIns="0" bIns="0" rtlCol="0" anchor="t">
            <a:spAutoFit/>
          </a:bodyPr>
          <a:lstStyle/>
          <a:p>
            <a:pPr marL="0" lvl="0" indent="0" algn="l">
              <a:spcBef>
                <a:spcPct val="0"/>
              </a:spcBef>
            </a:pPr>
            <a:r>
              <a:rPr lang="en-US">
                <a:solidFill>
                  <a:srgbClr val="FFFFFF"/>
                </a:solidFill>
                <a:latin typeface="Open Sans"/>
                <a:ea typeface="Open Sans"/>
                <a:cs typeface="Open Sans"/>
                <a:sym typeface="Open Sans"/>
              </a:rPr>
              <a:t>Pentru stangerea datelor, am folosit Streamwriter o clasa din System.IO din C#, pentru a imi crea un fisier CSV, in care sa scrie informatiile de la senzorii viermelui, care sa foloseasca drept valori de input pentru reteaua neuronala.</a:t>
            </a:r>
          </a:p>
          <a:p>
            <a:pPr marL="0" lvl="0" indent="0" algn="l">
              <a:spcBef>
                <a:spcPct val="0"/>
              </a:spcBef>
            </a:pPr>
            <a:r>
              <a:rPr lang="en-US">
                <a:solidFill>
                  <a:srgbClr val="FFFFFF"/>
                </a:solidFill>
                <a:latin typeface="Open Sans"/>
                <a:ea typeface="Open Sans"/>
                <a:cs typeface="Open Sans"/>
                <a:sym typeface="Open Sans"/>
              </a:rPr>
              <a:t>Odata ce am avut noul fisier, l-am deschis in Pycharm cu With open, unde am prelucrat datele in arrayuri, si am obtinut weighturile si biasurile optime, in urma antrenarii retelei neuronale, precum si grafice de loss si validare care au confirmat antrenarea. </a:t>
            </a:r>
          </a:p>
        </p:txBody>
      </p:sp>
      <p:pic>
        <p:nvPicPr>
          <p:cNvPr id="11" name="Picture 10">
            <a:extLst>
              <a:ext uri="{FF2B5EF4-FFF2-40B4-BE49-F238E27FC236}">
                <a16:creationId xmlns:a16="http://schemas.microsoft.com/office/drawing/2014/main" id="{AB21E9CB-A184-D7C2-05DF-FF21274718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8277" y="3153334"/>
            <a:ext cx="12398814" cy="6873836"/>
          </a:xfrm>
          <a:prstGeom prst="rect">
            <a:avLst/>
          </a:prstGeom>
        </p:spPr>
      </p:pic>
    </p:spTree>
    <p:extLst>
      <p:ext uri="{BB962C8B-B14F-4D97-AF65-F5344CB8AC3E}">
        <p14:creationId xmlns:p14="http://schemas.microsoft.com/office/powerpoint/2010/main" val="3609824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p>
        </p:txBody>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EXTRA</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1657536" y="3091206"/>
            <a:ext cx="1854690" cy="124256"/>
            <a:chOff x="0" y="0"/>
            <a:chExt cx="488478" cy="32726"/>
          </a:xfrm>
        </p:grpSpPr>
        <p:sp>
          <p:nvSpPr>
            <p:cNvPr id="19" name="Freeform 19"/>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TextBox 21"/>
          <p:cNvSpPr txBox="1"/>
          <p:nvPr/>
        </p:nvSpPr>
        <p:spPr>
          <a:xfrm>
            <a:off x="5486400" y="571055"/>
            <a:ext cx="9164854" cy="585930"/>
          </a:xfrm>
          <a:prstGeom prst="rect">
            <a:avLst/>
          </a:prstGeom>
        </p:spPr>
        <p:txBody>
          <a:bodyPr wrap="square" lIns="0" tIns="0" rIns="0" bIns="0" rtlCol="0" anchor="t">
            <a:spAutoFit/>
          </a:bodyPr>
          <a:lstStyle/>
          <a:p>
            <a:pPr marL="0" lvl="0" indent="0" algn="l">
              <a:lnSpc>
                <a:spcPts val="5036"/>
              </a:lnSpc>
              <a:spcBef>
                <a:spcPct val="0"/>
              </a:spcBef>
            </a:pPr>
            <a:r>
              <a:rPr lang="en-US" sz="3597">
                <a:solidFill>
                  <a:srgbClr val="FFFFFF"/>
                </a:solidFill>
                <a:latin typeface="Pattanakarn"/>
                <a:ea typeface="Pattanakarn"/>
                <a:cs typeface="Pattanakarn"/>
                <a:sym typeface="Pattanakarn"/>
              </a:rPr>
              <a:t>Implementarea retelei reuronale ( III )</a:t>
            </a:r>
          </a:p>
        </p:txBody>
      </p:sp>
      <p:sp>
        <p:nvSpPr>
          <p:cNvPr id="30" name="TextBox 30"/>
          <p:cNvSpPr txBox="1"/>
          <p:nvPr/>
        </p:nvSpPr>
        <p:spPr>
          <a:xfrm>
            <a:off x="3418573" y="2473628"/>
            <a:ext cx="11450854" cy="1107996"/>
          </a:xfrm>
          <a:prstGeom prst="rect">
            <a:avLst/>
          </a:prstGeom>
        </p:spPr>
        <p:txBody>
          <a:bodyPr wrap="square" lIns="0" tIns="0" rIns="0" bIns="0" rtlCol="0" anchor="t">
            <a:spAutoFit/>
          </a:bodyPr>
          <a:lstStyle/>
          <a:p>
            <a:pPr marL="0" lvl="0" indent="0" algn="l">
              <a:spcBef>
                <a:spcPct val="0"/>
              </a:spcBef>
            </a:pPr>
            <a:r>
              <a:rPr lang="en-US">
                <a:solidFill>
                  <a:srgbClr val="FFFFFF"/>
                </a:solidFill>
                <a:latin typeface="Open Sans"/>
                <a:ea typeface="Open Sans"/>
                <a:cs typeface="Open Sans"/>
                <a:sym typeface="Open Sans"/>
              </a:rPr>
              <a:t>Acesti parametrii obtinuti in urma antrenarii, i-am introdus intr-un nou script C#, WormNeuralBrain, care contine calculele matematice pentru folosirea parametrilor, fara sa se mai faca nici un training. Apoi, din WormBrain, cand se selecteaza folosirea retelei neuronale, se apeleaza Predict() in WormNeuralBrain, prin care se face forward pass, si se obtine o valoare prezisa, pe baza unor weighturi fixe.</a:t>
            </a:r>
          </a:p>
        </p:txBody>
      </p:sp>
      <p:pic>
        <p:nvPicPr>
          <p:cNvPr id="11" name="Picture 10">
            <a:extLst>
              <a:ext uri="{FF2B5EF4-FFF2-40B4-BE49-F238E27FC236}">
                <a16:creationId xmlns:a16="http://schemas.microsoft.com/office/drawing/2014/main" id="{B97152C1-001D-D828-C7B5-0D1B972920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3200" y="4519928"/>
            <a:ext cx="5372288" cy="1813453"/>
          </a:xfrm>
          <a:prstGeom prst="rect">
            <a:avLst/>
          </a:prstGeom>
        </p:spPr>
      </p:pic>
      <p:pic>
        <p:nvPicPr>
          <p:cNvPr id="13" name="Picture 12">
            <a:extLst>
              <a:ext uri="{FF2B5EF4-FFF2-40B4-BE49-F238E27FC236}">
                <a16:creationId xmlns:a16="http://schemas.microsoft.com/office/drawing/2014/main" id="{DC1F0A43-BB5C-E31B-D259-081ADF3EC2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9598" y="7329714"/>
            <a:ext cx="6599492" cy="1196444"/>
          </a:xfrm>
          <a:prstGeom prst="rect">
            <a:avLst/>
          </a:prstGeom>
        </p:spPr>
      </p:pic>
    </p:spTree>
    <p:extLst>
      <p:ext uri="{BB962C8B-B14F-4D97-AF65-F5344CB8AC3E}">
        <p14:creationId xmlns:p14="http://schemas.microsoft.com/office/powerpoint/2010/main" val="234481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p>
        </p:txBody>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EXTRA</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1657536" y="3091206"/>
            <a:ext cx="1854690" cy="124256"/>
            <a:chOff x="0" y="0"/>
            <a:chExt cx="488478" cy="32726"/>
          </a:xfrm>
        </p:grpSpPr>
        <p:sp>
          <p:nvSpPr>
            <p:cNvPr id="19" name="Freeform 19"/>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TextBox 21"/>
          <p:cNvSpPr txBox="1"/>
          <p:nvPr/>
        </p:nvSpPr>
        <p:spPr>
          <a:xfrm>
            <a:off x="8343900" y="580308"/>
            <a:ext cx="2209800" cy="585930"/>
          </a:xfrm>
          <a:prstGeom prst="rect">
            <a:avLst/>
          </a:prstGeom>
        </p:spPr>
        <p:txBody>
          <a:bodyPr wrap="square" lIns="0" tIns="0" rIns="0" bIns="0" rtlCol="0" anchor="t">
            <a:spAutoFit/>
          </a:bodyPr>
          <a:lstStyle/>
          <a:p>
            <a:pPr marL="0" lvl="0" indent="0" algn="l">
              <a:lnSpc>
                <a:spcPts val="5036"/>
              </a:lnSpc>
              <a:spcBef>
                <a:spcPct val="0"/>
              </a:spcBef>
            </a:pPr>
            <a:r>
              <a:rPr lang="en-US" sz="3597">
                <a:solidFill>
                  <a:srgbClr val="FFFFFF"/>
                </a:solidFill>
                <a:latin typeface="Pattanakarn"/>
                <a:ea typeface="Pattanakarn"/>
                <a:cs typeface="Pattanakarn"/>
                <a:sym typeface="Pattanakarn"/>
              </a:rPr>
              <a:t>Rezultat</a:t>
            </a:r>
          </a:p>
        </p:txBody>
      </p:sp>
      <p:sp>
        <p:nvSpPr>
          <p:cNvPr id="30" name="TextBox 30"/>
          <p:cNvSpPr txBox="1"/>
          <p:nvPr/>
        </p:nvSpPr>
        <p:spPr>
          <a:xfrm>
            <a:off x="6629400" y="1948676"/>
            <a:ext cx="5638800" cy="369332"/>
          </a:xfrm>
          <a:prstGeom prst="rect">
            <a:avLst/>
          </a:prstGeom>
        </p:spPr>
        <p:txBody>
          <a:bodyPr wrap="square" lIns="0" tIns="0" rIns="0" bIns="0" rtlCol="0" anchor="t">
            <a:spAutoFit/>
          </a:bodyPr>
          <a:lstStyle/>
          <a:p>
            <a:pPr marL="0" lvl="0" indent="0" algn="l">
              <a:spcBef>
                <a:spcPct val="0"/>
              </a:spcBef>
            </a:pPr>
            <a:r>
              <a:rPr lang="en-US" sz="2400">
                <a:solidFill>
                  <a:srgbClr val="FFFFFF"/>
                </a:solidFill>
                <a:latin typeface="Open Sans"/>
                <a:ea typeface="Open Sans"/>
                <a:cs typeface="Open Sans"/>
                <a:sym typeface="Open Sans"/>
              </a:rPr>
              <a:t>Evadarea viermelui a fost un succes !</a:t>
            </a:r>
          </a:p>
        </p:txBody>
      </p:sp>
      <p:pic>
        <p:nvPicPr>
          <p:cNvPr id="11" name="Picture 10">
            <a:extLst>
              <a:ext uri="{FF2B5EF4-FFF2-40B4-BE49-F238E27FC236}">
                <a16:creationId xmlns:a16="http://schemas.microsoft.com/office/drawing/2014/main" id="{5C9DE077-A0C0-A67E-2FC1-1F9CF27DA6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2552700"/>
            <a:ext cx="13411200" cy="6950075"/>
          </a:xfrm>
          <a:prstGeom prst="rect">
            <a:avLst/>
          </a:prstGeom>
        </p:spPr>
      </p:pic>
    </p:spTree>
    <p:extLst>
      <p:ext uri="{BB962C8B-B14F-4D97-AF65-F5344CB8AC3E}">
        <p14:creationId xmlns:p14="http://schemas.microsoft.com/office/powerpoint/2010/main" val="112283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7688631" y="7520059"/>
            <a:ext cx="599369" cy="1738241"/>
            <a:chOff x="0" y="0"/>
            <a:chExt cx="157859" cy="457808"/>
          </a:xfrm>
        </p:grpSpPr>
        <p:sp>
          <p:nvSpPr>
            <p:cNvPr id="7" name="Freeform 7"/>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8" name="TextBox 8"/>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968317" y="2296709"/>
            <a:ext cx="1854690" cy="124256"/>
            <a:chOff x="0" y="0"/>
            <a:chExt cx="488478" cy="32726"/>
          </a:xfrm>
        </p:grpSpPr>
        <p:sp>
          <p:nvSpPr>
            <p:cNvPr id="16" name="Freeform 16"/>
            <p:cNvSpPr/>
            <p:nvPr/>
          </p:nvSpPr>
          <p:spPr>
            <a:xfrm>
              <a:off x="0" y="0"/>
              <a:ext cx="488478" cy="32726"/>
            </a:xfrm>
            <a:custGeom>
              <a:avLst/>
              <a:gdLst/>
              <a:ahLst/>
              <a:cxnLst/>
              <a:rect l="l" t="t" r="r" b="b"/>
              <a:pathLst>
                <a:path w="488478" h="32726">
                  <a:moveTo>
                    <a:pt x="0" y="0"/>
                  </a:moveTo>
                  <a:lnTo>
                    <a:pt x="488478" y="0"/>
                  </a:lnTo>
                  <a:lnTo>
                    <a:pt x="488478" y="32726"/>
                  </a:lnTo>
                  <a:lnTo>
                    <a:pt x="0" y="32726"/>
                  </a:lnTo>
                  <a:close/>
                </a:path>
              </a:pathLst>
            </a:custGeom>
            <a:gradFill rotWithShape="1">
              <a:gsLst>
                <a:gs pos="0">
                  <a:srgbClr val="001BD1">
                    <a:alpha val="58000"/>
                  </a:srgbClr>
                </a:gs>
                <a:gs pos="100000">
                  <a:srgbClr val="0085FF">
                    <a:alpha val="0"/>
                  </a:srgbClr>
                </a:gs>
              </a:gsLst>
              <a:lin ang="0"/>
            </a:gradFill>
          </p:spPr>
        </p:sp>
        <p:sp>
          <p:nvSpPr>
            <p:cNvPr id="17" name="TextBox 17"/>
            <p:cNvSpPr txBox="1"/>
            <p:nvPr/>
          </p:nvSpPr>
          <p:spPr>
            <a:xfrm>
              <a:off x="0" y="-38100"/>
              <a:ext cx="488478" cy="7082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1222648" y="3032633"/>
            <a:ext cx="273855" cy="273855"/>
            <a:chOff x="0" y="0"/>
            <a:chExt cx="72126" cy="72126"/>
          </a:xfrm>
        </p:grpSpPr>
        <p:sp>
          <p:nvSpPr>
            <p:cNvPr id="19" name="Freeform 19"/>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0" name="TextBox 20"/>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1222648" y="5905500"/>
            <a:ext cx="273855" cy="273855"/>
            <a:chOff x="0" y="0"/>
            <a:chExt cx="72126" cy="72126"/>
          </a:xfrm>
        </p:grpSpPr>
        <p:sp>
          <p:nvSpPr>
            <p:cNvPr id="22" name="Freeform 22"/>
            <p:cNvSpPr/>
            <p:nvPr/>
          </p:nvSpPr>
          <p:spPr>
            <a:xfrm>
              <a:off x="0" y="0"/>
              <a:ext cx="72126" cy="72126"/>
            </a:xfrm>
            <a:custGeom>
              <a:avLst/>
              <a:gdLst/>
              <a:ahLst/>
              <a:cxnLst/>
              <a:rect l="l" t="t" r="r" b="b"/>
              <a:pathLst>
                <a:path w="72126" h="72126">
                  <a:moveTo>
                    <a:pt x="0" y="0"/>
                  </a:moveTo>
                  <a:lnTo>
                    <a:pt x="72126" y="0"/>
                  </a:lnTo>
                  <a:lnTo>
                    <a:pt x="72126" y="72126"/>
                  </a:lnTo>
                  <a:lnTo>
                    <a:pt x="0" y="72126"/>
                  </a:lnTo>
                  <a:close/>
                </a:path>
              </a:pathLst>
            </a:custGeom>
            <a:gradFill rotWithShape="1">
              <a:gsLst>
                <a:gs pos="0">
                  <a:srgbClr val="001BD1">
                    <a:alpha val="58000"/>
                  </a:srgbClr>
                </a:gs>
                <a:gs pos="100000">
                  <a:srgbClr val="0085FF">
                    <a:alpha val="0"/>
                  </a:srgbClr>
                </a:gs>
              </a:gsLst>
              <a:lin ang="0"/>
            </a:gradFill>
          </p:spPr>
        </p:sp>
        <p:sp>
          <p:nvSpPr>
            <p:cNvPr id="23" name="TextBox 23"/>
            <p:cNvSpPr txBox="1"/>
            <p:nvPr/>
          </p:nvSpPr>
          <p:spPr>
            <a:xfrm>
              <a:off x="0" y="-38100"/>
              <a:ext cx="72126" cy="110226"/>
            </a:xfrm>
            <a:prstGeom prst="rect">
              <a:avLst/>
            </a:prstGeom>
          </p:spPr>
          <p:txBody>
            <a:bodyPr lIns="50800" tIns="50800" rIns="50800" bIns="50800" rtlCol="0" anchor="ctr"/>
            <a:lstStyle/>
            <a:p>
              <a:pPr marL="0" lvl="0" indent="0" algn="ctr">
                <a:lnSpc>
                  <a:spcPts val="2659"/>
                </a:lnSpc>
              </a:pPr>
              <a:endParaRPr/>
            </a:p>
          </p:txBody>
        </p:sp>
      </p:grpSp>
      <p:grpSp>
        <p:nvGrpSpPr>
          <p:cNvPr id="27" name="Group 27"/>
          <p:cNvGrpSpPr/>
          <p:nvPr/>
        </p:nvGrpSpPr>
        <p:grpSpPr>
          <a:xfrm>
            <a:off x="7426037" y="6866548"/>
            <a:ext cx="1888429" cy="1622868"/>
            <a:chOff x="0" y="0"/>
            <a:chExt cx="812800" cy="698500"/>
          </a:xfrm>
        </p:grpSpPr>
        <p:sp>
          <p:nvSpPr>
            <p:cNvPr id="28" name="Freeform 2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001BD1">
                    <a:alpha val="58000"/>
                  </a:srgbClr>
                </a:gs>
                <a:gs pos="100000">
                  <a:srgbClr val="0085FF">
                    <a:alpha val="0"/>
                  </a:srgbClr>
                </a:gs>
              </a:gsLst>
              <a:lin ang="0"/>
            </a:gradFill>
          </p:spPr>
        </p:sp>
        <p:sp>
          <p:nvSpPr>
            <p:cNvPr id="29" name="TextBox 29"/>
            <p:cNvSpPr txBox="1"/>
            <p:nvPr/>
          </p:nvSpPr>
          <p:spPr>
            <a:xfrm>
              <a:off x="114300" y="-38100"/>
              <a:ext cx="584200" cy="736600"/>
            </a:xfrm>
            <a:prstGeom prst="rect">
              <a:avLst/>
            </a:prstGeom>
          </p:spPr>
          <p:txBody>
            <a:bodyPr lIns="50800" tIns="50800" rIns="50800" bIns="50800" rtlCol="0" anchor="ctr"/>
            <a:lstStyle/>
            <a:p>
              <a:pPr marL="0" lvl="0" indent="0" algn="ctr">
                <a:lnSpc>
                  <a:spcPts val="2659"/>
                </a:lnSpc>
              </a:pPr>
              <a:endParaRPr/>
            </a:p>
          </p:txBody>
        </p:sp>
      </p:grpSp>
      <p:sp>
        <p:nvSpPr>
          <p:cNvPr id="30" name="TextBox 30"/>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15/16</a:t>
            </a:r>
          </a:p>
        </p:txBody>
      </p:sp>
      <p:sp>
        <p:nvSpPr>
          <p:cNvPr id="31" name="TextBox 31"/>
          <p:cNvSpPr txBox="1"/>
          <p:nvPr/>
        </p:nvSpPr>
        <p:spPr>
          <a:xfrm>
            <a:off x="1968317" y="1637756"/>
            <a:ext cx="6344464" cy="525785"/>
          </a:xfrm>
          <a:prstGeom prst="rect">
            <a:avLst/>
          </a:prstGeom>
        </p:spPr>
        <p:txBody>
          <a:bodyPr wrap="square" lIns="0" tIns="0" rIns="0" bIns="0" rtlCol="0" anchor="t">
            <a:spAutoFit/>
          </a:bodyPr>
          <a:lstStyle/>
          <a:p>
            <a:pPr marL="0" lvl="0" indent="0" algn="l">
              <a:lnSpc>
                <a:spcPts val="4113"/>
              </a:lnSpc>
              <a:spcBef>
                <a:spcPct val="0"/>
              </a:spcBef>
            </a:pPr>
            <a:r>
              <a:rPr lang="en-US" sz="3200">
                <a:solidFill>
                  <a:srgbClr val="FFFFFF"/>
                </a:solidFill>
                <a:latin typeface="Pattanakarn"/>
                <a:ea typeface="Pattanakarn"/>
                <a:cs typeface="Pattanakarn"/>
                <a:sym typeface="Pattanakarn"/>
              </a:rPr>
              <a:t>Bug-uri hazlii (??) si depanare </a:t>
            </a:r>
          </a:p>
        </p:txBody>
      </p:sp>
      <p:sp>
        <p:nvSpPr>
          <p:cNvPr id="32" name="TextBox 32"/>
          <p:cNvSpPr txBox="1"/>
          <p:nvPr/>
        </p:nvSpPr>
        <p:spPr>
          <a:xfrm>
            <a:off x="1751041" y="2768471"/>
            <a:ext cx="8763346" cy="2462213"/>
          </a:xfrm>
          <a:prstGeom prst="rect">
            <a:avLst/>
          </a:prstGeom>
        </p:spPr>
        <p:txBody>
          <a:bodyPr wrap="square" lIns="0" tIns="0" rIns="0" bIns="0" rtlCol="0" anchor="t">
            <a:spAutoFit/>
          </a:bodyPr>
          <a:lstStyle/>
          <a:p>
            <a:pPr marL="0" lvl="0" indent="0" algn="l">
              <a:spcBef>
                <a:spcPct val="0"/>
              </a:spcBef>
            </a:pPr>
            <a:r>
              <a:rPr lang="en-US" sz="1600">
                <a:solidFill>
                  <a:srgbClr val="FFFFFF"/>
                </a:solidFill>
                <a:latin typeface="Open Sans"/>
                <a:ea typeface="Open Sans"/>
                <a:cs typeface="Open Sans"/>
                <a:sym typeface="Open Sans"/>
              </a:rPr>
              <a:t>Inainte de existenta oricarei corectii de rotati in Wormgenerator, segmentele erau instantiate cu rotatia lor implicita de identitate. Problema : forma implicita a capsulei din Unity, are axa lunga care se desfasoara de-a lungul axei Y locale, nu de-a lungul directiei in care segmentele erau efectiv distantate in univers. Intrucat ancorele ConfigurableJoint au fost configurate presupunand ca “susul” si “josul” fiecarei capsule, sunt conectate la segmentul urmator, intregul lant s-a construit stand drept – am programat un vierme cu corp din segmente, si m-am ales cu un soi de liana stranie, in echilibru fragil, balansandu-se primejdios.</a:t>
            </a:r>
          </a:p>
          <a:p>
            <a:pPr marL="0" lvl="0" indent="0" algn="l">
              <a:spcBef>
                <a:spcPct val="0"/>
              </a:spcBef>
            </a:pPr>
            <a:r>
              <a:rPr lang="en-US" sz="1600">
                <a:solidFill>
                  <a:srgbClr val="FFFFFF"/>
                </a:solidFill>
                <a:latin typeface="Open Sans"/>
                <a:ea typeface="Open Sans"/>
                <a:cs typeface="Open Sans"/>
                <a:sym typeface="Open Sans"/>
              </a:rPr>
              <a:t>Solutia ? Aplicarea unei corectii de rotatie cu 90 grade in momentul generarii, astfel incat axa lunga a capsulei sa fie plata de-a lungul directiei corpului viermelui, in loc sa fie indreptata direct in sus.</a:t>
            </a:r>
          </a:p>
        </p:txBody>
      </p:sp>
      <p:sp>
        <p:nvSpPr>
          <p:cNvPr id="33" name="TextBox 33"/>
          <p:cNvSpPr txBox="1"/>
          <p:nvPr/>
        </p:nvSpPr>
        <p:spPr>
          <a:xfrm>
            <a:off x="1751040" y="5622441"/>
            <a:ext cx="8535960" cy="2215991"/>
          </a:xfrm>
          <a:prstGeom prst="rect">
            <a:avLst/>
          </a:prstGeom>
        </p:spPr>
        <p:txBody>
          <a:bodyPr wrap="square" lIns="0" tIns="0" rIns="0" bIns="0" rtlCol="0" anchor="t">
            <a:spAutoFit/>
          </a:bodyPr>
          <a:lstStyle/>
          <a:p>
            <a:pPr marL="0" lvl="0" indent="0" algn="l">
              <a:spcBef>
                <a:spcPct val="0"/>
              </a:spcBef>
            </a:pPr>
            <a:r>
              <a:rPr lang="en-US" sz="1600">
                <a:solidFill>
                  <a:srgbClr val="FFFFFF"/>
                </a:solidFill>
                <a:latin typeface="Open Sans"/>
                <a:ea typeface="Open Sans"/>
                <a:cs typeface="Open Sans"/>
                <a:sym typeface="Open Sans"/>
              </a:rPr>
              <a:t>Un alt bug memorabil a aparut odata cu implementarea sistemului de foame. Conform logicii, cand foamea ajungea la 100, agentul ar fi trebuit sa moara de foame. In practica insa, viermele isi vedea de treaba, nepasator la propria sentinta. Am cerut sugestii de la ChatGPT, care m-a trimis intr-un adevarat rabbit hole: o lista lunga de verificari, care nu se mai terminau, fara nici o legatura evidenta cu problema reala. Asa ca am decis sa testez o suspiciune. Primul instinct a fost sa programez ceva spectaculos, sa pun viermele sa explodeze dupa moarte, ca sa fie clar vizual, daca moartea se declanseaza sau nu.  Rezultatul ? Nici o diferenta, asa ca am spus, ‘stai asa, inainte sa ma pui sa imi stric codul aiurea, sa vedem daca codul asta e rulat macar’. </a:t>
            </a:r>
          </a:p>
        </p:txBody>
      </p:sp>
      <p:pic>
        <p:nvPicPr>
          <p:cNvPr id="44" name="Picture 43">
            <a:extLst>
              <a:ext uri="{FF2B5EF4-FFF2-40B4-BE49-F238E27FC236}">
                <a16:creationId xmlns:a16="http://schemas.microsoft.com/office/drawing/2014/main" id="{A3327418-0B5C-F702-9452-7898B7A42A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6548" y="4677177"/>
            <a:ext cx="6690543" cy="1890528"/>
          </a:xfrm>
          <a:prstGeom prst="rect">
            <a:avLst/>
          </a:prstGeom>
        </p:spPr>
      </p:pic>
      <p:pic>
        <p:nvPicPr>
          <p:cNvPr id="46" name="Picture 45">
            <a:extLst>
              <a:ext uri="{FF2B5EF4-FFF2-40B4-BE49-F238E27FC236}">
                <a16:creationId xmlns:a16="http://schemas.microsoft.com/office/drawing/2014/main" id="{ABBE2C50-4CF6-A8DF-82FC-967F2689C9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14387" y="6793806"/>
            <a:ext cx="7254869" cy="777307"/>
          </a:xfrm>
          <a:prstGeom prst="rect">
            <a:avLst/>
          </a:prstGeom>
        </p:spPr>
      </p:pic>
      <p:sp>
        <p:nvSpPr>
          <p:cNvPr id="47" name="TextBox 46">
            <a:extLst>
              <a:ext uri="{FF2B5EF4-FFF2-40B4-BE49-F238E27FC236}">
                <a16:creationId xmlns:a16="http://schemas.microsoft.com/office/drawing/2014/main" id="{3EB012C9-CD01-33AF-C668-E9FED4291565}"/>
              </a:ext>
            </a:extLst>
          </p:cNvPr>
          <p:cNvSpPr txBox="1"/>
          <p:nvPr/>
        </p:nvSpPr>
        <p:spPr>
          <a:xfrm>
            <a:off x="1634362" y="7765672"/>
            <a:ext cx="15375209" cy="1846659"/>
          </a:xfrm>
          <a:prstGeom prst="rect">
            <a:avLst/>
          </a:prstGeom>
          <a:noFill/>
        </p:spPr>
        <p:txBody>
          <a:bodyPr wrap="square" rtlCol="0">
            <a:spAutoFit/>
          </a:bodyPr>
          <a:lstStyle/>
          <a:p>
            <a:r>
              <a:rPr lang="en-US" sz="1600">
                <a:solidFill>
                  <a:srgbClr val="FFFFFF"/>
                </a:solidFill>
                <a:latin typeface="Open Sans"/>
                <a:ea typeface="Open Sans"/>
                <a:cs typeface="Open Sans"/>
                <a:sym typeface="Open Sans"/>
              </a:rPr>
              <a:t>Am pus loguri in KillMotion(), functia din WormLocomotion responsabila cu oprirea miscarii viermelui. Rezultatul: nu se activa niciodata. Am urcat un nivel mai sus, si am pus loguri in WormBrain, ca sa vad exact unde se pierdea informatia ca viermele a murit, si daca ea era generata vreodata. Primul log a confirmat : blocul decizional din WormBrain se activa corect, cand foamea ajungea la 100, isAlive se seta corect pe 0, iar informatia era trimisa spre WormLocomotion, unde…nu mai ajungea. Abia dupa ce am adaugat alte loguri care aratau ID-ul instantelor implicate, am descoperit cauza reala : informatia despre moarte, era trimisa catre un alt obiect WormLocomotion, ramas undeva in scena dintr-o generare anterioare a viermelui, neutilizat, dar perfect capabil sa blocheze in mod tacut tot fluxul de informatie. </a:t>
            </a:r>
          </a:p>
          <a:p>
            <a:endParaRPr lang="en-US">
              <a:solidFill>
                <a:schemeClr val="bg1"/>
              </a:solidFill>
            </a:endParaRPr>
          </a:p>
        </p:txBody>
      </p:sp>
      <p:pic>
        <p:nvPicPr>
          <p:cNvPr id="9" name="Picture 8">
            <a:extLst>
              <a:ext uri="{FF2B5EF4-FFF2-40B4-BE49-F238E27FC236}">
                <a16:creationId xmlns:a16="http://schemas.microsoft.com/office/drawing/2014/main" id="{288319FB-3CAF-257D-E1B7-667E62C007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96548" y="984791"/>
            <a:ext cx="6431425" cy="31353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0" y="480569"/>
            <a:ext cx="2392685" cy="548131"/>
            <a:chOff x="0" y="0"/>
            <a:chExt cx="630172" cy="144364"/>
          </a:xfrm>
        </p:grpSpPr>
        <p:sp>
          <p:nvSpPr>
            <p:cNvPr id="4" name="Freeform 4"/>
            <p:cNvSpPr/>
            <p:nvPr/>
          </p:nvSpPr>
          <p:spPr>
            <a:xfrm>
              <a:off x="0" y="0"/>
              <a:ext cx="630172" cy="144364"/>
            </a:xfrm>
            <a:custGeom>
              <a:avLst/>
              <a:gdLst/>
              <a:ahLst/>
              <a:cxnLst/>
              <a:rect l="l" t="t" r="r" b="b"/>
              <a:pathLst>
                <a:path w="630172" h="144364">
                  <a:moveTo>
                    <a:pt x="0" y="0"/>
                  </a:moveTo>
                  <a:lnTo>
                    <a:pt x="630172" y="0"/>
                  </a:lnTo>
                  <a:lnTo>
                    <a:pt x="630172" y="144364"/>
                  </a:lnTo>
                  <a:lnTo>
                    <a:pt x="0" y="144364"/>
                  </a:lnTo>
                  <a:close/>
                </a:path>
              </a:pathLst>
            </a:custGeom>
            <a:gradFill rotWithShape="1">
              <a:gsLst>
                <a:gs pos="0">
                  <a:srgbClr val="001BD1">
                    <a:alpha val="58000"/>
                  </a:srgbClr>
                </a:gs>
                <a:gs pos="100000">
                  <a:srgbClr val="0085FF">
                    <a:alpha val="0"/>
                  </a:srgbClr>
                </a:gs>
              </a:gsLst>
              <a:lin ang="0"/>
            </a:gradFill>
          </p:spPr>
        </p:sp>
        <p:sp>
          <p:nvSpPr>
            <p:cNvPr id="5" name="TextBox 5"/>
            <p:cNvSpPr txBox="1"/>
            <p:nvPr/>
          </p:nvSpPr>
          <p:spPr>
            <a:xfrm>
              <a:off x="0" y="-38100"/>
              <a:ext cx="630172" cy="18246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28329" y="646012"/>
            <a:ext cx="2064356" cy="218008"/>
          </a:xfrm>
          <a:prstGeom prst="rect">
            <a:avLst/>
          </a:prstGeom>
        </p:spPr>
        <p:txBody>
          <a:bodyPr lIns="0" tIns="0" rIns="0" bIns="0" rtlCol="0" anchor="t">
            <a:spAutoFit/>
          </a:bodyPr>
          <a:lstStyle/>
          <a:p>
            <a:pPr marL="0" lvl="0" indent="0" algn="l">
              <a:lnSpc>
                <a:spcPts val="1679"/>
              </a:lnSpc>
              <a:spcBef>
                <a:spcPct val="0"/>
              </a:spcBef>
            </a:pPr>
            <a:r>
              <a:rPr lang="en-US" sz="1600" b="1">
                <a:solidFill>
                  <a:srgbClr val="FFFFFF"/>
                </a:solidFill>
                <a:latin typeface="Open Sans Bold"/>
                <a:ea typeface="Open Sans Bold"/>
                <a:cs typeface="Open Sans Bold"/>
                <a:sym typeface="Open Sans Bold"/>
              </a:rPr>
              <a:t>  16/16</a:t>
            </a:r>
          </a:p>
        </p:txBody>
      </p:sp>
      <p:grpSp>
        <p:nvGrpSpPr>
          <p:cNvPr id="7" name="Group 7"/>
          <p:cNvGrpSpPr/>
          <p:nvPr/>
        </p:nvGrpSpPr>
        <p:grpSpPr>
          <a:xfrm>
            <a:off x="17688631" y="7520059"/>
            <a:ext cx="599369" cy="1738241"/>
            <a:chOff x="0" y="0"/>
            <a:chExt cx="157859" cy="457808"/>
          </a:xfrm>
        </p:grpSpPr>
        <p:sp>
          <p:nvSpPr>
            <p:cNvPr id="8" name="Freeform 8"/>
            <p:cNvSpPr/>
            <p:nvPr/>
          </p:nvSpPr>
          <p:spPr>
            <a:xfrm>
              <a:off x="0" y="0"/>
              <a:ext cx="157859" cy="457808"/>
            </a:xfrm>
            <a:custGeom>
              <a:avLst/>
              <a:gdLst/>
              <a:ahLst/>
              <a:cxnLst/>
              <a:rect l="l" t="t" r="r" b="b"/>
              <a:pathLst>
                <a:path w="157859" h="457808">
                  <a:moveTo>
                    <a:pt x="0" y="0"/>
                  </a:moveTo>
                  <a:lnTo>
                    <a:pt x="157859" y="0"/>
                  </a:lnTo>
                  <a:lnTo>
                    <a:pt x="157859" y="457808"/>
                  </a:lnTo>
                  <a:lnTo>
                    <a:pt x="0" y="457808"/>
                  </a:lnTo>
                  <a:close/>
                </a:path>
              </a:pathLst>
            </a:custGeom>
            <a:gradFill rotWithShape="1">
              <a:gsLst>
                <a:gs pos="0">
                  <a:srgbClr val="0085FF">
                    <a:alpha val="0"/>
                  </a:srgbClr>
                </a:gs>
                <a:gs pos="100000">
                  <a:srgbClr val="001BD1">
                    <a:alpha val="58000"/>
                  </a:srgbClr>
                </a:gs>
              </a:gsLst>
              <a:lin ang="0"/>
            </a:gradFill>
          </p:spPr>
        </p:sp>
        <p:sp>
          <p:nvSpPr>
            <p:cNvPr id="9" name="TextBox 9"/>
            <p:cNvSpPr txBox="1"/>
            <p:nvPr/>
          </p:nvSpPr>
          <p:spPr>
            <a:xfrm>
              <a:off x="0" y="-38100"/>
              <a:ext cx="157859" cy="49590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0" y="2881026"/>
            <a:ext cx="18288000" cy="3086100"/>
            <a:chOff x="0" y="0"/>
            <a:chExt cx="4816593" cy="812800"/>
          </a:xfrm>
        </p:grpSpPr>
        <p:sp>
          <p:nvSpPr>
            <p:cNvPr id="11" name="Freeform 11"/>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gradFill rotWithShape="1">
              <a:gsLst>
                <a:gs pos="0">
                  <a:srgbClr val="0085FF">
                    <a:alpha val="0"/>
                  </a:srgbClr>
                </a:gs>
                <a:gs pos="50000">
                  <a:srgbClr val="001BD1">
                    <a:alpha val="58000"/>
                  </a:srgbClr>
                </a:gs>
                <a:gs pos="100000">
                  <a:srgbClr val="0085FF">
                    <a:alpha val="0"/>
                  </a:srgbClr>
                </a:gs>
              </a:gsLst>
              <a:lin ang="0"/>
            </a:gradFill>
          </p:spPr>
        </p:sp>
        <p:sp>
          <p:nvSpPr>
            <p:cNvPr id="12" name="TextBox 12"/>
            <p:cNvSpPr txBox="1"/>
            <p:nvPr/>
          </p:nvSpPr>
          <p:spPr>
            <a:xfrm>
              <a:off x="0" y="-38100"/>
              <a:ext cx="4816593" cy="8509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928544" y="3273190"/>
            <a:ext cx="14430913" cy="2254383"/>
          </a:xfrm>
          <a:prstGeom prst="rect">
            <a:avLst/>
          </a:prstGeom>
        </p:spPr>
        <p:txBody>
          <a:bodyPr lIns="0" tIns="0" rIns="0" bIns="0" rtlCol="0" anchor="t">
            <a:spAutoFit/>
          </a:bodyPr>
          <a:lstStyle/>
          <a:p>
            <a:pPr marL="0" lvl="0" indent="0" algn="ctr">
              <a:lnSpc>
                <a:spcPts val="18419"/>
              </a:lnSpc>
              <a:spcBef>
                <a:spcPct val="0"/>
              </a:spcBef>
            </a:pPr>
            <a:r>
              <a:rPr lang="en-US" sz="13156">
                <a:solidFill>
                  <a:srgbClr val="FFFFFF"/>
                </a:solidFill>
                <a:latin typeface="Pattanakarn"/>
                <a:ea typeface="Pattanakarn"/>
                <a:cs typeface="Pattanakarn"/>
                <a:sym typeface="Pattanakarn"/>
              </a:rPr>
              <a:t>THANK YOU</a:t>
            </a:r>
          </a:p>
        </p:txBody>
      </p:sp>
      <p:sp>
        <p:nvSpPr>
          <p:cNvPr id="14" name="Freeform 14"/>
          <p:cNvSpPr/>
          <p:nvPr/>
        </p:nvSpPr>
        <p:spPr>
          <a:xfrm>
            <a:off x="7281383" y="2002633"/>
            <a:ext cx="3725233" cy="1756786"/>
          </a:xfrm>
          <a:custGeom>
            <a:avLst/>
            <a:gdLst/>
            <a:ahLst/>
            <a:cxnLst/>
            <a:rect l="l" t="t" r="r" b="b"/>
            <a:pathLst>
              <a:path w="3725233" h="1756786">
                <a:moveTo>
                  <a:pt x="0" y="0"/>
                </a:moveTo>
                <a:lnTo>
                  <a:pt x="3725234" y="0"/>
                </a:lnTo>
                <a:lnTo>
                  <a:pt x="3725234" y="1756786"/>
                </a:lnTo>
                <a:lnTo>
                  <a:pt x="0" y="1756786"/>
                </a:lnTo>
                <a:lnTo>
                  <a:pt x="0" y="0"/>
                </a:lnTo>
                <a:close/>
              </a:path>
            </a:pathLst>
          </a:custGeom>
          <a:blipFill>
            <a:blip r:embed="rId3"/>
            <a:stretch>
              <a:fillRect/>
            </a:stretch>
          </a:blipFill>
        </p:spPr>
      </p:sp>
      <p:sp>
        <p:nvSpPr>
          <p:cNvPr id="15" name="Freeform 15"/>
          <p:cNvSpPr/>
          <p:nvPr/>
        </p:nvSpPr>
        <p:spPr>
          <a:xfrm flipV="1">
            <a:off x="7281383" y="5088733"/>
            <a:ext cx="3725233" cy="1756786"/>
          </a:xfrm>
          <a:custGeom>
            <a:avLst/>
            <a:gdLst/>
            <a:ahLst/>
            <a:cxnLst/>
            <a:rect l="l" t="t" r="r" b="b"/>
            <a:pathLst>
              <a:path w="3725233" h="1756786">
                <a:moveTo>
                  <a:pt x="0" y="1756786"/>
                </a:moveTo>
                <a:lnTo>
                  <a:pt x="3725234" y="1756786"/>
                </a:lnTo>
                <a:lnTo>
                  <a:pt x="3725234" y="0"/>
                </a:lnTo>
                <a:lnTo>
                  <a:pt x="0" y="0"/>
                </a:lnTo>
                <a:lnTo>
                  <a:pt x="0" y="1756786"/>
                </a:lnTo>
                <a:close/>
              </a:path>
            </a:pathLst>
          </a:custGeom>
          <a:blipFill>
            <a:blip r:embed="rId3"/>
            <a:stretch>
              <a:fillRect/>
            </a:stretch>
          </a:blipFill>
        </p:spPr>
      </p:sp>
      <p:sp>
        <p:nvSpPr>
          <p:cNvPr id="16" name="TextBox 16"/>
          <p:cNvSpPr txBox="1"/>
          <p:nvPr/>
        </p:nvSpPr>
        <p:spPr>
          <a:xfrm>
            <a:off x="4417127" y="7457300"/>
            <a:ext cx="9453747" cy="203261"/>
          </a:xfrm>
          <a:prstGeom prst="rect">
            <a:avLst/>
          </a:prstGeom>
        </p:spPr>
        <p:txBody>
          <a:bodyPr lIns="0" tIns="0" rIns="0" bIns="0" rtlCol="0" anchor="t">
            <a:spAutoFit/>
          </a:bodyPr>
          <a:lstStyle/>
          <a:p>
            <a:pPr marL="0" lvl="0" indent="0" algn="ctr">
              <a:lnSpc>
                <a:spcPts val="1680"/>
              </a:lnSpc>
              <a:spcBef>
                <a:spcPct val="0"/>
              </a:spcBef>
            </a:pPr>
            <a:r>
              <a:rPr lang="en-US" sz="1200">
                <a:solidFill>
                  <a:srgbClr val="FFFFFF"/>
                </a:solidFill>
                <a:latin typeface="Open Sans"/>
                <a:ea typeface="Open Sans"/>
                <a:cs typeface="Open Sans"/>
                <a:sym typeface="Open Sans"/>
              </a:rPr>
              <a:t>Contact : florinmateiengi@gmail.com</a:t>
            </a:r>
          </a:p>
        </p:txBody>
      </p:sp>
      <p:sp>
        <p:nvSpPr>
          <p:cNvPr id="17" name="TextBox 16">
            <a:extLst>
              <a:ext uri="{FF2B5EF4-FFF2-40B4-BE49-F238E27FC236}">
                <a16:creationId xmlns:a16="http://schemas.microsoft.com/office/drawing/2014/main" id="{D8BB46FE-C748-F45A-A7EF-E58C5A8F30CC}"/>
              </a:ext>
            </a:extLst>
          </p:cNvPr>
          <p:cNvSpPr txBox="1"/>
          <p:nvPr/>
        </p:nvSpPr>
        <p:spPr>
          <a:xfrm>
            <a:off x="6781800" y="9715500"/>
            <a:ext cx="5005657" cy="276999"/>
          </a:xfrm>
          <a:prstGeom prst="rect">
            <a:avLst/>
          </a:prstGeom>
          <a:noFill/>
        </p:spPr>
        <p:txBody>
          <a:bodyPr wrap="square" rtlCol="0">
            <a:spAutoFit/>
          </a:bodyPr>
          <a:lstStyle/>
          <a:p>
            <a:pPr marL="171450" indent="-171450">
              <a:buFont typeface="Arial" panose="020B0604020202020204" pitchFamily="34" charset="0"/>
              <a:buChar char="•"/>
            </a:pPr>
            <a:r>
              <a:rPr lang="en-US" sz="1200">
                <a:solidFill>
                  <a:schemeClr val="bg1"/>
                </a:solidFill>
              </a:rPr>
              <a:t>Pentru generarea elementelor grafice ale prezentarii, a fost folosit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3126</TotalTime>
  <Words>2537</Words>
  <Application>Microsoft Office PowerPoint</Application>
  <PresentationFormat>Custom</PresentationFormat>
  <Paragraphs>145</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Open Sans</vt:lpstr>
      <vt:lpstr>Calibri</vt:lpstr>
      <vt:lpstr>Pattanakarn</vt:lpstr>
      <vt:lpstr>Sitka Display Semibold</vt:lpstr>
      <vt:lpstr>TT Supermolot Neue</vt:lpstr>
      <vt:lpstr>Open Sans Bold</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IIINeonIII</dc:creator>
  <cp:lastModifiedBy>mattvortex@yahoo.com</cp:lastModifiedBy>
  <cp:revision>166</cp:revision>
  <dcterms:created xsi:type="dcterms:W3CDTF">2006-08-16T00:00:00Z</dcterms:created>
  <dcterms:modified xsi:type="dcterms:W3CDTF">2026-10-22T04:23:52Z</dcterms:modified>
  <dc:identifier>DAHMYlr4w9U</dc:identifier>
</cp:coreProperties>
</file>